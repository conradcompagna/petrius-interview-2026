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 | 60 seconds | Slide 1 of 5
My starting point is the assignment itself: these two pages of the Roman Decretals. The submitted minimal program retrieves both images and both hOCR files directly from MDZ, finds the central text blocks, assigns the four requested roles, and produces these colour overlays together with the evaluation. It scores 131 out of 131 against the reference, and I personally inspected both page overlays. The colours separate legal text, summaria, inscriptiones and other material. The surrounding gloss remains outside the selected blocks. The implementation needs only OpenCV and NumPy. I have included this small program because the committee should be able to run and inspect the actual task solution immediately.
Evidence: task1_min/task1.py; task1_min/reference.csv; task1_min/labels_00040.jpg; task1_min/labels_00041.jpg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 | 60 seconds | Slide 2 of 5
There are three measurements: red ink, slant, and letter height relative to the page's usual type. Large black lines establish the central blocks. The program extends each block upwards and downwards to include its chapter heads, and rejects lines extending into the gloss. Red material becomes other; slanted type becomes summarium; large type becomes text; the remaining small type becomes inscriptio. It uses the library's word and line geometry, splitting the five OCR lines that cross the gutter. The matrix contains sixty text labels, sixteen summaria, seven inscriptiones, six other labels, and forty-two outside controls. All are correct. The completed program also labels six gutter numbers and the woodcut initial, and rejects two junk OCR fragments. This solves the specified pages with a compact, inspectable implementation.
Evidence: task1_min/task1.py; task1_min/reference.csv; minimal confusion matrix verified in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 | 60 seconds | Slide 3 of 5
The cross-edition solution is a neural pipeline. Fixed rules depend on the relationship between text size, gloss size, spacing and position in one edition. Those relationships change between printers and typefaces. I therefore trained D-FINE to find the regions, constrained PERO to find and recognise lines within those regions, and trained a neural model to select the central blocks and assign line roles. The line model combines colour image strips, OCR characters, coordinates and the other lines on the page. The two training collections each contain one hundred training pages and twenty evaluation pages. This image shows the combined pipeline on an original interview page. The package contains its model weights, inference code and a viewer for inspecting the results.
Evidence: out/dfine_region_training_v1/data_manifest.json; out/central_block_annotations_v1/manifest.json; line_nn_v3/model.py; out/line_nn_v3/task_predictions/bsb10144443/00040.json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 | 60 seconds | Slide 4 of 5
These results identify what each stage accomplishes and what to improve next. The region detector reaches an F1 score of 0.862 at fifty percent overlap on twenty pages from twenty books outside its training books. That represents 206 matched regions, thirty-two extra detections and thirty-four missed regions. The neural role model reaches macro-F1 of 0.945 on its twenty evaluation pages. Its text and summarium F1 scores are approximately ninety-nine percent; inscriptio and other are approximately ninety percent. There are fourteen label errors among 5,065 supplied lines. The practical next steps are clear: improve small source labels, chapter apparatus and region boundaries, then extend the labelled examples to Gothic and mixed-script material.
Evidence: D-FINE epoch14/step1400 in out/dfine_region_training_v1/full/epoch_metrics.jsonl; line_nn_v3/work/result_train_full.json; line_nn_v3/work/train_full.log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 | 60 seconds | Slide 5 of 5
I used LLM agents extensively, and that is central to how this work was done. In six days I developed an acquisition layer for a hundred volumes, more than twenty-six thousand source lines across more than two hundred files, a review viewer, labelled training collections, a trained region detector and three generations of neural classifiers. Multiple candidate systems were tested and rejected. Claude and Codex implemented code, ran experiments and investigated failures under my direction. ChatGPT generated the training annotations, which I reviewed. I set the questions, judged the results and personally check the submission. This is a modern research workflow: it gives one researcher the implementation capacity and experimental breadth that previously demanded a much larger effort.
Evidence: FINDINGS.md section12; out/webgpt_ocr_fullpage100_20261006/timeline_evidence.json; project source inventory; NOTE.md tools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III | 60 seconds | Slide 1 of 5
The supplied example makes the historical objective concrete. These are crops of the complete divisio in the left column of each image. In 1490 the text names Jacobus de Arena and ends with Bartolus. In 1627 it retains only Bartolus. We need a system that retrieves these two units, recognises them as versions of the same paratext, and records the loss of an attribution. The abbreviation Bar and the abbreviation B should resolve to the same person. Jac de arena must remain a separate attribution that can disappear. This is why a single fuzzy text similarity score is insufficient. The workflow must distinguish variation in written form from changes in the information communicated by the paratext.
Evidence: PetrIUS Interview Tasks for the Postdoc 4 Position.docx, Task III; D. 1.1.1. 1490.jpg; D. 1.1.1. 1627.jpg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III | 60 seconds | Slide 2 of 5
I begin with an edition-independent legal identifier, here D.1.1.1pr. I retrieve the corresponding passage using the OCR, book and title headings, incipits, and RapidFuzz for character-level fuzzy matching. This gives a local search area even when spelling and abbreviations differ. Within that area, the page model identifies the text streams. A unit classifier uses the lemma, position and neighbouring material to attach the divisio to the fragment. It assembles a complete unit across lines and, where needed, across page breaks. Each result receives a stable key combining edition, legal locus, paratext type and occurrence. The record retains the original image coordinates and raw OCR, so every later comparison can be checked against the actual witness.
Evidence: Proposed workflow for Task III; RapidFuzz official documentation: https://rapidfuzz.github.io/RapidFuzz/Usage/fuzz.html ; existing implementation components: region_dataset/, line_nn_v3/, annotation_viewer/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III | 60 seconds | Slide 3 of 5
I keep a diplomatic layer and derive two representations from it. The matching layer handles spelling variation, long s, u and v, and alternative abbreviation expansions. Character n-grams retrieve candidates; CollateX then exposes correspondences in a multiple-witness alignment. The content layer records named authorities, citations, negation, conditions and exceptions. A controlled authority list resolves Bar and B to Bartolus, while retaining the printed forms and locations. Candidate units are grouped through aligned similarity and shared legal locus, then checked for conflicting content fields before they become a variant group. Crucially, normalisation never deletes an author or a qualification. A name disappearing is therefore an event to inspect, rather than noise that a high similarity score silently removes.
Evidence: Proposed Task III workflow; CollateX official documentation: https://collatex.net/doc/ ; source example from the interview task document and supplied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III | 60 seconds | Slide 4 of 5
This is the structured result I want. The 1490 authority set contains Jacobus de Arena and Bartolus; the 1627 set contains Bartolus. Alignment links the shared division of the passage, so the remaining difference becomes an attribution-removal event with an edition, a locus and a paratext type. The record stores both excerpts, the exact source spans and the reason for the flag. The same mechanism can flag a lost exception, a changed negation or an added legal reference. It does not equate every textual difference with a doctrinal difference. Historians assign the interpretation in the review interface. The computer's contribution is systematic detection and comparison of these events across thousands of corresponding units.
Evidence: Proposed output schema; the named-author difference is specified in Task III and visible in both source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III | 60 seconds | Slide 5 of 5
Historians see the two images, aligned diplomatic text, the resolved names and the proposed event side by side. They can confirm, correct and export a citable evidence record. The main risk is precise: a name missed by OCR can masquerade as a historical deletion. A missing-name flag therefore triggers inspection of the complete source unit, with targeted re-recognition or transcription of the disputed span. The unit boundary is checked too, because an attribution may sit on another line. Once events are confirmed, the analysis asks where, when and in which editorial families attribution disappears. That produces a corpus-wide history of editorial selection, while allowing every aggregate pattern to be traced back to its printed evidence.
Evidence: Task III requirements; proposed comparison interface, building on annotation_viewer/; no implemented variant-detection result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60 seconds | Slide 1 of 5
I would start with three hundred and sixty complete pages: sixty from each of these six editions. The four Digest witnesses give a sequence from Gothic print in 1490 through Roman editions to 1627, including a witness with Greek notes. The two Decretals editions connect the task's successful Roman example to an earlier Gothic edition. I would select forty matched Digest loci across four witnesses and twenty Decretals loci across two, giving two hundred paratext witness units for direct comparison. The remaining page coverage supplies difficult layouts and continuation cases. The split is two hundred and forty training pages, sixty development pages and sixty sealed test pages. Adjacent pages of one sampled passage stay together in the same split.
Evidence: Pilot proposed here; edition metadata in corpus/benchmark_inventory.json: bsb00051759, bsb11396145, bsb10520013, heidelberg_justinian1627bd1, bsb00082927, bsb10144443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60 seconds | Slide 2 of 5
I need three kinds of historian input. First, page structure: the text streams, their reading order and where they continue. Second, unit identity: the legal locus, the paratext type and the exact boundaries of the unit. Third, text and meaning: difficult abbreviation readings, names, citations and whether a difference changes an attribution, condition or exception. We begin with a twelve-page calibration workshop covering all six editions. I prefill annotations with the existing models; historians correct them in the viewer and discuss disagreements in a short weekly clinic. Their decisions become examples in a living annotation guide. Sixty focal paratext units receive two independent readings and an adjudication, creating a focused reference for the historical event detection.
Evidence: Proposed collaboration protocol; existing annotation tools in annotation_viewer/ and region_dataset/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60 seconds | Slide 3 of 5
December fixes the corpus, source terms and annotation guide. January produces a checked pilot dataset and a first retrained region and role pipeline. OCR work begins alongside it, concentrating on the Gothic and Greek examples and the fields needed for historical comparison. February and March develop legal-locus alignment and complete paratext assembly, including continuations. By the end of March, a historian can move from a locus to its corresponding units in the pilot editions. April adds variant grouping and attribution-change detection, reviewed in the comparison desk. May runs the sealed evaluation, packages the reproducible release and produces the first matched-locus study. Each stage ends in an inspectable artifact, so progress is measured by usable data and demonstrated operations.
Evidence: Proposed schedule for Task IV, start date specified in task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60 seconds | Slide 4 of 5
I would measure success at the points where errors affect the research. The pilot targets are region F1 of at least point nine and role macro-F1 of at least point nine five. For OCR, the key test is recovery of the names and citations used in comparisons, with ninety-five percent exact recovery as the target. Legal-locus linking and variant grouping receive their own reference sets. Attribution and qualification events are judged for both precision and recall: we need to know which changes were invented and which were missed. Results are broken down by edition, typeface and class. Finally, I compare timed manual work with assisted correction of comparable units, targeting a reduction of at least half in median correction time.
Evidence: Proposed pilot acceptance targets, not current model results; sealed evaluation comprises 60 complete pages and focal comparison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60 seconds | Slide 5 of 5
The release separates code, models, annotations and library images. GitHub carries the implementation, launch scripts, annotation guide and evaluation protocol. A versioned model and dataset release carries weights and the annotations we can distribute. Every item retains its library identifier, source address and terms. Retrieval scripts reproduce image acquisition; image redistribution follows the recorded terms of each holding institution. The first historical output is a matched-locus study of attribution: which names survive, disappear or move between paratextual layers across the pilot editions. Scaling that design reveals patterns that individual reading cannot assemble systematically. The deliverable is therefore both a reusable research instrument and a concrete investigation, with each computational result linked back to the witnesses.
Evidence: Task IV publication requirement; source rights metadata in corpus/benchmark_inventory.json; proposed historical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0 seconds | Appendix
Backup slide for reproducibility questions. Use the submission README and supplied launchers. The minimal task uses only OpenCV and NumPy; Python standard-library modules provide the HTTP, parsing and CSV operations. The learned pipeline is supplied separately with its trained model assets.
Evidence: task1_min/task1.py; final submission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0 seconds | Appendix
Exact confusion matrix from the selected v3 training result. The supplied 384 region candidates are classified correctly. The role score is computed on supplied D-FINE/PERO lines, including outside lines. Four-role macro-F1 excludes outside from the average.
Evidence: line_nn_v3/work/result_train_full.json; train_full.log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IV | 0 seconds | Appendix
D-FINE checkpoint: out/dfine_region_training_v1/full/best_instances.safetensors. Neural v3 checkpoint: line_nn_v3/models/full.pt. D-FINE training used the twenty-page evaluation set to select the checkpoint; v3 training used its own twenty-page evaluation set to select region and line weights. The printed task result uses the separate minimal rule program.
Evidence: out/dfine_region_training_v1/data_manifest.json; line_nn_v3/model.py; line_nn_v3/work/train_full.log; out/dfine_pero_interview_v1/provenance.json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 · 1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The two-page task: 131 / 131 correct</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Rome, 1582 · Decretals · MDZ bsb10144443 · scans 40 and 41</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01</a:t>
            </a:r>
            <a:endParaRPr lang="en-US" sz="1000" dirty="0"/>
          </a:p>
        </p:txBody>
      </p:sp>
      <p:pic>
        <p:nvPicPr>
          <p:cNvPr id="8" name="Image 0" descr="C:\Users\conra\Desktop\latinrproj\submission\petrius_interview_20261007\presentation\assets\minimal_40.jpg">    </p:cNvPr>
          <p:cNvPicPr>
            <a:picLocks noChangeAspect="1"/>
          </p:cNvPicPr>
          <p:nvPr/>
        </p:nvPicPr>
        <p:blipFill>
          <a:blip r:embed="rId1"/>
          <a:stretch>
            <a:fillRect/>
          </a:stretch>
        </p:blipFill>
        <p:spPr>
          <a:xfrm>
            <a:off x="695562" y="2167128"/>
            <a:ext cx="2723677" cy="3941064"/>
          </a:xfrm>
          <a:prstGeom prst="rect">
            <a:avLst/>
          </a:prstGeom>
        </p:spPr>
      </p:pic>
      <p:pic>
        <p:nvPicPr>
          <p:cNvPr id="9" name="Image 1" descr="C:\Users\conra\Desktop\latinrproj\submission\petrius_interview_20261007\presentation\assets\minimal_41.jpg">    </p:cNvPr>
          <p:cNvPicPr>
            <a:picLocks noChangeAspect="1"/>
          </p:cNvPicPr>
          <p:nvPr/>
        </p:nvPicPr>
        <p:blipFill>
          <a:blip r:embed="rId2"/>
          <a:stretch>
            <a:fillRect/>
          </a:stretch>
        </p:blipFill>
        <p:spPr>
          <a:xfrm>
            <a:off x="3856375" y="2167128"/>
            <a:ext cx="2747985" cy="3941064"/>
          </a:xfrm>
          <a:prstGeom prst="rect">
            <a:avLst/>
          </a:prstGeom>
        </p:spPr>
      </p:pic>
      <p:sp>
        <p:nvSpPr>
          <p:cNvPr id="10" name="Shape 6"/>
          <p:cNvSpPr/>
          <p:nvPr/>
        </p:nvSpPr>
        <p:spPr>
          <a:xfrm>
            <a:off x="640080" y="6227064"/>
            <a:ext cx="109728" cy="109728"/>
          </a:xfrm>
          <a:prstGeom prst="rect">
            <a:avLst/>
          </a:prstGeom>
          <a:solidFill>
            <a:srgbClr val="3CA03C"/>
          </a:solidFill>
          <a:ln w="8890">
            <a:solidFill>
              <a:srgbClr val="3CA03C"/>
            </a:solidFill>
            <a:prstDash val="solid"/>
          </a:ln>
        </p:spPr>
      </p:sp>
      <p:sp>
        <p:nvSpPr>
          <p:cNvPr id="11" name="Text 7"/>
          <p:cNvSpPr/>
          <p:nvPr/>
        </p:nvSpPr>
        <p:spPr>
          <a:xfrm>
            <a:off x="832104" y="6181344"/>
            <a:ext cx="1298448" cy="201168"/>
          </a:xfrm>
          <a:prstGeom prst="rect">
            <a:avLst/>
          </a:prstGeom>
          <a:noFill/>
          <a:ln/>
        </p:spPr>
        <p:txBody>
          <a:bodyPr wrap="square" lIns="0" tIns="0" rIns="0" bIns="0" rtlCol="0" anchor="ctr"/>
          <a:lstStyle/>
          <a:p>
            <a:pPr indent="0" marL="0">
              <a:buNone/>
            </a:pPr>
            <a:r>
              <a:rPr lang="en-US" sz="1000" dirty="0">
                <a:solidFill>
                  <a:srgbClr val="566570"/>
                </a:solidFill>
                <a:latin typeface="Aptos" pitchFamily="34" charset="0"/>
                <a:ea typeface="Aptos" pitchFamily="34" charset="-122"/>
                <a:cs typeface="Aptos" pitchFamily="34" charset="-120"/>
              </a:rPr>
              <a:t>text</a:t>
            </a:r>
            <a:endParaRPr lang="en-US" sz="1000" dirty="0"/>
          </a:p>
        </p:txBody>
      </p:sp>
      <p:sp>
        <p:nvSpPr>
          <p:cNvPr id="12" name="Shape 8"/>
          <p:cNvSpPr/>
          <p:nvPr/>
        </p:nvSpPr>
        <p:spPr>
          <a:xfrm>
            <a:off x="2249424" y="6227064"/>
            <a:ext cx="109728" cy="109728"/>
          </a:xfrm>
          <a:prstGeom prst="rect">
            <a:avLst/>
          </a:prstGeom>
          <a:solidFill>
            <a:srgbClr val="0078C8"/>
          </a:solidFill>
          <a:ln w="8890">
            <a:solidFill>
              <a:srgbClr val="0078C8"/>
            </a:solidFill>
            <a:prstDash val="solid"/>
          </a:ln>
        </p:spPr>
      </p:sp>
      <p:sp>
        <p:nvSpPr>
          <p:cNvPr id="13" name="Text 9"/>
          <p:cNvSpPr/>
          <p:nvPr/>
        </p:nvSpPr>
        <p:spPr>
          <a:xfrm>
            <a:off x="2441448" y="6181344"/>
            <a:ext cx="1298448" cy="201168"/>
          </a:xfrm>
          <a:prstGeom prst="rect">
            <a:avLst/>
          </a:prstGeom>
          <a:noFill/>
          <a:ln/>
        </p:spPr>
        <p:txBody>
          <a:bodyPr wrap="square" lIns="0" tIns="0" rIns="0" bIns="0" rtlCol="0" anchor="ctr"/>
          <a:lstStyle/>
          <a:p>
            <a:pPr indent="0" marL="0">
              <a:buNone/>
            </a:pPr>
            <a:r>
              <a:rPr lang="en-US" sz="1000" dirty="0">
                <a:solidFill>
                  <a:srgbClr val="566570"/>
                </a:solidFill>
                <a:latin typeface="Aptos" pitchFamily="34" charset="0"/>
                <a:ea typeface="Aptos" pitchFamily="34" charset="-122"/>
                <a:cs typeface="Aptos" pitchFamily="34" charset="-120"/>
              </a:rPr>
              <a:t>summarium</a:t>
            </a:r>
            <a:endParaRPr lang="en-US" sz="1000" dirty="0"/>
          </a:p>
        </p:txBody>
      </p:sp>
      <p:sp>
        <p:nvSpPr>
          <p:cNvPr id="14" name="Shape 10"/>
          <p:cNvSpPr/>
          <p:nvPr/>
        </p:nvSpPr>
        <p:spPr>
          <a:xfrm>
            <a:off x="3858768" y="6227064"/>
            <a:ext cx="109728" cy="109728"/>
          </a:xfrm>
          <a:prstGeom prst="rect">
            <a:avLst/>
          </a:prstGeom>
          <a:solidFill>
            <a:srgbClr val="A000A0"/>
          </a:solidFill>
          <a:ln w="8890">
            <a:solidFill>
              <a:srgbClr val="A000A0"/>
            </a:solidFill>
            <a:prstDash val="solid"/>
          </a:ln>
        </p:spPr>
      </p:sp>
      <p:sp>
        <p:nvSpPr>
          <p:cNvPr id="15" name="Text 11"/>
          <p:cNvSpPr/>
          <p:nvPr/>
        </p:nvSpPr>
        <p:spPr>
          <a:xfrm>
            <a:off x="4050792" y="6181344"/>
            <a:ext cx="1298448" cy="201168"/>
          </a:xfrm>
          <a:prstGeom prst="rect">
            <a:avLst/>
          </a:prstGeom>
          <a:noFill/>
          <a:ln/>
        </p:spPr>
        <p:txBody>
          <a:bodyPr wrap="square" lIns="0" tIns="0" rIns="0" bIns="0" rtlCol="0" anchor="ctr"/>
          <a:lstStyle/>
          <a:p>
            <a:pPr indent="0" marL="0">
              <a:buNone/>
            </a:pPr>
            <a:r>
              <a:rPr lang="en-US" sz="1000" dirty="0">
                <a:solidFill>
                  <a:srgbClr val="566570"/>
                </a:solidFill>
                <a:latin typeface="Aptos" pitchFamily="34" charset="0"/>
                <a:ea typeface="Aptos" pitchFamily="34" charset="-122"/>
                <a:cs typeface="Aptos" pitchFamily="34" charset="-120"/>
              </a:rPr>
              <a:t>inscriptio</a:t>
            </a:r>
            <a:endParaRPr lang="en-US" sz="1000" dirty="0"/>
          </a:p>
        </p:txBody>
      </p:sp>
      <p:sp>
        <p:nvSpPr>
          <p:cNvPr id="16" name="Shape 12"/>
          <p:cNvSpPr/>
          <p:nvPr/>
        </p:nvSpPr>
        <p:spPr>
          <a:xfrm>
            <a:off x="5468112" y="6227064"/>
            <a:ext cx="109728" cy="109728"/>
          </a:xfrm>
          <a:prstGeom prst="rect">
            <a:avLst/>
          </a:prstGeom>
          <a:solidFill>
            <a:srgbClr val="DC0000"/>
          </a:solidFill>
          <a:ln w="8890">
            <a:solidFill>
              <a:srgbClr val="DC0000"/>
            </a:solidFill>
            <a:prstDash val="solid"/>
          </a:ln>
        </p:spPr>
      </p:sp>
      <p:sp>
        <p:nvSpPr>
          <p:cNvPr id="17" name="Text 13"/>
          <p:cNvSpPr/>
          <p:nvPr/>
        </p:nvSpPr>
        <p:spPr>
          <a:xfrm>
            <a:off x="5660136" y="6181344"/>
            <a:ext cx="1298448" cy="201168"/>
          </a:xfrm>
          <a:prstGeom prst="rect">
            <a:avLst/>
          </a:prstGeom>
          <a:noFill/>
          <a:ln/>
        </p:spPr>
        <p:txBody>
          <a:bodyPr wrap="square" lIns="0" tIns="0" rIns="0" bIns="0" rtlCol="0" anchor="ctr"/>
          <a:lstStyle/>
          <a:p>
            <a:pPr indent="0" marL="0">
              <a:buNone/>
            </a:pPr>
            <a:r>
              <a:rPr lang="en-US" sz="1000" dirty="0">
                <a:solidFill>
                  <a:srgbClr val="566570"/>
                </a:solidFill>
                <a:latin typeface="Aptos" pitchFamily="34" charset="0"/>
                <a:ea typeface="Aptos" pitchFamily="34" charset="-122"/>
                <a:cs typeface="Aptos" pitchFamily="34" charset="-120"/>
              </a:rPr>
              <a:t>other</a:t>
            </a:r>
            <a:endParaRPr lang="en-US" sz="1000" dirty="0"/>
          </a:p>
        </p:txBody>
      </p:sp>
      <p:sp>
        <p:nvSpPr>
          <p:cNvPr id="18" name="Text 14"/>
          <p:cNvSpPr/>
          <p:nvPr/>
        </p:nvSpPr>
        <p:spPr>
          <a:xfrm>
            <a:off x="7333488" y="2331720"/>
            <a:ext cx="4151376" cy="786384"/>
          </a:xfrm>
          <a:prstGeom prst="rect">
            <a:avLst/>
          </a:prstGeom>
          <a:noFill/>
          <a:ln/>
        </p:spPr>
        <p:txBody>
          <a:bodyPr wrap="square" lIns="0" tIns="0" rIns="0" bIns="0" rtlCol="0" anchor="ctr"/>
          <a:lstStyle/>
          <a:p>
            <a:pPr indent="0" marL="0">
              <a:buNone/>
            </a:pPr>
            <a:r>
              <a:rPr lang="en-US" sz="2600" b="1" dirty="0">
                <a:solidFill>
                  <a:srgbClr val="162B38"/>
                </a:solidFill>
                <a:latin typeface="Aptos" pitchFamily="34" charset="0"/>
                <a:ea typeface="Aptos" pitchFamily="34" charset="-122"/>
                <a:cs typeface="Aptos" pitchFamily="34" charset="-120"/>
              </a:rPr>
              <a:t>A complete, reproducible submission</a:t>
            </a:r>
            <a:endParaRPr lang="en-US" sz="2600" dirty="0"/>
          </a:p>
        </p:txBody>
      </p:sp>
      <p:sp>
        <p:nvSpPr>
          <p:cNvPr id="19" name="Text 15"/>
          <p:cNvSpPr/>
          <p:nvPr/>
        </p:nvSpPr>
        <p:spPr>
          <a:xfrm>
            <a:off x="7333488" y="3291840"/>
            <a:ext cx="4151376" cy="1645920"/>
          </a:xfrm>
          <a:prstGeom prst="rect">
            <a:avLst/>
          </a:prstGeom>
          <a:noFill/>
          <a:ln/>
        </p:spPr>
        <p:txBody>
          <a:bodyPr wrap="square" lIns="0" tIns="0" rIns="0" bIns="0" rtlCol="0" anchor="ctr"/>
          <a:lstStyle/>
          <a:p>
            <a:pPr indent="0" marL="0">
              <a:spcAft>
                <a:spcPts val="1200"/>
              </a:spcAft>
              <a:buNone/>
            </a:pPr>
            <a:r>
              <a:rPr lang="en-US" sz="2000" dirty="0">
                <a:solidFill>
                  <a:srgbClr val="162B38"/>
                </a:solidFill>
                <a:latin typeface="Aptos" pitchFamily="34" charset="0"/>
                <a:ea typeface="Aptos" pitchFamily="34" charset="-122"/>
                <a:cs typeface="Aptos" pitchFamily="34" charset="-120"/>
              </a:rPr>
              <a:t>Fetch images + hOCR</a:t>
            </a:r>
            <a:endParaRPr lang="en-US" sz="2000" dirty="0"/>
          </a:p>
          <a:p>
            <a:pPr indent="0" marL="0">
              <a:spcAft>
                <a:spcPts val="1200"/>
              </a:spcAft>
              <a:buNone/>
            </a:pPr>
            <a:r>
              <a:rPr lang="en-US" sz="2000" dirty="0">
                <a:solidFill>
                  <a:srgbClr val="162B38"/>
                </a:solidFill>
                <a:latin typeface="Aptos" pitchFamily="34" charset="0"/>
                <a:ea typeface="Aptos" pitchFamily="34" charset="-122"/>
                <a:cs typeface="Aptos" pitchFamily="34" charset="-120"/>
              </a:rPr>
              <a:t>Find the two central blocks</a:t>
            </a:r>
            <a:endParaRPr lang="en-US" sz="2000" dirty="0"/>
          </a:p>
          <a:p>
            <a:pPr indent="0" marL="0">
              <a:spcAft>
                <a:spcPts val="1200"/>
              </a:spcAft>
              <a:buNone/>
            </a:pPr>
            <a:r>
              <a:rPr lang="en-US" sz="2000" dirty="0">
                <a:solidFill>
                  <a:srgbClr val="162B38"/>
                </a:solidFill>
                <a:latin typeface="Aptos" pitchFamily="34" charset="0"/>
                <a:ea typeface="Aptos" pitchFamily="34" charset="-122"/>
                <a:cs typeface="Aptos" pitchFamily="34" charset="-120"/>
              </a:rPr>
              <a:t>Assign the four requested roles</a:t>
            </a:r>
            <a:endParaRPr lang="en-US" sz="2000" dirty="0"/>
          </a:p>
          <a:p>
            <a:pPr indent="0" marL="0">
              <a:spcAft>
                <a:spcPts val="1200"/>
              </a:spcAft>
              <a:buNone/>
            </a:pPr>
            <a:r>
              <a:rPr lang="en-US" sz="2000" dirty="0">
                <a:solidFill>
                  <a:srgbClr val="162B38"/>
                </a:solidFill>
                <a:latin typeface="Aptos" pitchFamily="34" charset="0"/>
                <a:ea typeface="Aptos" pitchFamily="34" charset="-122"/>
                <a:cs typeface="Aptos" pitchFamily="34" charset="-120"/>
              </a:rPr>
              <a:t>Export overlays + evaluation</a:t>
            </a:r>
            <a:endParaRPr lang="en-US" sz="2000" dirty="0"/>
          </a:p>
        </p:txBody>
      </p:sp>
      <p:sp>
        <p:nvSpPr>
          <p:cNvPr id="20" name="Shape 16"/>
          <p:cNvSpPr/>
          <p:nvPr/>
        </p:nvSpPr>
        <p:spPr>
          <a:xfrm>
            <a:off x="7333488" y="5257800"/>
            <a:ext cx="4187952" cy="292608"/>
          </a:xfrm>
          <a:prstGeom prst="rect">
            <a:avLst/>
          </a:prstGeom>
          <a:solidFill>
            <a:srgbClr val="087F8C"/>
          </a:solidFill>
          <a:ln w="8890">
            <a:solidFill>
              <a:srgbClr val="087F8C"/>
            </a:solidFill>
            <a:prstDash val="solid"/>
          </a:ln>
        </p:spPr>
      </p:sp>
      <p:sp>
        <p:nvSpPr>
          <p:cNvPr id="21" name="Text 17"/>
          <p:cNvSpPr/>
          <p:nvPr/>
        </p:nvSpPr>
        <p:spPr>
          <a:xfrm>
            <a:off x="7406640" y="5285232"/>
            <a:ext cx="4041648"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PERSONALLY CHECKED AGAINST BOTH PAGES</a:t>
            </a:r>
            <a:endParaRPr lang="en-US" sz="1000" dirty="0"/>
          </a:p>
        </p:txBody>
      </p:sp>
      <p:sp>
        <p:nvSpPr>
          <p:cNvPr id="22" name="Text 18"/>
          <p:cNvSpPr/>
          <p:nvPr/>
        </p:nvSpPr>
        <p:spPr>
          <a:xfrm>
            <a:off x="7333488" y="5724144"/>
            <a:ext cx="4069080" cy="365760"/>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OpenCV + NumPy · no training required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 · 2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A small rule system is sufficient for this edition</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The visual distinctions stated in the brief become explicit measurements.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02</a:t>
            </a:r>
            <a:endParaRPr lang="en-US" sz="1000" dirty="0"/>
          </a:p>
        </p:txBody>
      </p:sp>
      <p:sp>
        <p:nvSpPr>
          <p:cNvPr id="8" name="Shape 6"/>
          <p:cNvSpPr/>
          <p:nvPr/>
        </p:nvSpPr>
        <p:spPr>
          <a:xfrm>
            <a:off x="548640" y="2286000"/>
            <a:ext cx="5029200" cy="594360"/>
          </a:xfrm>
          <a:prstGeom prst="rect">
            <a:avLst/>
          </a:prstGeom>
          <a:solidFill>
            <a:srgbClr val="FFFFFF"/>
          </a:solidFill>
          <a:ln w="8890">
            <a:solidFill>
              <a:srgbClr val="FFFFFF"/>
            </a:solidFill>
            <a:prstDash val="solid"/>
          </a:ln>
        </p:spPr>
      </p:sp>
      <p:sp>
        <p:nvSpPr>
          <p:cNvPr id="9" name="Text 7"/>
          <p:cNvSpPr/>
          <p:nvPr/>
        </p:nvSpPr>
        <p:spPr>
          <a:xfrm>
            <a:off x="749808" y="2432304"/>
            <a:ext cx="2487168" cy="246888"/>
          </a:xfrm>
          <a:prstGeom prst="rect">
            <a:avLst/>
          </a:prstGeom>
          <a:noFill/>
          <a:ln/>
        </p:spPr>
        <p:txBody>
          <a:bodyPr wrap="square" lIns="0" tIns="0" rIns="0" bIns="0" rtlCol="0" anchor="ctr"/>
          <a:lstStyle/>
          <a:p>
            <a:pPr indent="0" marL="0">
              <a:buNone/>
            </a:pPr>
            <a:r>
              <a:rPr lang="en-US" sz="1800" dirty="0">
                <a:solidFill>
                  <a:srgbClr val="162B38"/>
                </a:solidFill>
                <a:latin typeface="Aptos" pitchFamily="34" charset="0"/>
                <a:ea typeface="Aptos" pitchFamily="34" charset="-122"/>
                <a:cs typeface="Aptos" pitchFamily="34" charset="-120"/>
              </a:rPr>
              <a:t>Red ink</a:t>
            </a:r>
            <a:endParaRPr lang="en-US" sz="1800" dirty="0"/>
          </a:p>
        </p:txBody>
      </p:sp>
      <p:sp>
        <p:nvSpPr>
          <p:cNvPr id="10" name="Shape 8"/>
          <p:cNvSpPr/>
          <p:nvPr/>
        </p:nvSpPr>
        <p:spPr>
          <a:xfrm>
            <a:off x="3310128" y="2578608"/>
            <a:ext cx="374904" cy="0"/>
          </a:xfrm>
          <a:prstGeom prst="line">
            <a:avLst/>
          </a:prstGeom>
          <a:noFill/>
          <a:ln w="25400">
            <a:solidFill>
              <a:srgbClr val="DC0000"/>
            </a:solidFill>
            <a:prstDash val="solid"/>
            <a:headEnd type="none"/>
            <a:tailEnd type="triangle"/>
          </a:ln>
        </p:spPr>
      </p:sp>
      <p:sp>
        <p:nvSpPr>
          <p:cNvPr id="11" name="Text 9"/>
          <p:cNvSpPr/>
          <p:nvPr/>
        </p:nvSpPr>
        <p:spPr>
          <a:xfrm>
            <a:off x="3858768" y="2432304"/>
            <a:ext cx="1527048" cy="246888"/>
          </a:xfrm>
          <a:prstGeom prst="rect">
            <a:avLst/>
          </a:prstGeom>
          <a:noFill/>
          <a:ln/>
        </p:spPr>
        <p:txBody>
          <a:bodyPr wrap="square" lIns="0" tIns="0" rIns="0" bIns="0" rtlCol="0" anchor="ctr"/>
          <a:lstStyle/>
          <a:p>
            <a:pPr indent="0" marL="0">
              <a:buNone/>
            </a:pPr>
            <a:r>
              <a:rPr lang="en-US" sz="1800" b="1" dirty="0">
                <a:solidFill>
                  <a:srgbClr val="DC0000"/>
                </a:solidFill>
                <a:latin typeface="Aptos" pitchFamily="34" charset="0"/>
                <a:ea typeface="Aptos" pitchFamily="34" charset="-122"/>
                <a:cs typeface="Aptos" pitchFamily="34" charset="-120"/>
              </a:rPr>
              <a:t>other</a:t>
            </a:r>
            <a:endParaRPr lang="en-US" sz="1800" dirty="0"/>
          </a:p>
        </p:txBody>
      </p:sp>
      <p:sp>
        <p:nvSpPr>
          <p:cNvPr id="12" name="Shape 10"/>
          <p:cNvSpPr/>
          <p:nvPr/>
        </p:nvSpPr>
        <p:spPr>
          <a:xfrm>
            <a:off x="548640" y="3026664"/>
            <a:ext cx="5029200" cy="594360"/>
          </a:xfrm>
          <a:prstGeom prst="rect">
            <a:avLst/>
          </a:prstGeom>
          <a:solidFill>
            <a:srgbClr val="FFFFFF"/>
          </a:solidFill>
          <a:ln w="8890">
            <a:solidFill>
              <a:srgbClr val="FFFFFF"/>
            </a:solidFill>
            <a:prstDash val="solid"/>
          </a:ln>
        </p:spPr>
      </p:sp>
      <p:sp>
        <p:nvSpPr>
          <p:cNvPr id="13" name="Text 11"/>
          <p:cNvSpPr/>
          <p:nvPr/>
        </p:nvSpPr>
        <p:spPr>
          <a:xfrm>
            <a:off x="749808" y="3172968"/>
            <a:ext cx="2487168" cy="246888"/>
          </a:xfrm>
          <a:prstGeom prst="rect">
            <a:avLst/>
          </a:prstGeom>
          <a:noFill/>
          <a:ln/>
        </p:spPr>
        <p:txBody>
          <a:bodyPr wrap="square" lIns="0" tIns="0" rIns="0" bIns="0" rtlCol="0" anchor="ctr"/>
          <a:lstStyle/>
          <a:p>
            <a:pPr indent="0" marL="0">
              <a:buNone/>
            </a:pPr>
            <a:r>
              <a:rPr lang="en-US" sz="1800" dirty="0">
                <a:solidFill>
                  <a:srgbClr val="162B38"/>
                </a:solidFill>
                <a:latin typeface="Aptos" pitchFamily="34" charset="0"/>
                <a:ea typeface="Aptos" pitchFamily="34" charset="-122"/>
                <a:cs typeface="Aptos" pitchFamily="34" charset="-120"/>
              </a:rPr>
              <a:t>Slanted type</a:t>
            </a:r>
            <a:endParaRPr lang="en-US" sz="1800" dirty="0"/>
          </a:p>
        </p:txBody>
      </p:sp>
      <p:sp>
        <p:nvSpPr>
          <p:cNvPr id="14" name="Shape 12"/>
          <p:cNvSpPr/>
          <p:nvPr/>
        </p:nvSpPr>
        <p:spPr>
          <a:xfrm>
            <a:off x="3310128" y="3319272"/>
            <a:ext cx="374904" cy="0"/>
          </a:xfrm>
          <a:prstGeom prst="line">
            <a:avLst/>
          </a:prstGeom>
          <a:noFill/>
          <a:ln w="25400">
            <a:solidFill>
              <a:srgbClr val="0078C8"/>
            </a:solidFill>
            <a:prstDash val="solid"/>
            <a:headEnd type="none"/>
            <a:tailEnd type="triangle"/>
          </a:ln>
        </p:spPr>
      </p:sp>
      <p:sp>
        <p:nvSpPr>
          <p:cNvPr id="15" name="Text 13"/>
          <p:cNvSpPr/>
          <p:nvPr/>
        </p:nvSpPr>
        <p:spPr>
          <a:xfrm>
            <a:off x="3858768" y="3172968"/>
            <a:ext cx="1527048" cy="246888"/>
          </a:xfrm>
          <a:prstGeom prst="rect">
            <a:avLst/>
          </a:prstGeom>
          <a:noFill/>
          <a:ln/>
        </p:spPr>
        <p:txBody>
          <a:bodyPr wrap="square" lIns="0" tIns="0" rIns="0" bIns="0" rtlCol="0" anchor="ctr"/>
          <a:lstStyle/>
          <a:p>
            <a:pPr indent="0" marL="0">
              <a:buNone/>
            </a:pPr>
            <a:r>
              <a:rPr lang="en-US" sz="1800" b="1" dirty="0">
                <a:solidFill>
                  <a:srgbClr val="0078C8"/>
                </a:solidFill>
                <a:latin typeface="Aptos" pitchFamily="34" charset="0"/>
                <a:ea typeface="Aptos" pitchFamily="34" charset="-122"/>
                <a:cs typeface="Aptos" pitchFamily="34" charset="-120"/>
              </a:rPr>
              <a:t>summarium</a:t>
            </a:r>
            <a:endParaRPr lang="en-US" sz="1800" dirty="0"/>
          </a:p>
        </p:txBody>
      </p:sp>
      <p:sp>
        <p:nvSpPr>
          <p:cNvPr id="16" name="Shape 14"/>
          <p:cNvSpPr/>
          <p:nvPr/>
        </p:nvSpPr>
        <p:spPr>
          <a:xfrm>
            <a:off x="548640" y="3767328"/>
            <a:ext cx="5029200" cy="594360"/>
          </a:xfrm>
          <a:prstGeom prst="rect">
            <a:avLst/>
          </a:prstGeom>
          <a:solidFill>
            <a:srgbClr val="FFFFFF"/>
          </a:solidFill>
          <a:ln w="8890">
            <a:solidFill>
              <a:srgbClr val="FFFFFF"/>
            </a:solidFill>
            <a:prstDash val="solid"/>
          </a:ln>
        </p:spPr>
      </p:sp>
      <p:sp>
        <p:nvSpPr>
          <p:cNvPr id="17" name="Text 15"/>
          <p:cNvSpPr/>
          <p:nvPr/>
        </p:nvSpPr>
        <p:spPr>
          <a:xfrm>
            <a:off x="749808" y="3913632"/>
            <a:ext cx="2487168" cy="246888"/>
          </a:xfrm>
          <a:prstGeom prst="rect">
            <a:avLst/>
          </a:prstGeom>
          <a:noFill/>
          <a:ln/>
        </p:spPr>
        <p:txBody>
          <a:bodyPr wrap="square" lIns="0" tIns="0" rIns="0" bIns="0" rtlCol="0" anchor="ctr"/>
          <a:lstStyle/>
          <a:p>
            <a:pPr indent="0" marL="0">
              <a:buNone/>
            </a:pPr>
            <a:r>
              <a:rPr lang="en-US" sz="1800" dirty="0">
                <a:solidFill>
                  <a:srgbClr val="162B38"/>
                </a:solidFill>
                <a:latin typeface="Aptos" pitchFamily="34" charset="0"/>
                <a:ea typeface="Aptos" pitchFamily="34" charset="-122"/>
                <a:cs typeface="Aptos" pitchFamily="34" charset="-120"/>
              </a:rPr>
              <a:t>Large black type</a:t>
            </a:r>
            <a:endParaRPr lang="en-US" sz="1800" dirty="0"/>
          </a:p>
        </p:txBody>
      </p:sp>
      <p:sp>
        <p:nvSpPr>
          <p:cNvPr id="18" name="Shape 16"/>
          <p:cNvSpPr/>
          <p:nvPr/>
        </p:nvSpPr>
        <p:spPr>
          <a:xfrm>
            <a:off x="3310128" y="4059936"/>
            <a:ext cx="374904" cy="0"/>
          </a:xfrm>
          <a:prstGeom prst="line">
            <a:avLst/>
          </a:prstGeom>
          <a:noFill/>
          <a:ln w="25400">
            <a:solidFill>
              <a:srgbClr val="3CA03C"/>
            </a:solidFill>
            <a:prstDash val="solid"/>
            <a:headEnd type="none"/>
            <a:tailEnd type="triangle"/>
          </a:ln>
        </p:spPr>
      </p:sp>
      <p:sp>
        <p:nvSpPr>
          <p:cNvPr id="19" name="Text 17"/>
          <p:cNvSpPr/>
          <p:nvPr/>
        </p:nvSpPr>
        <p:spPr>
          <a:xfrm>
            <a:off x="3858768" y="3913632"/>
            <a:ext cx="1527048" cy="246888"/>
          </a:xfrm>
          <a:prstGeom prst="rect">
            <a:avLst/>
          </a:prstGeom>
          <a:noFill/>
          <a:ln/>
        </p:spPr>
        <p:txBody>
          <a:bodyPr wrap="square" lIns="0" tIns="0" rIns="0" bIns="0" rtlCol="0" anchor="ctr"/>
          <a:lstStyle/>
          <a:p>
            <a:pPr indent="0" marL="0">
              <a:buNone/>
            </a:pPr>
            <a:r>
              <a:rPr lang="en-US" sz="1800" b="1" dirty="0">
                <a:solidFill>
                  <a:srgbClr val="3CA03C"/>
                </a:solidFill>
                <a:latin typeface="Aptos" pitchFamily="34" charset="0"/>
                <a:ea typeface="Aptos" pitchFamily="34" charset="-122"/>
                <a:cs typeface="Aptos" pitchFamily="34" charset="-120"/>
              </a:rPr>
              <a:t>text</a:t>
            </a:r>
            <a:endParaRPr lang="en-US" sz="1800" dirty="0"/>
          </a:p>
        </p:txBody>
      </p:sp>
      <p:sp>
        <p:nvSpPr>
          <p:cNvPr id="20" name="Shape 18"/>
          <p:cNvSpPr/>
          <p:nvPr/>
        </p:nvSpPr>
        <p:spPr>
          <a:xfrm>
            <a:off x="548640" y="4507992"/>
            <a:ext cx="5029200" cy="594360"/>
          </a:xfrm>
          <a:prstGeom prst="rect">
            <a:avLst/>
          </a:prstGeom>
          <a:solidFill>
            <a:srgbClr val="FFFFFF"/>
          </a:solidFill>
          <a:ln w="8890">
            <a:solidFill>
              <a:srgbClr val="FFFFFF"/>
            </a:solidFill>
            <a:prstDash val="solid"/>
          </a:ln>
        </p:spPr>
      </p:sp>
      <p:sp>
        <p:nvSpPr>
          <p:cNvPr id="21" name="Text 19"/>
          <p:cNvSpPr/>
          <p:nvPr/>
        </p:nvSpPr>
        <p:spPr>
          <a:xfrm>
            <a:off x="749808" y="4654296"/>
            <a:ext cx="2487168" cy="246888"/>
          </a:xfrm>
          <a:prstGeom prst="rect">
            <a:avLst/>
          </a:prstGeom>
          <a:noFill/>
          <a:ln/>
        </p:spPr>
        <p:txBody>
          <a:bodyPr wrap="square" lIns="0" tIns="0" rIns="0" bIns="0" rtlCol="0" anchor="ctr"/>
          <a:lstStyle/>
          <a:p>
            <a:pPr indent="0" marL="0">
              <a:buNone/>
            </a:pPr>
            <a:r>
              <a:rPr lang="en-US" sz="1800" dirty="0">
                <a:solidFill>
                  <a:srgbClr val="162B38"/>
                </a:solidFill>
                <a:latin typeface="Aptos" pitchFamily="34" charset="0"/>
                <a:ea typeface="Aptos" pitchFamily="34" charset="-122"/>
                <a:cs typeface="Aptos" pitchFamily="34" charset="-120"/>
              </a:rPr>
              <a:t>Remaining small type</a:t>
            </a:r>
            <a:endParaRPr lang="en-US" sz="1800" dirty="0"/>
          </a:p>
        </p:txBody>
      </p:sp>
      <p:sp>
        <p:nvSpPr>
          <p:cNvPr id="22" name="Shape 20"/>
          <p:cNvSpPr/>
          <p:nvPr/>
        </p:nvSpPr>
        <p:spPr>
          <a:xfrm>
            <a:off x="3310128" y="4800600"/>
            <a:ext cx="374904" cy="0"/>
          </a:xfrm>
          <a:prstGeom prst="line">
            <a:avLst/>
          </a:prstGeom>
          <a:noFill/>
          <a:ln w="25400">
            <a:solidFill>
              <a:srgbClr val="935BA5"/>
            </a:solidFill>
            <a:prstDash val="solid"/>
            <a:headEnd type="none"/>
            <a:tailEnd type="triangle"/>
          </a:ln>
        </p:spPr>
      </p:sp>
      <p:sp>
        <p:nvSpPr>
          <p:cNvPr id="23" name="Text 21"/>
          <p:cNvSpPr/>
          <p:nvPr/>
        </p:nvSpPr>
        <p:spPr>
          <a:xfrm>
            <a:off x="3858768" y="4654296"/>
            <a:ext cx="1527048" cy="246888"/>
          </a:xfrm>
          <a:prstGeom prst="rect">
            <a:avLst/>
          </a:prstGeom>
          <a:noFill/>
          <a:ln/>
        </p:spPr>
        <p:txBody>
          <a:bodyPr wrap="square" lIns="0" tIns="0" rIns="0" bIns="0" rtlCol="0" anchor="ctr"/>
          <a:lstStyle/>
          <a:p>
            <a:pPr indent="0" marL="0">
              <a:buNone/>
            </a:pPr>
            <a:r>
              <a:rPr lang="en-US" sz="1800" b="1" dirty="0">
                <a:solidFill>
                  <a:srgbClr val="935BA5"/>
                </a:solidFill>
                <a:latin typeface="Aptos" pitchFamily="34" charset="0"/>
                <a:ea typeface="Aptos" pitchFamily="34" charset="-122"/>
                <a:cs typeface="Aptos" pitchFamily="34" charset="-120"/>
              </a:rPr>
              <a:t>inscriptio</a:t>
            </a:r>
            <a:endParaRPr lang="en-US" sz="1800" dirty="0"/>
          </a:p>
        </p:txBody>
      </p:sp>
      <p:sp>
        <p:nvSpPr>
          <p:cNvPr id="24" name="Text 22"/>
          <p:cNvSpPr/>
          <p:nvPr/>
        </p:nvSpPr>
        <p:spPr>
          <a:xfrm>
            <a:off x="6153912" y="2157984"/>
            <a:ext cx="4937760" cy="274320"/>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Reference → program</a:t>
            </a:r>
            <a:endParaRPr lang="en-US" sz="1400" dirty="0"/>
          </a:p>
        </p:txBody>
      </p:sp>
      <p:sp>
        <p:nvSpPr>
          <p:cNvPr id="25" name="Text 23"/>
          <p:cNvSpPr/>
          <p:nvPr/>
        </p:nvSpPr>
        <p:spPr>
          <a:xfrm>
            <a:off x="7406640" y="2670048"/>
            <a:ext cx="731520" cy="274320"/>
          </a:xfrm>
          <a:prstGeom prst="rect">
            <a:avLst/>
          </a:prstGeom>
          <a:noFill/>
          <a:ln/>
        </p:spPr>
        <p:txBody>
          <a:bodyPr wrap="square" lIns="0" tIns="0" rIns="0" bIns="0" rtlCol="0" anchor="ctr"/>
          <a:lstStyle/>
          <a:p>
            <a:pPr algn="ctr" indent="0" marL="0">
              <a:buNone/>
            </a:pPr>
            <a:r>
              <a:rPr lang="en-US" sz="1200" b="1" dirty="0">
                <a:solidFill>
                  <a:srgbClr val="566570"/>
                </a:solidFill>
                <a:latin typeface="Aptos" pitchFamily="34" charset="0"/>
                <a:ea typeface="Aptos" pitchFamily="34" charset="-122"/>
                <a:cs typeface="Aptos" pitchFamily="34" charset="-120"/>
              </a:rPr>
              <a:t>text</a:t>
            </a:r>
            <a:endParaRPr lang="en-US" sz="1200" dirty="0"/>
          </a:p>
        </p:txBody>
      </p:sp>
      <p:sp>
        <p:nvSpPr>
          <p:cNvPr id="26" name="Text 24"/>
          <p:cNvSpPr/>
          <p:nvPr/>
        </p:nvSpPr>
        <p:spPr>
          <a:xfrm>
            <a:off x="8183880" y="2670048"/>
            <a:ext cx="731520" cy="274320"/>
          </a:xfrm>
          <a:prstGeom prst="rect">
            <a:avLst/>
          </a:prstGeom>
          <a:noFill/>
          <a:ln/>
        </p:spPr>
        <p:txBody>
          <a:bodyPr wrap="square" lIns="0" tIns="0" rIns="0" bIns="0" rtlCol="0" anchor="ctr"/>
          <a:lstStyle/>
          <a:p>
            <a:pPr algn="ctr" indent="0" marL="0">
              <a:buNone/>
            </a:pPr>
            <a:r>
              <a:rPr lang="en-US" sz="1200" b="1" dirty="0">
                <a:solidFill>
                  <a:srgbClr val="566570"/>
                </a:solidFill>
                <a:latin typeface="Aptos" pitchFamily="34" charset="0"/>
                <a:ea typeface="Aptos" pitchFamily="34" charset="-122"/>
                <a:cs typeface="Aptos" pitchFamily="34" charset="-120"/>
              </a:rPr>
              <a:t>summ.</a:t>
            </a:r>
            <a:endParaRPr lang="en-US" sz="1200" dirty="0"/>
          </a:p>
        </p:txBody>
      </p:sp>
      <p:sp>
        <p:nvSpPr>
          <p:cNvPr id="27" name="Text 25"/>
          <p:cNvSpPr/>
          <p:nvPr/>
        </p:nvSpPr>
        <p:spPr>
          <a:xfrm>
            <a:off x="8961120" y="2670048"/>
            <a:ext cx="731520" cy="274320"/>
          </a:xfrm>
          <a:prstGeom prst="rect">
            <a:avLst/>
          </a:prstGeom>
          <a:noFill/>
          <a:ln/>
        </p:spPr>
        <p:txBody>
          <a:bodyPr wrap="square" lIns="0" tIns="0" rIns="0" bIns="0" rtlCol="0" anchor="ctr"/>
          <a:lstStyle/>
          <a:p>
            <a:pPr algn="ctr" indent="0" marL="0">
              <a:buNone/>
            </a:pPr>
            <a:r>
              <a:rPr lang="en-US" sz="1200" b="1" dirty="0">
                <a:solidFill>
                  <a:srgbClr val="566570"/>
                </a:solidFill>
                <a:latin typeface="Aptos" pitchFamily="34" charset="0"/>
                <a:ea typeface="Aptos" pitchFamily="34" charset="-122"/>
                <a:cs typeface="Aptos" pitchFamily="34" charset="-120"/>
              </a:rPr>
              <a:t>inscr.</a:t>
            </a:r>
            <a:endParaRPr lang="en-US" sz="1200" dirty="0"/>
          </a:p>
        </p:txBody>
      </p:sp>
      <p:sp>
        <p:nvSpPr>
          <p:cNvPr id="28" name="Text 26"/>
          <p:cNvSpPr/>
          <p:nvPr/>
        </p:nvSpPr>
        <p:spPr>
          <a:xfrm>
            <a:off x="9738360" y="2670048"/>
            <a:ext cx="731520" cy="274320"/>
          </a:xfrm>
          <a:prstGeom prst="rect">
            <a:avLst/>
          </a:prstGeom>
          <a:noFill/>
          <a:ln/>
        </p:spPr>
        <p:txBody>
          <a:bodyPr wrap="square" lIns="0" tIns="0" rIns="0" bIns="0" rtlCol="0" anchor="ctr"/>
          <a:lstStyle/>
          <a:p>
            <a:pPr algn="ctr" indent="0" marL="0">
              <a:buNone/>
            </a:pPr>
            <a:r>
              <a:rPr lang="en-US" sz="1200" b="1" dirty="0">
                <a:solidFill>
                  <a:srgbClr val="566570"/>
                </a:solidFill>
                <a:latin typeface="Aptos" pitchFamily="34" charset="0"/>
                <a:ea typeface="Aptos" pitchFamily="34" charset="-122"/>
                <a:cs typeface="Aptos" pitchFamily="34" charset="-120"/>
              </a:rPr>
              <a:t>other</a:t>
            </a:r>
            <a:endParaRPr lang="en-US" sz="1200" dirty="0"/>
          </a:p>
        </p:txBody>
      </p:sp>
      <p:sp>
        <p:nvSpPr>
          <p:cNvPr id="29" name="Text 27"/>
          <p:cNvSpPr/>
          <p:nvPr/>
        </p:nvSpPr>
        <p:spPr>
          <a:xfrm>
            <a:off x="10515600" y="2670048"/>
            <a:ext cx="731520" cy="274320"/>
          </a:xfrm>
          <a:prstGeom prst="rect">
            <a:avLst/>
          </a:prstGeom>
          <a:noFill/>
          <a:ln/>
        </p:spPr>
        <p:txBody>
          <a:bodyPr wrap="square" lIns="0" tIns="0" rIns="0" bIns="0" rtlCol="0" anchor="ctr"/>
          <a:lstStyle/>
          <a:p>
            <a:pPr algn="ctr" indent="0" marL="0">
              <a:buNone/>
            </a:pPr>
            <a:r>
              <a:rPr lang="en-US" sz="1200" b="1" dirty="0">
                <a:solidFill>
                  <a:srgbClr val="566570"/>
                </a:solidFill>
                <a:latin typeface="Aptos" pitchFamily="34" charset="0"/>
                <a:ea typeface="Aptos" pitchFamily="34" charset="-122"/>
                <a:cs typeface="Aptos" pitchFamily="34" charset="-120"/>
              </a:rPr>
              <a:t>outside</a:t>
            </a:r>
            <a:endParaRPr lang="en-US" sz="1200" dirty="0"/>
          </a:p>
        </p:txBody>
      </p:sp>
      <p:sp>
        <p:nvSpPr>
          <p:cNvPr id="30" name="Text 28"/>
          <p:cNvSpPr/>
          <p:nvPr/>
        </p:nvSpPr>
        <p:spPr>
          <a:xfrm>
            <a:off x="6126480" y="3163824"/>
            <a:ext cx="1133856" cy="274320"/>
          </a:xfrm>
          <a:prstGeom prst="rect">
            <a:avLst/>
          </a:prstGeom>
          <a:noFill/>
          <a:ln/>
        </p:spPr>
        <p:txBody>
          <a:bodyPr wrap="square" lIns="0" tIns="0" rIns="0" bIns="0" rtlCol="0" anchor="ctr"/>
          <a:lstStyle/>
          <a:p>
            <a:pPr indent="0" marL="0">
              <a:buNone/>
            </a:pPr>
            <a:r>
              <a:rPr lang="en-US" sz="1300" b="1" dirty="0">
                <a:solidFill>
                  <a:srgbClr val="162B38"/>
                </a:solidFill>
                <a:latin typeface="Aptos" pitchFamily="34" charset="0"/>
                <a:ea typeface="Aptos" pitchFamily="34" charset="-122"/>
                <a:cs typeface="Aptos" pitchFamily="34" charset="-120"/>
              </a:rPr>
              <a:t>text</a:t>
            </a:r>
            <a:endParaRPr lang="en-US" sz="1300" dirty="0"/>
          </a:p>
        </p:txBody>
      </p:sp>
      <p:sp>
        <p:nvSpPr>
          <p:cNvPr id="31" name="Shape 29"/>
          <p:cNvSpPr/>
          <p:nvPr/>
        </p:nvSpPr>
        <p:spPr>
          <a:xfrm>
            <a:off x="7406640" y="3054096"/>
            <a:ext cx="731520" cy="393192"/>
          </a:xfrm>
          <a:prstGeom prst="rect">
            <a:avLst/>
          </a:prstGeom>
          <a:solidFill>
            <a:srgbClr val="087F8C"/>
          </a:solidFill>
          <a:ln w="8890">
            <a:solidFill>
              <a:srgbClr val="087F8C"/>
            </a:solidFill>
            <a:prstDash val="solid"/>
          </a:ln>
        </p:spPr>
      </p:sp>
      <p:sp>
        <p:nvSpPr>
          <p:cNvPr id="32" name="Text 30"/>
          <p:cNvSpPr/>
          <p:nvPr/>
        </p:nvSpPr>
        <p:spPr>
          <a:xfrm>
            <a:off x="7406640" y="3136392"/>
            <a:ext cx="731520"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60</a:t>
            </a:r>
            <a:endParaRPr lang="en-US" sz="1500" dirty="0"/>
          </a:p>
        </p:txBody>
      </p:sp>
      <p:sp>
        <p:nvSpPr>
          <p:cNvPr id="33" name="Shape 31"/>
          <p:cNvSpPr/>
          <p:nvPr/>
        </p:nvSpPr>
        <p:spPr>
          <a:xfrm>
            <a:off x="8183880" y="3054096"/>
            <a:ext cx="731520" cy="393192"/>
          </a:xfrm>
          <a:prstGeom prst="rect">
            <a:avLst/>
          </a:prstGeom>
          <a:solidFill>
            <a:srgbClr val="FFFFFF"/>
          </a:solidFill>
          <a:ln w="8890">
            <a:solidFill>
              <a:srgbClr val="FFFFFF"/>
            </a:solidFill>
            <a:prstDash val="solid"/>
          </a:ln>
        </p:spPr>
      </p:sp>
      <p:sp>
        <p:nvSpPr>
          <p:cNvPr id="34" name="Text 32"/>
          <p:cNvSpPr/>
          <p:nvPr/>
        </p:nvSpPr>
        <p:spPr>
          <a:xfrm>
            <a:off x="8183880" y="3136392"/>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35" name="Shape 33"/>
          <p:cNvSpPr/>
          <p:nvPr/>
        </p:nvSpPr>
        <p:spPr>
          <a:xfrm>
            <a:off x="8961120" y="3054096"/>
            <a:ext cx="731520" cy="393192"/>
          </a:xfrm>
          <a:prstGeom prst="rect">
            <a:avLst/>
          </a:prstGeom>
          <a:solidFill>
            <a:srgbClr val="FFFFFF"/>
          </a:solidFill>
          <a:ln w="8890">
            <a:solidFill>
              <a:srgbClr val="FFFFFF"/>
            </a:solidFill>
            <a:prstDash val="solid"/>
          </a:ln>
        </p:spPr>
      </p:sp>
      <p:sp>
        <p:nvSpPr>
          <p:cNvPr id="36" name="Text 34"/>
          <p:cNvSpPr/>
          <p:nvPr/>
        </p:nvSpPr>
        <p:spPr>
          <a:xfrm>
            <a:off x="8961120" y="3136392"/>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37" name="Shape 35"/>
          <p:cNvSpPr/>
          <p:nvPr/>
        </p:nvSpPr>
        <p:spPr>
          <a:xfrm>
            <a:off x="9738360" y="3054096"/>
            <a:ext cx="731520" cy="393192"/>
          </a:xfrm>
          <a:prstGeom prst="rect">
            <a:avLst/>
          </a:prstGeom>
          <a:solidFill>
            <a:srgbClr val="FFFFFF"/>
          </a:solidFill>
          <a:ln w="8890">
            <a:solidFill>
              <a:srgbClr val="FFFFFF"/>
            </a:solidFill>
            <a:prstDash val="solid"/>
          </a:ln>
        </p:spPr>
      </p:sp>
      <p:sp>
        <p:nvSpPr>
          <p:cNvPr id="38" name="Text 36"/>
          <p:cNvSpPr/>
          <p:nvPr/>
        </p:nvSpPr>
        <p:spPr>
          <a:xfrm>
            <a:off x="9738360" y="3136392"/>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39" name="Shape 37"/>
          <p:cNvSpPr/>
          <p:nvPr/>
        </p:nvSpPr>
        <p:spPr>
          <a:xfrm>
            <a:off x="10515600" y="3054096"/>
            <a:ext cx="731520" cy="393192"/>
          </a:xfrm>
          <a:prstGeom prst="rect">
            <a:avLst/>
          </a:prstGeom>
          <a:solidFill>
            <a:srgbClr val="FFFFFF"/>
          </a:solidFill>
          <a:ln w="8890">
            <a:solidFill>
              <a:srgbClr val="FFFFFF"/>
            </a:solidFill>
            <a:prstDash val="solid"/>
          </a:ln>
        </p:spPr>
      </p:sp>
      <p:sp>
        <p:nvSpPr>
          <p:cNvPr id="40" name="Text 38"/>
          <p:cNvSpPr/>
          <p:nvPr/>
        </p:nvSpPr>
        <p:spPr>
          <a:xfrm>
            <a:off x="10515600" y="3136392"/>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41" name="Text 39"/>
          <p:cNvSpPr/>
          <p:nvPr/>
        </p:nvSpPr>
        <p:spPr>
          <a:xfrm>
            <a:off x="6126480" y="3611880"/>
            <a:ext cx="1133856" cy="274320"/>
          </a:xfrm>
          <a:prstGeom prst="rect">
            <a:avLst/>
          </a:prstGeom>
          <a:noFill/>
          <a:ln/>
        </p:spPr>
        <p:txBody>
          <a:bodyPr wrap="square" lIns="0" tIns="0" rIns="0" bIns="0" rtlCol="0" anchor="ctr"/>
          <a:lstStyle/>
          <a:p>
            <a:pPr indent="0" marL="0">
              <a:buNone/>
            </a:pPr>
            <a:r>
              <a:rPr lang="en-US" sz="1300" b="1" dirty="0">
                <a:solidFill>
                  <a:srgbClr val="162B38"/>
                </a:solidFill>
                <a:latin typeface="Aptos" pitchFamily="34" charset="0"/>
                <a:ea typeface="Aptos" pitchFamily="34" charset="-122"/>
                <a:cs typeface="Aptos" pitchFamily="34" charset="-120"/>
              </a:rPr>
              <a:t>summ.</a:t>
            </a:r>
            <a:endParaRPr lang="en-US" sz="1300" dirty="0"/>
          </a:p>
        </p:txBody>
      </p:sp>
      <p:sp>
        <p:nvSpPr>
          <p:cNvPr id="42" name="Shape 40"/>
          <p:cNvSpPr/>
          <p:nvPr/>
        </p:nvSpPr>
        <p:spPr>
          <a:xfrm>
            <a:off x="7406640" y="3502152"/>
            <a:ext cx="731520" cy="393192"/>
          </a:xfrm>
          <a:prstGeom prst="rect">
            <a:avLst/>
          </a:prstGeom>
          <a:solidFill>
            <a:srgbClr val="FFFFFF"/>
          </a:solidFill>
          <a:ln w="8890">
            <a:solidFill>
              <a:srgbClr val="FFFFFF"/>
            </a:solidFill>
            <a:prstDash val="solid"/>
          </a:ln>
        </p:spPr>
      </p:sp>
      <p:sp>
        <p:nvSpPr>
          <p:cNvPr id="43" name="Text 41"/>
          <p:cNvSpPr/>
          <p:nvPr/>
        </p:nvSpPr>
        <p:spPr>
          <a:xfrm>
            <a:off x="7406640" y="3584448"/>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44" name="Shape 42"/>
          <p:cNvSpPr/>
          <p:nvPr/>
        </p:nvSpPr>
        <p:spPr>
          <a:xfrm>
            <a:off x="8183880" y="3502152"/>
            <a:ext cx="731520" cy="393192"/>
          </a:xfrm>
          <a:prstGeom prst="rect">
            <a:avLst/>
          </a:prstGeom>
          <a:solidFill>
            <a:srgbClr val="087F8C"/>
          </a:solidFill>
          <a:ln w="8890">
            <a:solidFill>
              <a:srgbClr val="087F8C"/>
            </a:solidFill>
            <a:prstDash val="solid"/>
          </a:ln>
        </p:spPr>
      </p:sp>
      <p:sp>
        <p:nvSpPr>
          <p:cNvPr id="45" name="Text 43"/>
          <p:cNvSpPr/>
          <p:nvPr/>
        </p:nvSpPr>
        <p:spPr>
          <a:xfrm>
            <a:off x="8183880" y="3584448"/>
            <a:ext cx="731520"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16</a:t>
            </a:r>
            <a:endParaRPr lang="en-US" sz="1500" dirty="0"/>
          </a:p>
        </p:txBody>
      </p:sp>
      <p:sp>
        <p:nvSpPr>
          <p:cNvPr id="46" name="Shape 44"/>
          <p:cNvSpPr/>
          <p:nvPr/>
        </p:nvSpPr>
        <p:spPr>
          <a:xfrm>
            <a:off x="8961120" y="3502152"/>
            <a:ext cx="731520" cy="393192"/>
          </a:xfrm>
          <a:prstGeom prst="rect">
            <a:avLst/>
          </a:prstGeom>
          <a:solidFill>
            <a:srgbClr val="FFFFFF"/>
          </a:solidFill>
          <a:ln w="8890">
            <a:solidFill>
              <a:srgbClr val="FFFFFF"/>
            </a:solidFill>
            <a:prstDash val="solid"/>
          </a:ln>
        </p:spPr>
      </p:sp>
      <p:sp>
        <p:nvSpPr>
          <p:cNvPr id="47" name="Text 45"/>
          <p:cNvSpPr/>
          <p:nvPr/>
        </p:nvSpPr>
        <p:spPr>
          <a:xfrm>
            <a:off x="8961120" y="3584448"/>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48" name="Shape 46"/>
          <p:cNvSpPr/>
          <p:nvPr/>
        </p:nvSpPr>
        <p:spPr>
          <a:xfrm>
            <a:off x="9738360" y="3502152"/>
            <a:ext cx="731520" cy="393192"/>
          </a:xfrm>
          <a:prstGeom prst="rect">
            <a:avLst/>
          </a:prstGeom>
          <a:solidFill>
            <a:srgbClr val="FFFFFF"/>
          </a:solidFill>
          <a:ln w="8890">
            <a:solidFill>
              <a:srgbClr val="FFFFFF"/>
            </a:solidFill>
            <a:prstDash val="solid"/>
          </a:ln>
        </p:spPr>
      </p:sp>
      <p:sp>
        <p:nvSpPr>
          <p:cNvPr id="49" name="Text 47"/>
          <p:cNvSpPr/>
          <p:nvPr/>
        </p:nvSpPr>
        <p:spPr>
          <a:xfrm>
            <a:off x="9738360" y="3584448"/>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50" name="Shape 48"/>
          <p:cNvSpPr/>
          <p:nvPr/>
        </p:nvSpPr>
        <p:spPr>
          <a:xfrm>
            <a:off x="10515600" y="3502152"/>
            <a:ext cx="731520" cy="393192"/>
          </a:xfrm>
          <a:prstGeom prst="rect">
            <a:avLst/>
          </a:prstGeom>
          <a:solidFill>
            <a:srgbClr val="FFFFFF"/>
          </a:solidFill>
          <a:ln w="8890">
            <a:solidFill>
              <a:srgbClr val="FFFFFF"/>
            </a:solidFill>
            <a:prstDash val="solid"/>
          </a:ln>
        </p:spPr>
      </p:sp>
      <p:sp>
        <p:nvSpPr>
          <p:cNvPr id="51" name="Text 49"/>
          <p:cNvSpPr/>
          <p:nvPr/>
        </p:nvSpPr>
        <p:spPr>
          <a:xfrm>
            <a:off x="10515600" y="3584448"/>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52" name="Text 50"/>
          <p:cNvSpPr/>
          <p:nvPr/>
        </p:nvSpPr>
        <p:spPr>
          <a:xfrm>
            <a:off x="6126480" y="4059936"/>
            <a:ext cx="1133856" cy="274320"/>
          </a:xfrm>
          <a:prstGeom prst="rect">
            <a:avLst/>
          </a:prstGeom>
          <a:noFill/>
          <a:ln/>
        </p:spPr>
        <p:txBody>
          <a:bodyPr wrap="square" lIns="0" tIns="0" rIns="0" bIns="0" rtlCol="0" anchor="ctr"/>
          <a:lstStyle/>
          <a:p>
            <a:pPr indent="0" marL="0">
              <a:buNone/>
            </a:pPr>
            <a:r>
              <a:rPr lang="en-US" sz="1300" b="1" dirty="0">
                <a:solidFill>
                  <a:srgbClr val="162B38"/>
                </a:solidFill>
                <a:latin typeface="Aptos" pitchFamily="34" charset="0"/>
                <a:ea typeface="Aptos" pitchFamily="34" charset="-122"/>
                <a:cs typeface="Aptos" pitchFamily="34" charset="-120"/>
              </a:rPr>
              <a:t>inscr.</a:t>
            </a:r>
            <a:endParaRPr lang="en-US" sz="1300" dirty="0"/>
          </a:p>
        </p:txBody>
      </p:sp>
      <p:sp>
        <p:nvSpPr>
          <p:cNvPr id="53" name="Shape 51"/>
          <p:cNvSpPr/>
          <p:nvPr/>
        </p:nvSpPr>
        <p:spPr>
          <a:xfrm>
            <a:off x="7406640" y="3950208"/>
            <a:ext cx="731520" cy="393192"/>
          </a:xfrm>
          <a:prstGeom prst="rect">
            <a:avLst/>
          </a:prstGeom>
          <a:solidFill>
            <a:srgbClr val="FFFFFF"/>
          </a:solidFill>
          <a:ln w="8890">
            <a:solidFill>
              <a:srgbClr val="FFFFFF"/>
            </a:solidFill>
            <a:prstDash val="solid"/>
          </a:ln>
        </p:spPr>
      </p:sp>
      <p:sp>
        <p:nvSpPr>
          <p:cNvPr id="54" name="Text 52"/>
          <p:cNvSpPr/>
          <p:nvPr/>
        </p:nvSpPr>
        <p:spPr>
          <a:xfrm>
            <a:off x="7406640" y="4032504"/>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55" name="Shape 53"/>
          <p:cNvSpPr/>
          <p:nvPr/>
        </p:nvSpPr>
        <p:spPr>
          <a:xfrm>
            <a:off x="8183880" y="3950208"/>
            <a:ext cx="731520" cy="393192"/>
          </a:xfrm>
          <a:prstGeom prst="rect">
            <a:avLst/>
          </a:prstGeom>
          <a:solidFill>
            <a:srgbClr val="FFFFFF"/>
          </a:solidFill>
          <a:ln w="8890">
            <a:solidFill>
              <a:srgbClr val="FFFFFF"/>
            </a:solidFill>
            <a:prstDash val="solid"/>
          </a:ln>
        </p:spPr>
      </p:sp>
      <p:sp>
        <p:nvSpPr>
          <p:cNvPr id="56" name="Text 54"/>
          <p:cNvSpPr/>
          <p:nvPr/>
        </p:nvSpPr>
        <p:spPr>
          <a:xfrm>
            <a:off x="8183880" y="4032504"/>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57" name="Shape 55"/>
          <p:cNvSpPr/>
          <p:nvPr/>
        </p:nvSpPr>
        <p:spPr>
          <a:xfrm>
            <a:off x="8961120" y="3950208"/>
            <a:ext cx="731520" cy="393192"/>
          </a:xfrm>
          <a:prstGeom prst="rect">
            <a:avLst/>
          </a:prstGeom>
          <a:solidFill>
            <a:srgbClr val="087F8C"/>
          </a:solidFill>
          <a:ln w="8890">
            <a:solidFill>
              <a:srgbClr val="087F8C"/>
            </a:solidFill>
            <a:prstDash val="solid"/>
          </a:ln>
        </p:spPr>
      </p:sp>
      <p:sp>
        <p:nvSpPr>
          <p:cNvPr id="58" name="Text 56"/>
          <p:cNvSpPr/>
          <p:nvPr/>
        </p:nvSpPr>
        <p:spPr>
          <a:xfrm>
            <a:off x="8961120" y="4032504"/>
            <a:ext cx="731520"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7</a:t>
            </a:r>
            <a:endParaRPr lang="en-US" sz="1500" dirty="0"/>
          </a:p>
        </p:txBody>
      </p:sp>
      <p:sp>
        <p:nvSpPr>
          <p:cNvPr id="59" name="Shape 57"/>
          <p:cNvSpPr/>
          <p:nvPr/>
        </p:nvSpPr>
        <p:spPr>
          <a:xfrm>
            <a:off x="9738360" y="3950208"/>
            <a:ext cx="731520" cy="393192"/>
          </a:xfrm>
          <a:prstGeom prst="rect">
            <a:avLst/>
          </a:prstGeom>
          <a:solidFill>
            <a:srgbClr val="FFFFFF"/>
          </a:solidFill>
          <a:ln w="8890">
            <a:solidFill>
              <a:srgbClr val="FFFFFF"/>
            </a:solidFill>
            <a:prstDash val="solid"/>
          </a:ln>
        </p:spPr>
      </p:sp>
      <p:sp>
        <p:nvSpPr>
          <p:cNvPr id="60" name="Text 58"/>
          <p:cNvSpPr/>
          <p:nvPr/>
        </p:nvSpPr>
        <p:spPr>
          <a:xfrm>
            <a:off x="9738360" y="4032504"/>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61" name="Shape 59"/>
          <p:cNvSpPr/>
          <p:nvPr/>
        </p:nvSpPr>
        <p:spPr>
          <a:xfrm>
            <a:off x="10515600" y="3950208"/>
            <a:ext cx="731520" cy="393192"/>
          </a:xfrm>
          <a:prstGeom prst="rect">
            <a:avLst/>
          </a:prstGeom>
          <a:solidFill>
            <a:srgbClr val="FFFFFF"/>
          </a:solidFill>
          <a:ln w="8890">
            <a:solidFill>
              <a:srgbClr val="FFFFFF"/>
            </a:solidFill>
            <a:prstDash val="solid"/>
          </a:ln>
        </p:spPr>
      </p:sp>
      <p:sp>
        <p:nvSpPr>
          <p:cNvPr id="62" name="Text 60"/>
          <p:cNvSpPr/>
          <p:nvPr/>
        </p:nvSpPr>
        <p:spPr>
          <a:xfrm>
            <a:off x="10515600" y="4032504"/>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63" name="Text 61"/>
          <p:cNvSpPr/>
          <p:nvPr/>
        </p:nvSpPr>
        <p:spPr>
          <a:xfrm>
            <a:off x="6126480" y="4507992"/>
            <a:ext cx="1133856" cy="274320"/>
          </a:xfrm>
          <a:prstGeom prst="rect">
            <a:avLst/>
          </a:prstGeom>
          <a:noFill/>
          <a:ln/>
        </p:spPr>
        <p:txBody>
          <a:bodyPr wrap="square" lIns="0" tIns="0" rIns="0" bIns="0" rtlCol="0" anchor="ctr"/>
          <a:lstStyle/>
          <a:p>
            <a:pPr indent="0" marL="0">
              <a:buNone/>
            </a:pPr>
            <a:r>
              <a:rPr lang="en-US" sz="1300" b="1" dirty="0">
                <a:solidFill>
                  <a:srgbClr val="162B38"/>
                </a:solidFill>
                <a:latin typeface="Aptos" pitchFamily="34" charset="0"/>
                <a:ea typeface="Aptos" pitchFamily="34" charset="-122"/>
                <a:cs typeface="Aptos" pitchFamily="34" charset="-120"/>
              </a:rPr>
              <a:t>other</a:t>
            </a:r>
            <a:endParaRPr lang="en-US" sz="1300" dirty="0"/>
          </a:p>
        </p:txBody>
      </p:sp>
      <p:sp>
        <p:nvSpPr>
          <p:cNvPr id="64" name="Shape 62"/>
          <p:cNvSpPr/>
          <p:nvPr/>
        </p:nvSpPr>
        <p:spPr>
          <a:xfrm>
            <a:off x="7406640" y="4398264"/>
            <a:ext cx="731520" cy="393192"/>
          </a:xfrm>
          <a:prstGeom prst="rect">
            <a:avLst/>
          </a:prstGeom>
          <a:solidFill>
            <a:srgbClr val="FFFFFF"/>
          </a:solidFill>
          <a:ln w="8890">
            <a:solidFill>
              <a:srgbClr val="FFFFFF"/>
            </a:solidFill>
            <a:prstDash val="solid"/>
          </a:ln>
        </p:spPr>
      </p:sp>
      <p:sp>
        <p:nvSpPr>
          <p:cNvPr id="65" name="Text 63"/>
          <p:cNvSpPr/>
          <p:nvPr/>
        </p:nvSpPr>
        <p:spPr>
          <a:xfrm>
            <a:off x="7406640" y="4480560"/>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66" name="Shape 64"/>
          <p:cNvSpPr/>
          <p:nvPr/>
        </p:nvSpPr>
        <p:spPr>
          <a:xfrm>
            <a:off x="8183880" y="4398264"/>
            <a:ext cx="731520" cy="393192"/>
          </a:xfrm>
          <a:prstGeom prst="rect">
            <a:avLst/>
          </a:prstGeom>
          <a:solidFill>
            <a:srgbClr val="FFFFFF"/>
          </a:solidFill>
          <a:ln w="8890">
            <a:solidFill>
              <a:srgbClr val="FFFFFF"/>
            </a:solidFill>
            <a:prstDash val="solid"/>
          </a:ln>
        </p:spPr>
      </p:sp>
      <p:sp>
        <p:nvSpPr>
          <p:cNvPr id="67" name="Text 65"/>
          <p:cNvSpPr/>
          <p:nvPr/>
        </p:nvSpPr>
        <p:spPr>
          <a:xfrm>
            <a:off x="8183880" y="4480560"/>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68" name="Shape 66"/>
          <p:cNvSpPr/>
          <p:nvPr/>
        </p:nvSpPr>
        <p:spPr>
          <a:xfrm>
            <a:off x="8961120" y="4398264"/>
            <a:ext cx="731520" cy="393192"/>
          </a:xfrm>
          <a:prstGeom prst="rect">
            <a:avLst/>
          </a:prstGeom>
          <a:solidFill>
            <a:srgbClr val="FFFFFF"/>
          </a:solidFill>
          <a:ln w="8890">
            <a:solidFill>
              <a:srgbClr val="FFFFFF"/>
            </a:solidFill>
            <a:prstDash val="solid"/>
          </a:ln>
        </p:spPr>
      </p:sp>
      <p:sp>
        <p:nvSpPr>
          <p:cNvPr id="69" name="Text 67"/>
          <p:cNvSpPr/>
          <p:nvPr/>
        </p:nvSpPr>
        <p:spPr>
          <a:xfrm>
            <a:off x="8961120" y="4480560"/>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70" name="Shape 68"/>
          <p:cNvSpPr/>
          <p:nvPr/>
        </p:nvSpPr>
        <p:spPr>
          <a:xfrm>
            <a:off x="9738360" y="4398264"/>
            <a:ext cx="731520" cy="393192"/>
          </a:xfrm>
          <a:prstGeom prst="rect">
            <a:avLst/>
          </a:prstGeom>
          <a:solidFill>
            <a:srgbClr val="087F8C"/>
          </a:solidFill>
          <a:ln w="8890">
            <a:solidFill>
              <a:srgbClr val="087F8C"/>
            </a:solidFill>
            <a:prstDash val="solid"/>
          </a:ln>
        </p:spPr>
      </p:sp>
      <p:sp>
        <p:nvSpPr>
          <p:cNvPr id="71" name="Text 69"/>
          <p:cNvSpPr/>
          <p:nvPr/>
        </p:nvSpPr>
        <p:spPr>
          <a:xfrm>
            <a:off x="9738360" y="4480560"/>
            <a:ext cx="731520"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6</a:t>
            </a:r>
            <a:endParaRPr lang="en-US" sz="1500" dirty="0"/>
          </a:p>
        </p:txBody>
      </p:sp>
      <p:sp>
        <p:nvSpPr>
          <p:cNvPr id="72" name="Shape 70"/>
          <p:cNvSpPr/>
          <p:nvPr/>
        </p:nvSpPr>
        <p:spPr>
          <a:xfrm>
            <a:off x="10515600" y="4398264"/>
            <a:ext cx="731520" cy="393192"/>
          </a:xfrm>
          <a:prstGeom prst="rect">
            <a:avLst/>
          </a:prstGeom>
          <a:solidFill>
            <a:srgbClr val="FFFFFF"/>
          </a:solidFill>
          <a:ln w="8890">
            <a:solidFill>
              <a:srgbClr val="FFFFFF"/>
            </a:solidFill>
            <a:prstDash val="solid"/>
          </a:ln>
        </p:spPr>
      </p:sp>
      <p:sp>
        <p:nvSpPr>
          <p:cNvPr id="73" name="Text 71"/>
          <p:cNvSpPr/>
          <p:nvPr/>
        </p:nvSpPr>
        <p:spPr>
          <a:xfrm>
            <a:off x="10515600" y="4480560"/>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74" name="Text 72"/>
          <p:cNvSpPr/>
          <p:nvPr/>
        </p:nvSpPr>
        <p:spPr>
          <a:xfrm>
            <a:off x="6126480" y="4956048"/>
            <a:ext cx="1133856" cy="274320"/>
          </a:xfrm>
          <a:prstGeom prst="rect">
            <a:avLst/>
          </a:prstGeom>
          <a:noFill/>
          <a:ln/>
        </p:spPr>
        <p:txBody>
          <a:bodyPr wrap="square" lIns="0" tIns="0" rIns="0" bIns="0" rtlCol="0" anchor="ctr"/>
          <a:lstStyle/>
          <a:p>
            <a:pPr indent="0" marL="0">
              <a:buNone/>
            </a:pPr>
            <a:r>
              <a:rPr lang="en-US" sz="1300" b="1" dirty="0">
                <a:solidFill>
                  <a:srgbClr val="162B38"/>
                </a:solidFill>
                <a:latin typeface="Aptos" pitchFamily="34" charset="0"/>
                <a:ea typeface="Aptos" pitchFamily="34" charset="-122"/>
                <a:cs typeface="Aptos" pitchFamily="34" charset="-120"/>
              </a:rPr>
              <a:t>outside</a:t>
            </a:r>
            <a:endParaRPr lang="en-US" sz="1300" dirty="0"/>
          </a:p>
        </p:txBody>
      </p:sp>
      <p:sp>
        <p:nvSpPr>
          <p:cNvPr id="75" name="Shape 73"/>
          <p:cNvSpPr/>
          <p:nvPr/>
        </p:nvSpPr>
        <p:spPr>
          <a:xfrm>
            <a:off x="7406640" y="4846320"/>
            <a:ext cx="731520" cy="393192"/>
          </a:xfrm>
          <a:prstGeom prst="rect">
            <a:avLst/>
          </a:prstGeom>
          <a:solidFill>
            <a:srgbClr val="FFFFFF"/>
          </a:solidFill>
          <a:ln w="8890">
            <a:solidFill>
              <a:srgbClr val="FFFFFF"/>
            </a:solidFill>
            <a:prstDash val="solid"/>
          </a:ln>
        </p:spPr>
      </p:sp>
      <p:sp>
        <p:nvSpPr>
          <p:cNvPr id="76" name="Text 74"/>
          <p:cNvSpPr/>
          <p:nvPr/>
        </p:nvSpPr>
        <p:spPr>
          <a:xfrm>
            <a:off x="7406640" y="4928616"/>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77" name="Shape 75"/>
          <p:cNvSpPr/>
          <p:nvPr/>
        </p:nvSpPr>
        <p:spPr>
          <a:xfrm>
            <a:off x="8183880" y="4846320"/>
            <a:ext cx="731520" cy="393192"/>
          </a:xfrm>
          <a:prstGeom prst="rect">
            <a:avLst/>
          </a:prstGeom>
          <a:solidFill>
            <a:srgbClr val="FFFFFF"/>
          </a:solidFill>
          <a:ln w="8890">
            <a:solidFill>
              <a:srgbClr val="FFFFFF"/>
            </a:solidFill>
            <a:prstDash val="solid"/>
          </a:ln>
        </p:spPr>
      </p:sp>
      <p:sp>
        <p:nvSpPr>
          <p:cNvPr id="78" name="Text 76"/>
          <p:cNvSpPr/>
          <p:nvPr/>
        </p:nvSpPr>
        <p:spPr>
          <a:xfrm>
            <a:off x="8183880" y="4928616"/>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79" name="Shape 77"/>
          <p:cNvSpPr/>
          <p:nvPr/>
        </p:nvSpPr>
        <p:spPr>
          <a:xfrm>
            <a:off x="8961120" y="4846320"/>
            <a:ext cx="731520" cy="393192"/>
          </a:xfrm>
          <a:prstGeom prst="rect">
            <a:avLst/>
          </a:prstGeom>
          <a:solidFill>
            <a:srgbClr val="FFFFFF"/>
          </a:solidFill>
          <a:ln w="8890">
            <a:solidFill>
              <a:srgbClr val="FFFFFF"/>
            </a:solidFill>
            <a:prstDash val="solid"/>
          </a:ln>
        </p:spPr>
      </p:sp>
      <p:sp>
        <p:nvSpPr>
          <p:cNvPr id="80" name="Text 78"/>
          <p:cNvSpPr/>
          <p:nvPr/>
        </p:nvSpPr>
        <p:spPr>
          <a:xfrm>
            <a:off x="8961120" y="4928616"/>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81" name="Shape 79"/>
          <p:cNvSpPr/>
          <p:nvPr/>
        </p:nvSpPr>
        <p:spPr>
          <a:xfrm>
            <a:off x="9738360" y="4846320"/>
            <a:ext cx="731520" cy="393192"/>
          </a:xfrm>
          <a:prstGeom prst="rect">
            <a:avLst/>
          </a:prstGeom>
          <a:solidFill>
            <a:srgbClr val="FFFFFF"/>
          </a:solidFill>
          <a:ln w="8890">
            <a:solidFill>
              <a:srgbClr val="FFFFFF"/>
            </a:solidFill>
            <a:prstDash val="solid"/>
          </a:ln>
        </p:spPr>
      </p:sp>
      <p:sp>
        <p:nvSpPr>
          <p:cNvPr id="82" name="Text 80"/>
          <p:cNvSpPr/>
          <p:nvPr/>
        </p:nvSpPr>
        <p:spPr>
          <a:xfrm>
            <a:off x="9738360" y="4928616"/>
            <a:ext cx="731520" cy="228600"/>
          </a:xfrm>
          <a:prstGeom prst="rect">
            <a:avLst/>
          </a:prstGeom>
          <a:noFill/>
          <a:ln/>
        </p:spPr>
        <p:txBody>
          <a:bodyPr wrap="square" lIns="0" tIns="0" rIns="0" bIns="0" rtlCol="0" anchor="ctr"/>
          <a:lstStyle/>
          <a:p>
            <a:pPr algn="ctr" indent="0" marL="0">
              <a:buNone/>
            </a:pPr>
            <a:r>
              <a:rPr lang="en-US" sz="1500" dirty="0">
                <a:solidFill>
                  <a:srgbClr val="566570"/>
                </a:solidFill>
                <a:latin typeface="Aptos" pitchFamily="34" charset="0"/>
                <a:ea typeface="Aptos" pitchFamily="34" charset="-122"/>
                <a:cs typeface="Aptos" pitchFamily="34" charset="-120"/>
              </a:rPr>
              <a:t>0</a:t>
            </a:r>
            <a:endParaRPr lang="en-US" sz="1500" dirty="0"/>
          </a:p>
        </p:txBody>
      </p:sp>
      <p:sp>
        <p:nvSpPr>
          <p:cNvPr id="83" name="Shape 81"/>
          <p:cNvSpPr/>
          <p:nvPr/>
        </p:nvSpPr>
        <p:spPr>
          <a:xfrm>
            <a:off x="10515600" y="4846320"/>
            <a:ext cx="731520" cy="393192"/>
          </a:xfrm>
          <a:prstGeom prst="rect">
            <a:avLst/>
          </a:prstGeom>
          <a:solidFill>
            <a:srgbClr val="087F8C"/>
          </a:solidFill>
          <a:ln w="8890">
            <a:solidFill>
              <a:srgbClr val="087F8C"/>
            </a:solidFill>
            <a:prstDash val="solid"/>
          </a:ln>
        </p:spPr>
      </p:sp>
      <p:sp>
        <p:nvSpPr>
          <p:cNvPr id="84" name="Text 82"/>
          <p:cNvSpPr/>
          <p:nvPr/>
        </p:nvSpPr>
        <p:spPr>
          <a:xfrm>
            <a:off x="10515600" y="4928616"/>
            <a:ext cx="731520" cy="2286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42</a:t>
            </a:r>
            <a:endParaRPr lang="en-US" sz="1500" dirty="0"/>
          </a:p>
        </p:txBody>
      </p:sp>
      <p:sp>
        <p:nvSpPr>
          <p:cNvPr id="85" name="Text 83"/>
          <p:cNvSpPr/>
          <p:nvPr/>
        </p:nvSpPr>
        <p:spPr>
          <a:xfrm>
            <a:off x="585216" y="5513832"/>
            <a:ext cx="5303520" cy="420624"/>
          </a:xfrm>
          <a:prstGeom prst="rect">
            <a:avLst/>
          </a:prstGeom>
          <a:noFill/>
          <a:ln/>
        </p:spPr>
        <p:txBody>
          <a:bodyPr wrap="square" lIns="0" tIns="0" rIns="0" bIns="0" rtlCol="0" anchor="ctr"/>
          <a:lstStyle/>
          <a:p>
            <a:pPr indent="0" marL="0">
              <a:buNone/>
            </a:pPr>
            <a:r>
              <a:rPr lang="en-US" sz="1800" b="1" dirty="0">
                <a:solidFill>
                  <a:srgbClr val="162B38"/>
                </a:solidFill>
                <a:latin typeface="Aptos" pitchFamily="34" charset="0"/>
                <a:ea typeface="Aptos" pitchFamily="34" charset="-122"/>
                <a:cs typeface="Aptos" pitchFamily="34" charset="-120"/>
              </a:rPr>
              <a:t>Also labelled: gutter numbers + initial</a:t>
            </a:r>
            <a:endParaRPr lang="en-US" sz="1800" dirty="0"/>
          </a:p>
        </p:txBody>
      </p:sp>
      <p:sp>
        <p:nvSpPr>
          <p:cNvPr id="86" name="Text 84"/>
          <p:cNvSpPr/>
          <p:nvPr/>
        </p:nvSpPr>
        <p:spPr>
          <a:xfrm>
            <a:off x="6163056" y="5513832"/>
            <a:ext cx="4892040" cy="411480"/>
          </a:xfrm>
          <a:prstGeom prst="rect">
            <a:avLst/>
          </a:prstGeom>
          <a:noFill/>
          <a:ln/>
        </p:spPr>
        <p:txBody>
          <a:bodyPr wrap="square" lIns="0" tIns="0" rIns="0" bIns="0" rtlCol="0" anchor="ctr"/>
          <a:lstStyle/>
          <a:p>
            <a:pPr indent="0" marL="0">
              <a:buNone/>
            </a:pPr>
            <a:r>
              <a:rPr lang="en-US" sz="2100" b="1" dirty="0">
                <a:solidFill>
                  <a:srgbClr val="087F8C"/>
                </a:solidFill>
                <a:latin typeface="Aptos" pitchFamily="34" charset="0"/>
                <a:ea typeface="Aptos" pitchFamily="34" charset="-122"/>
                <a:cs typeface="Aptos" pitchFamily="34" charset="-120"/>
              </a:rPr>
              <a:t>131 checked labels · all diagonal</a:t>
            </a:r>
            <a:endParaRPr lang="en-US" sz="2100" dirty="0"/>
          </a:p>
        </p:txBody>
      </p:sp>
      <p:sp>
        <p:nvSpPr>
          <p:cNvPr id="87" name="Text 85"/>
          <p:cNvSpPr/>
          <p:nvPr/>
        </p:nvSpPr>
        <p:spPr>
          <a:xfrm>
            <a:off x="585216" y="5971032"/>
            <a:ext cx="10972800" cy="301752"/>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Adaptive thresholding · split gutter-crossing OCR lines · grow each block to its chapter head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 · 3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Across editions, use learned page and line models</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D-FINE finds regions. PERO reads inside them. The neural tagger assigns roles.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576072" y="2313432"/>
            <a:ext cx="2514600" cy="932688"/>
          </a:xfrm>
          <a:prstGeom prst="rect">
            <a:avLst/>
          </a:prstGeom>
          <a:solidFill>
            <a:srgbClr val="FFFFFF"/>
          </a:solidFill>
          <a:ln w="8890">
            <a:solidFill>
              <a:srgbClr val="FFFFFF"/>
            </a:solidFill>
            <a:prstDash val="solid"/>
          </a:ln>
        </p:spPr>
      </p:sp>
      <p:sp>
        <p:nvSpPr>
          <p:cNvPr id="9" name="Shape 7"/>
          <p:cNvSpPr/>
          <p:nvPr/>
        </p:nvSpPr>
        <p:spPr>
          <a:xfrm>
            <a:off x="576072" y="2313432"/>
            <a:ext cx="50292" cy="932688"/>
          </a:xfrm>
          <a:prstGeom prst="rect">
            <a:avLst/>
          </a:prstGeom>
          <a:solidFill>
            <a:srgbClr val="087F8C"/>
          </a:solidFill>
          <a:ln w="8890">
            <a:solidFill>
              <a:srgbClr val="087F8C"/>
            </a:solidFill>
            <a:prstDash val="solid"/>
          </a:ln>
        </p:spPr>
      </p:sp>
      <p:sp>
        <p:nvSpPr>
          <p:cNvPr id="10" name="Text 8"/>
          <p:cNvSpPr/>
          <p:nvPr/>
        </p:nvSpPr>
        <p:spPr>
          <a:xfrm>
            <a:off x="740664" y="2441448"/>
            <a:ext cx="2185416"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D-FINE</a:t>
            </a:r>
            <a:endParaRPr lang="en-US" sz="1700" dirty="0"/>
          </a:p>
        </p:txBody>
      </p:sp>
      <p:sp>
        <p:nvSpPr>
          <p:cNvPr id="11" name="Text 9"/>
          <p:cNvSpPr/>
          <p:nvPr/>
        </p:nvSpPr>
        <p:spPr>
          <a:xfrm>
            <a:off x="740664" y="2779776"/>
            <a:ext cx="2185416" cy="3931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region detection</a:t>
            </a:r>
            <a:endParaRPr lang="en-US" sz="1300" dirty="0"/>
          </a:p>
        </p:txBody>
      </p:sp>
      <p:sp>
        <p:nvSpPr>
          <p:cNvPr id="12" name="Shape 10"/>
          <p:cNvSpPr/>
          <p:nvPr/>
        </p:nvSpPr>
        <p:spPr>
          <a:xfrm>
            <a:off x="3163824" y="2779776"/>
            <a:ext cx="292608" cy="0"/>
          </a:xfrm>
          <a:prstGeom prst="line">
            <a:avLst/>
          </a:prstGeom>
          <a:noFill/>
          <a:ln w="25400">
            <a:solidFill>
              <a:srgbClr val="087F8C"/>
            </a:solidFill>
            <a:prstDash val="solid"/>
            <a:headEnd type="none"/>
            <a:tailEnd type="triangle"/>
          </a:ln>
        </p:spPr>
      </p:sp>
      <p:sp>
        <p:nvSpPr>
          <p:cNvPr id="13" name="Shape 11"/>
          <p:cNvSpPr/>
          <p:nvPr/>
        </p:nvSpPr>
        <p:spPr>
          <a:xfrm>
            <a:off x="3547872" y="2313432"/>
            <a:ext cx="2514600" cy="932688"/>
          </a:xfrm>
          <a:prstGeom prst="rect">
            <a:avLst/>
          </a:prstGeom>
          <a:solidFill>
            <a:srgbClr val="FFFFFF"/>
          </a:solidFill>
          <a:ln w="8890">
            <a:solidFill>
              <a:srgbClr val="FFFFFF"/>
            </a:solidFill>
            <a:prstDash val="solid"/>
          </a:ln>
        </p:spPr>
      </p:sp>
      <p:sp>
        <p:nvSpPr>
          <p:cNvPr id="14" name="Shape 12"/>
          <p:cNvSpPr/>
          <p:nvPr/>
        </p:nvSpPr>
        <p:spPr>
          <a:xfrm>
            <a:off x="3547872" y="2313432"/>
            <a:ext cx="50292" cy="932688"/>
          </a:xfrm>
          <a:prstGeom prst="rect">
            <a:avLst/>
          </a:prstGeom>
          <a:solidFill>
            <a:srgbClr val="087F8C"/>
          </a:solidFill>
          <a:ln w="8890">
            <a:solidFill>
              <a:srgbClr val="087F8C"/>
            </a:solidFill>
            <a:prstDash val="solid"/>
          </a:ln>
        </p:spPr>
      </p:sp>
      <p:sp>
        <p:nvSpPr>
          <p:cNvPr id="15" name="Text 13"/>
          <p:cNvSpPr/>
          <p:nvPr/>
        </p:nvSpPr>
        <p:spPr>
          <a:xfrm>
            <a:off x="3712464" y="2441448"/>
            <a:ext cx="2185416"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PERO</a:t>
            </a:r>
            <a:endParaRPr lang="en-US" sz="1700" dirty="0"/>
          </a:p>
        </p:txBody>
      </p:sp>
      <p:sp>
        <p:nvSpPr>
          <p:cNvPr id="16" name="Text 14"/>
          <p:cNvSpPr/>
          <p:nvPr/>
        </p:nvSpPr>
        <p:spPr>
          <a:xfrm>
            <a:off x="3712464" y="2779776"/>
            <a:ext cx="2185416" cy="3931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lines + recognition</a:t>
            </a:r>
            <a:endParaRPr lang="en-US" sz="1300" dirty="0"/>
          </a:p>
        </p:txBody>
      </p:sp>
      <p:sp>
        <p:nvSpPr>
          <p:cNvPr id="17" name="Shape 15"/>
          <p:cNvSpPr/>
          <p:nvPr/>
        </p:nvSpPr>
        <p:spPr>
          <a:xfrm>
            <a:off x="6135624" y="2779776"/>
            <a:ext cx="292608" cy="0"/>
          </a:xfrm>
          <a:prstGeom prst="line">
            <a:avLst/>
          </a:prstGeom>
          <a:noFill/>
          <a:ln w="25400">
            <a:solidFill>
              <a:srgbClr val="087F8C"/>
            </a:solidFill>
            <a:prstDash val="solid"/>
            <a:headEnd type="none"/>
            <a:tailEnd type="triangle"/>
          </a:ln>
        </p:spPr>
      </p:sp>
      <p:sp>
        <p:nvSpPr>
          <p:cNvPr id="18" name="Shape 16"/>
          <p:cNvSpPr/>
          <p:nvPr/>
        </p:nvSpPr>
        <p:spPr>
          <a:xfrm>
            <a:off x="6519672" y="2313432"/>
            <a:ext cx="2514600" cy="932688"/>
          </a:xfrm>
          <a:prstGeom prst="rect">
            <a:avLst/>
          </a:prstGeom>
          <a:solidFill>
            <a:srgbClr val="FFFFFF"/>
          </a:solidFill>
          <a:ln w="8890">
            <a:solidFill>
              <a:srgbClr val="FFFFFF"/>
            </a:solidFill>
            <a:prstDash val="solid"/>
          </a:ln>
        </p:spPr>
      </p:sp>
      <p:sp>
        <p:nvSpPr>
          <p:cNvPr id="19" name="Shape 17"/>
          <p:cNvSpPr/>
          <p:nvPr/>
        </p:nvSpPr>
        <p:spPr>
          <a:xfrm>
            <a:off x="6519672" y="2313432"/>
            <a:ext cx="50292" cy="932688"/>
          </a:xfrm>
          <a:prstGeom prst="rect">
            <a:avLst/>
          </a:prstGeom>
          <a:solidFill>
            <a:srgbClr val="087F8C"/>
          </a:solidFill>
          <a:ln w="8890">
            <a:solidFill>
              <a:srgbClr val="087F8C"/>
            </a:solidFill>
            <a:prstDash val="solid"/>
          </a:ln>
        </p:spPr>
      </p:sp>
      <p:sp>
        <p:nvSpPr>
          <p:cNvPr id="20" name="Text 18"/>
          <p:cNvSpPr/>
          <p:nvPr/>
        </p:nvSpPr>
        <p:spPr>
          <a:xfrm>
            <a:off x="6684264" y="2441448"/>
            <a:ext cx="2185416"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Neural v3</a:t>
            </a:r>
            <a:endParaRPr lang="en-US" sz="1700" dirty="0"/>
          </a:p>
        </p:txBody>
      </p:sp>
      <p:sp>
        <p:nvSpPr>
          <p:cNvPr id="21" name="Text 19"/>
          <p:cNvSpPr/>
          <p:nvPr/>
        </p:nvSpPr>
        <p:spPr>
          <a:xfrm>
            <a:off x="6684264" y="2779776"/>
            <a:ext cx="2185416" cy="3931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region + line roles</a:t>
            </a:r>
            <a:endParaRPr lang="en-US" sz="1300" dirty="0"/>
          </a:p>
        </p:txBody>
      </p:sp>
      <p:pic>
        <p:nvPicPr>
          <p:cNvPr id="22" name="Image 0" descr="C:\Users\conra\Desktop\latinrproj\submission\petrius_interview_20261007\presentation\assets\neural_40.jpg">    </p:cNvPr>
          <p:cNvPicPr>
            <a:picLocks noChangeAspect="1"/>
          </p:cNvPicPr>
          <p:nvPr/>
        </p:nvPicPr>
        <p:blipFill>
          <a:blip r:embed="rId1"/>
          <a:stretch>
            <a:fillRect/>
          </a:stretch>
        </p:blipFill>
        <p:spPr>
          <a:xfrm>
            <a:off x="9308592" y="2549242"/>
            <a:ext cx="2340864" cy="3387147"/>
          </a:xfrm>
          <a:prstGeom prst="rect">
            <a:avLst/>
          </a:prstGeom>
        </p:spPr>
      </p:pic>
      <p:sp>
        <p:nvSpPr>
          <p:cNvPr id="23" name="Text 20"/>
          <p:cNvSpPr/>
          <p:nvPr/>
        </p:nvSpPr>
        <p:spPr>
          <a:xfrm>
            <a:off x="621792" y="3776472"/>
            <a:ext cx="3749040" cy="457200"/>
          </a:xfrm>
          <a:prstGeom prst="rect">
            <a:avLst/>
          </a:prstGeom>
          <a:noFill/>
          <a:ln/>
        </p:spPr>
        <p:txBody>
          <a:bodyPr wrap="square" lIns="0" tIns="0" rIns="0" bIns="0" rtlCol="0" anchor="ctr"/>
          <a:lstStyle/>
          <a:p>
            <a:pPr indent="0" marL="0">
              <a:buNone/>
            </a:pPr>
            <a:r>
              <a:rPr lang="en-US" sz="2700" b="1" dirty="0">
                <a:solidFill>
                  <a:srgbClr val="162B38"/>
                </a:solidFill>
                <a:latin typeface="Aptos" pitchFamily="34" charset="0"/>
                <a:ea typeface="Aptos" pitchFamily="34" charset="-122"/>
                <a:cs typeface="Aptos" pitchFamily="34" charset="-120"/>
              </a:rPr>
              <a:t>120 pages</a:t>
            </a:r>
            <a:endParaRPr lang="en-US" sz="2700" dirty="0"/>
          </a:p>
        </p:txBody>
      </p:sp>
      <p:sp>
        <p:nvSpPr>
          <p:cNvPr id="24" name="Text 21"/>
          <p:cNvSpPr/>
          <p:nvPr/>
        </p:nvSpPr>
        <p:spPr>
          <a:xfrm>
            <a:off x="621792" y="4343400"/>
            <a:ext cx="3749040" cy="1005840"/>
          </a:xfrm>
          <a:prstGeom prst="rect">
            <a:avLst/>
          </a:prstGeom>
          <a:noFill/>
          <a:ln/>
        </p:spPr>
        <p:txBody>
          <a:bodyPr wrap="square" lIns="0" tIns="0" rIns="0" bIns="0" rtlCol="0" anchor="ctr"/>
          <a:lstStyle/>
          <a:p>
            <a:pPr indent="0" marL="0">
              <a:buNone/>
            </a:pPr>
            <a:r>
              <a:rPr lang="en-US" sz="1600" dirty="0">
                <a:solidFill>
                  <a:srgbClr val="566570"/>
                </a:solidFill>
                <a:latin typeface="Aptos" pitchFamily="34" charset="0"/>
                <a:ea typeface="Aptos" pitchFamily="34" charset="-122"/>
                <a:cs typeface="Aptos" pitchFamily="34" charset="-120"/>
              </a:rPr>
              <a:t>Region dataset</a:t>
            </a:r>
            <a:endParaRPr lang="en-US" sz="1600" dirty="0"/>
          </a:p>
          <a:p>
            <a:pPr indent="0" marL="0">
              <a:buNone/>
            </a:pPr>
            <a:r>
              <a:rPr lang="en-US" sz="1600" dirty="0">
                <a:solidFill>
                  <a:srgbClr val="566570"/>
                </a:solidFill>
                <a:latin typeface="Aptos" pitchFamily="34" charset="0"/>
                <a:ea typeface="Aptos" pitchFamily="34" charset="-122"/>
                <a:cs typeface="Aptos" pitchFamily="34" charset="-120"/>
              </a:rPr>
              <a:t>100 training + 20 evaluation</a:t>
            </a:r>
            <a:endParaRPr lang="en-US" sz="1600" dirty="0"/>
          </a:p>
        </p:txBody>
      </p:sp>
      <p:sp>
        <p:nvSpPr>
          <p:cNvPr id="25" name="Text 22"/>
          <p:cNvSpPr/>
          <p:nvPr/>
        </p:nvSpPr>
        <p:spPr>
          <a:xfrm>
            <a:off x="4663440" y="3776472"/>
            <a:ext cx="3977640" cy="457200"/>
          </a:xfrm>
          <a:prstGeom prst="rect">
            <a:avLst/>
          </a:prstGeom>
          <a:noFill/>
          <a:ln/>
        </p:spPr>
        <p:txBody>
          <a:bodyPr wrap="square" lIns="0" tIns="0" rIns="0" bIns="0" rtlCol="0" anchor="ctr"/>
          <a:lstStyle/>
          <a:p>
            <a:pPr indent="0" marL="0">
              <a:buNone/>
            </a:pPr>
            <a:r>
              <a:rPr lang="en-US" sz="2700" b="1" dirty="0">
                <a:solidFill>
                  <a:srgbClr val="162B38"/>
                </a:solidFill>
                <a:latin typeface="Aptos" pitchFamily="34" charset="0"/>
                <a:ea typeface="Aptos" pitchFamily="34" charset="-122"/>
                <a:cs typeface="Aptos" pitchFamily="34" charset="-120"/>
              </a:rPr>
              <a:t>120 pages</a:t>
            </a:r>
            <a:endParaRPr lang="en-US" sz="2700" dirty="0"/>
          </a:p>
        </p:txBody>
      </p:sp>
      <p:sp>
        <p:nvSpPr>
          <p:cNvPr id="26" name="Text 23"/>
          <p:cNvSpPr/>
          <p:nvPr/>
        </p:nvSpPr>
        <p:spPr>
          <a:xfrm>
            <a:off x="4663440" y="4343400"/>
            <a:ext cx="3977640" cy="1005840"/>
          </a:xfrm>
          <a:prstGeom prst="rect">
            <a:avLst/>
          </a:prstGeom>
          <a:noFill/>
          <a:ln/>
        </p:spPr>
        <p:txBody>
          <a:bodyPr wrap="square" lIns="0" tIns="0" rIns="0" bIns="0" rtlCol="0" anchor="ctr"/>
          <a:lstStyle/>
          <a:p>
            <a:pPr indent="0" marL="0">
              <a:buNone/>
            </a:pPr>
            <a:r>
              <a:rPr lang="en-US" sz="1600" dirty="0">
                <a:solidFill>
                  <a:srgbClr val="566570"/>
                </a:solidFill>
                <a:latin typeface="Aptos" pitchFamily="34" charset="0"/>
                <a:ea typeface="Aptos" pitchFamily="34" charset="-122"/>
                <a:cs typeface="Aptos" pitchFamily="34" charset="-120"/>
              </a:rPr>
              <a:t>Role dataset</a:t>
            </a:r>
            <a:endParaRPr lang="en-US" sz="1600" dirty="0"/>
          </a:p>
          <a:p>
            <a:pPr indent="0" marL="0">
              <a:buNone/>
            </a:pPr>
            <a:r>
              <a:rPr lang="en-US" sz="1600" dirty="0">
                <a:solidFill>
                  <a:srgbClr val="566570"/>
                </a:solidFill>
                <a:latin typeface="Aptos" pitchFamily="34" charset="0"/>
                <a:ea typeface="Aptos" pitchFamily="34" charset="-122"/>
                <a:cs typeface="Aptos" pitchFamily="34" charset="-120"/>
              </a:rPr>
              <a:t>100 training + 20 evaluation</a:t>
            </a:r>
            <a:endParaRPr lang="en-US" sz="1600" dirty="0"/>
          </a:p>
        </p:txBody>
      </p:sp>
      <p:sp>
        <p:nvSpPr>
          <p:cNvPr id="27" name="Text 24"/>
          <p:cNvSpPr/>
          <p:nvPr/>
        </p:nvSpPr>
        <p:spPr>
          <a:xfrm>
            <a:off x="621792" y="5687568"/>
            <a:ext cx="7955280" cy="530352"/>
          </a:xfrm>
          <a:prstGeom prst="rect">
            <a:avLst/>
          </a:prstGeom>
          <a:noFill/>
          <a:ln/>
        </p:spPr>
        <p:txBody>
          <a:bodyPr wrap="square" lIns="0" tIns="0" rIns="0" bIns="0" rtlCol="0" anchor="ctr"/>
          <a:lstStyle/>
          <a:p>
            <a:pPr indent="0" marL="0">
              <a:buNone/>
            </a:pPr>
            <a:r>
              <a:rPr lang="en-US" sz="2200" b="1" dirty="0">
                <a:solidFill>
                  <a:srgbClr val="087F8C"/>
                </a:solidFill>
                <a:latin typeface="Aptos" pitchFamily="34" charset="0"/>
                <a:ea typeface="Aptos" pitchFamily="34" charset="-122"/>
                <a:cs typeface="Aptos" pitchFamily="34" charset="-120"/>
              </a:rPr>
              <a:t>Line image + OCR characters + position + page context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 · 4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The trained systems have measurable results</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The two evaluations answer different questions: finding regions and assigning roles.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04</a:t>
            </a:r>
            <a:endParaRPr lang="en-US" sz="1000" dirty="0"/>
          </a:p>
        </p:txBody>
      </p:sp>
      <p:sp>
        <p:nvSpPr>
          <p:cNvPr id="8" name="Text 6"/>
          <p:cNvSpPr/>
          <p:nvPr/>
        </p:nvSpPr>
        <p:spPr>
          <a:xfrm>
            <a:off x="576072" y="2231136"/>
            <a:ext cx="5166360" cy="274320"/>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REGIONS · D-FINE</a:t>
            </a:r>
            <a:endParaRPr lang="en-US" sz="1300" dirty="0"/>
          </a:p>
        </p:txBody>
      </p:sp>
      <p:sp>
        <p:nvSpPr>
          <p:cNvPr id="9" name="Text 7"/>
          <p:cNvSpPr/>
          <p:nvPr/>
        </p:nvSpPr>
        <p:spPr>
          <a:xfrm>
            <a:off x="594360" y="2679192"/>
            <a:ext cx="2834640" cy="713232"/>
          </a:xfrm>
          <a:prstGeom prst="rect">
            <a:avLst/>
          </a:prstGeom>
          <a:noFill/>
          <a:ln/>
        </p:spPr>
        <p:txBody>
          <a:bodyPr wrap="square" lIns="0" tIns="0" rIns="0" bIns="0" rtlCol="0" anchor="ctr"/>
          <a:lstStyle/>
          <a:p>
            <a:pPr indent="0" marL="0">
              <a:buNone/>
            </a:pPr>
            <a:r>
              <a:rPr lang="en-US" sz="5200" b="1" dirty="0">
                <a:solidFill>
                  <a:srgbClr val="162B38"/>
                </a:solidFill>
                <a:latin typeface="Aptos" pitchFamily="34" charset="0"/>
                <a:ea typeface="Aptos" pitchFamily="34" charset="-122"/>
                <a:cs typeface="Aptos" pitchFamily="34" charset="-120"/>
              </a:rPr>
              <a:t>0.862</a:t>
            </a:r>
            <a:endParaRPr lang="en-US" sz="5200" dirty="0"/>
          </a:p>
        </p:txBody>
      </p:sp>
      <p:sp>
        <p:nvSpPr>
          <p:cNvPr id="10" name="Text 8"/>
          <p:cNvSpPr/>
          <p:nvPr/>
        </p:nvSpPr>
        <p:spPr>
          <a:xfrm>
            <a:off x="621792" y="3511296"/>
            <a:ext cx="5029200" cy="393192"/>
          </a:xfrm>
          <a:prstGeom prst="rect">
            <a:avLst/>
          </a:prstGeom>
          <a:noFill/>
          <a:ln/>
        </p:spPr>
        <p:txBody>
          <a:bodyPr wrap="square" lIns="0" tIns="0" rIns="0" bIns="0" rtlCol="0" anchor="ctr"/>
          <a:lstStyle/>
          <a:p>
            <a:pPr indent="0" marL="0">
              <a:buNone/>
            </a:pPr>
            <a:r>
              <a:rPr lang="en-US" sz="2000" dirty="0">
                <a:solidFill>
                  <a:srgbClr val="162B38"/>
                </a:solidFill>
                <a:latin typeface="Aptos" pitchFamily="34" charset="0"/>
                <a:ea typeface="Aptos" pitchFamily="34" charset="-122"/>
                <a:cs typeface="Aptos" pitchFamily="34" charset="-120"/>
              </a:rPr>
              <a:t>region F1 at IoU ≥ 0.50</a:t>
            </a:r>
            <a:endParaRPr lang="en-US" sz="2000" dirty="0"/>
          </a:p>
        </p:txBody>
      </p:sp>
      <p:sp>
        <p:nvSpPr>
          <p:cNvPr id="11" name="Text 9"/>
          <p:cNvSpPr/>
          <p:nvPr/>
        </p:nvSpPr>
        <p:spPr>
          <a:xfrm>
            <a:off x="621792" y="4151376"/>
            <a:ext cx="5047488" cy="868680"/>
          </a:xfrm>
          <a:prstGeom prst="rect">
            <a:avLst/>
          </a:prstGeom>
          <a:noFill/>
          <a:ln/>
        </p:spPr>
        <p:txBody>
          <a:bodyPr wrap="square" lIns="0" tIns="0" rIns="0" bIns="0" rtlCol="0" anchor="ctr"/>
          <a:lstStyle/>
          <a:p>
            <a:pPr indent="0" marL="0">
              <a:buNone/>
            </a:pPr>
            <a:r>
              <a:rPr lang="en-US" sz="1700" dirty="0">
                <a:solidFill>
                  <a:srgbClr val="566570"/>
                </a:solidFill>
                <a:latin typeface="Aptos" pitchFamily="34" charset="0"/>
                <a:ea typeface="Aptos" pitchFamily="34" charset="-122"/>
                <a:cs typeface="Aptos" pitchFamily="34" charset="-120"/>
              </a:rPr>
              <a:t>20 evaluation pages from 20 other books</a:t>
            </a:r>
            <a:endParaRPr lang="en-US" sz="1700" dirty="0"/>
          </a:p>
          <a:p>
            <a:pPr indent="0" marL="0">
              <a:buNone/>
            </a:pPr>
            <a:r>
              <a:rPr lang="en-US" sz="1700" dirty="0">
                <a:solidFill>
                  <a:srgbClr val="566570"/>
                </a:solidFill>
                <a:latin typeface="Aptos" pitchFamily="34" charset="0"/>
                <a:ea typeface="Aptos" pitchFamily="34" charset="-122"/>
                <a:cs typeface="Aptos" pitchFamily="34" charset="-120"/>
              </a:rPr>
              <a:t>206 matched · 32 extra · 34 missed regions</a:t>
            </a:r>
            <a:endParaRPr lang="en-US" sz="1700" dirty="0"/>
          </a:p>
        </p:txBody>
      </p:sp>
      <p:sp>
        <p:nvSpPr>
          <p:cNvPr id="12" name="Text 10"/>
          <p:cNvSpPr/>
          <p:nvPr/>
        </p:nvSpPr>
        <p:spPr>
          <a:xfrm>
            <a:off x="6355080" y="2231136"/>
            <a:ext cx="5138928" cy="274320"/>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ROLE LABELS · NEURAL v3</a:t>
            </a:r>
            <a:endParaRPr lang="en-US" sz="1300" dirty="0"/>
          </a:p>
        </p:txBody>
      </p:sp>
      <p:sp>
        <p:nvSpPr>
          <p:cNvPr id="13" name="Text 11"/>
          <p:cNvSpPr/>
          <p:nvPr/>
        </p:nvSpPr>
        <p:spPr>
          <a:xfrm>
            <a:off x="6364224" y="2816352"/>
            <a:ext cx="1499616" cy="24688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Text</a:t>
            </a:r>
            <a:endParaRPr lang="en-US" sz="1600" dirty="0"/>
          </a:p>
        </p:txBody>
      </p:sp>
      <p:sp>
        <p:nvSpPr>
          <p:cNvPr id="14" name="Shape 12"/>
          <p:cNvSpPr/>
          <p:nvPr/>
        </p:nvSpPr>
        <p:spPr>
          <a:xfrm>
            <a:off x="7891272" y="2825496"/>
            <a:ext cx="2660904" cy="246888"/>
          </a:xfrm>
          <a:prstGeom prst="rect">
            <a:avLst/>
          </a:prstGeom>
          <a:solidFill>
            <a:srgbClr val="E0E6E3"/>
          </a:solidFill>
          <a:ln w="8890">
            <a:solidFill>
              <a:srgbClr val="E0E6E3"/>
            </a:solidFill>
            <a:prstDash val="solid"/>
          </a:ln>
        </p:spPr>
      </p:sp>
      <p:sp>
        <p:nvSpPr>
          <p:cNvPr id="15" name="Shape 13"/>
          <p:cNvSpPr/>
          <p:nvPr/>
        </p:nvSpPr>
        <p:spPr>
          <a:xfrm>
            <a:off x="7891272" y="2825496"/>
            <a:ext cx="2644599" cy="246888"/>
          </a:xfrm>
          <a:prstGeom prst="rect">
            <a:avLst/>
          </a:prstGeom>
          <a:solidFill>
            <a:srgbClr val="087F8C"/>
          </a:solidFill>
          <a:ln w="8890">
            <a:solidFill>
              <a:srgbClr val="087F8C"/>
            </a:solidFill>
            <a:prstDash val="solid"/>
          </a:ln>
        </p:spPr>
      </p:sp>
      <p:sp>
        <p:nvSpPr>
          <p:cNvPr id="16" name="Text 14"/>
          <p:cNvSpPr/>
          <p:nvPr/>
        </p:nvSpPr>
        <p:spPr>
          <a:xfrm>
            <a:off x="10753344" y="2816352"/>
            <a:ext cx="914400" cy="274320"/>
          </a:xfrm>
          <a:prstGeom prst="rect">
            <a:avLst/>
          </a:prstGeom>
          <a:noFill/>
          <a:ln/>
        </p:spPr>
        <p:txBody>
          <a:bodyPr wrap="square" lIns="0" tIns="0" rIns="0" bIns="0" rtlCol="0" anchor="ctr"/>
          <a:lstStyle/>
          <a:p>
            <a:pPr indent="0" marL="0">
              <a:buNone/>
            </a:pPr>
            <a:r>
              <a:rPr lang="en-US" sz="1500" b="1" dirty="0">
                <a:solidFill>
                  <a:srgbClr val="162B38"/>
                </a:solidFill>
                <a:latin typeface="Aptos" pitchFamily="34" charset="0"/>
                <a:ea typeface="Aptos" pitchFamily="34" charset="-122"/>
                <a:cs typeface="Aptos" pitchFamily="34" charset="-120"/>
              </a:rPr>
              <a:t>99.4%</a:t>
            </a:r>
            <a:endParaRPr lang="en-US" sz="1500" dirty="0"/>
          </a:p>
        </p:txBody>
      </p:sp>
      <p:sp>
        <p:nvSpPr>
          <p:cNvPr id="17" name="Text 15"/>
          <p:cNvSpPr/>
          <p:nvPr/>
        </p:nvSpPr>
        <p:spPr>
          <a:xfrm>
            <a:off x="6364224" y="3355848"/>
            <a:ext cx="1499616" cy="24688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Summarium</a:t>
            </a:r>
            <a:endParaRPr lang="en-US" sz="1600" dirty="0"/>
          </a:p>
        </p:txBody>
      </p:sp>
      <p:sp>
        <p:nvSpPr>
          <p:cNvPr id="18" name="Shape 16"/>
          <p:cNvSpPr/>
          <p:nvPr/>
        </p:nvSpPr>
        <p:spPr>
          <a:xfrm>
            <a:off x="7891272" y="3364992"/>
            <a:ext cx="2660904" cy="246888"/>
          </a:xfrm>
          <a:prstGeom prst="rect">
            <a:avLst/>
          </a:prstGeom>
          <a:solidFill>
            <a:srgbClr val="E0E6E3"/>
          </a:solidFill>
          <a:ln w="8890">
            <a:solidFill>
              <a:srgbClr val="E0E6E3"/>
            </a:solidFill>
            <a:prstDash val="solid"/>
          </a:ln>
        </p:spPr>
      </p:sp>
      <p:sp>
        <p:nvSpPr>
          <p:cNvPr id="19" name="Shape 17"/>
          <p:cNvSpPr/>
          <p:nvPr/>
        </p:nvSpPr>
        <p:spPr>
          <a:xfrm>
            <a:off x="7891272" y="3364992"/>
            <a:ext cx="2633282" cy="246888"/>
          </a:xfrm>
          <a:prstGeom prst="rect">
            <a:avLst/>
          </a:prstGeom>
          <a:solidFill>
            <a:srgbClr val="239B76"/>
          </a:solidFill>
          <a:ln w="8890">
            <a:solidFill>
              <a:srgbClr val="239B76"/>
            </a:solidFill>
            <a:prstDash val="solid"/>
          </a:ln>
        </p:spPr>
      </p:sp>
      <p:sp>
        <p:nvSpPr>
          <p:cNvPr id="20" name="Text 18"/>
          <p:cNvSpPr/>
          <p:nvPr/>
        </p:nvSpPr>
        <p:spPr>
          <a:xfrm>
            <a:off x="10753344" y="3355848"/>
            <a:ext cx="914400" cy="274320"/>
          </a:xfrm>
          <a:prstGeom prst="rect">
            <a:avLst/>
          </a:prstGeom>
          <a:noFill/>
          <a:ln/>
        </p:spPr>
        <p:txBody>
          <a:bodyPr wrap="square" lIns="0" tIns="0" rIns="0" bIns="0" rtlCol="0" anchor="ctr"/>
          <a:lstStyle/>
          <a:p>
            <a:pPr indent="0" marL="0">
              <a:buNone/>
            </a:pPr>
            <a:r>
              <a:rPr lang="en-US" sz="1500" b="1" dirty="0">
                <a:solidFill>
                  <a:srgbClr val="162B38"/>
                </a:solidFill>
                <a:latin typeface="Aptos" pitchFamily="34" charset="0"/>
                <a:ea typeface="Aptos" pitchFamily="34" charset="-122"/>
                <a:cs typeface="Aptos" pitchFamily="34" charset="-120"/>
              </a:rPr>
              <a:t>99.0%</a:t>
            </a:r>
            <a:endParaRPr lang="en-US" sz="1500" dirty="0"/>
          </a:p>
        </p:txBody>
      </p:sp>
      <p:sp>
        <p:nvSpPr>
          <p:cNvPr id="21" name="Text 19"/>
          <p:cNvSpPr/>
          <p:nvPr/>
        </p:nvSpPr>
        <p:spPr>
          <a:xfrm>
            <a:off x="6364224" y="3895344"/>
            <a:ext cx="1499616" cy="24688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Inscriptio</a:t>
            </a:r>
            <a:endParaRPr lang="en-US" sz="1600" dirty="0"/>
          </a:p>
        </p:txBody>
      </p:sp>
      <p:sp>
        <p:nvSpPr>
          <p:cNvPr id="22" name="Shape 20"/>
          <p:cNvSpPr/>
          <p:nvPr/>
        </p:nvSpPr>
        <p:spPr>
          <a:xfrm>
            <a:off x="7891272" y="3904488"/>
            <a:ext cx="2660904" cy="246888"/>
          </a:xfrm>
          <a:prstGeom prst="rect">
            <a:avLst/>
          </a:prstGeom>
          <a:solidFill>
            <a:srgbClr val="E0E6E3"/>
          </a:solidFill>
          <a:ln w="8890">
            <a:solidFill>
              <a:srgbClr val="E0E6E3"/>
            </a:solidFill>
            <a:prstDash val="solid"/>
          </a:ln>
        </p:spPr>
      </p:sp>
      <p:sp>
        <p:nvSpPr>
          <p:cNvPr id="23" name="Shape 21"/>
          <p:cNvSpPr/>
          <p:nvPr/>
        </p:nvSpPr>
        <p:spPr>
          <a:xfrm>
            <a:off x="7891272" y="3904488"/>
            <a:ext cx="2385638" cy="246888"/>
          </a:xfrm>
          <a:prstGeom prst="rect">
            <a:avLst/>
          </a:prstGeom>
          <a:solidFill>
            <a:srgbClr val="935BA5"/>
          </a:solidFill>
          <a:ln w="8890">
            <a:solidFill>
              <a:srgbClr val="935BA5"/>
            </a:solidFill>
            <a:prstDash val="solid"/>
          </a:ln>
        </p:spPr>
      </p:sp>
      <p:sp>
        <p:nvSpPr>
          <p:cNvPr id="24" name="Text 22"/>
          <p:cNvSpPr/>
          <p:nvPr/>
        </p:nvSpPr>
        <p:spPr>
          <a:xfrm>
            <a:off x="10753344" y="3895344"/>
            <a:ext cx="914400" cy="274320"/>
          </a:xfrm>
          <a:prstGeom prst="rect">
            <a:avLst/>
          </a:prstGeom>
          <a:noFill/>
          <a:ln/>
        </p:spPr>
        <p:txBody>
          <a:bodyPr wrap="square" lIns="0" tIns="0" rIns="0" bIns="0" rtlCol="0" anchor="ctr"/>
          <a:lstStyle/>
          <a:p>
            <a:pPr indent="0" marL="0">
              <a:buNone/>
            </a:pPr>
            <a:r>
              <a:rPr lang="en-US" sz="1500" b="1" dirty="0">
                <a:solidFill>
                  <a:srgbClr val="162B38"/>
                </a:solidFill>
                <a:latin typeface="Aptos" pitchFamily="34" charset="0"/>
                <a:ea typeface="Aptos" pitchFamily="34" charset="-122"/>
                <a:cs typeface="Aptos" pitchFamily="34" charset="-120"/>
              </a:rPr>
              <a:t>89.7%</a:t>
            </a:r>
            <a:endParaRPr lang="en-US" sz="1500" dirty="0"/>
          </a:p>
        </p:txBody>
      </p:sp>
      <p:sp>
        <p:nvSpPr>
          <p:cNvPr id="25" name="Text 23"/>
          <p:cNvSpPr/>
          <p:nvPr/>
        </p:nvSpPr>
        <p:spPr>
          <a:xfrm>
            <a:off x="6364224" y="4434840"/>
            <a:ext cx="1499616" cy="24688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Other</a:t>
            </a:r>
            <a:endParaRPr lang="en-US" sz="1600" dirty="0"/>
          </a:p>
        </p:txBody>
      </p:sp>
      <p:sp>
        <p:nvSpPr>
          <p:cNvPr id="26" name="Shape 24"/>
          <p:cNvSpPr/>
          <p:nvPr/>
        </p:nvSpPr>
        <p:spPr>
          <a:xfrm>
            <a:off x="7891272" y="4443984"/>
            <a:ext cx="2660904" cy="246888"/>
          </a:xfrm>
          <a:prstGeom prst="rect">
            <a:avLst/>
          </a:prstGeom>
          <a:solidFill>
            <a:srgbClr val="E0E6E3"/>
          </a:solidFill>
          <a:ln w="8890">
            <a:solidFill>
              <a:srgbClr val="E0E6E3"/>
            </a:solidFill>
            <a:prstDash val="solid"/>
          </a:ln>
        </p:spPr>
      </p:sp>
      <p:sp>
        <p:nvSpPr>
          <p:cNvPr id="27" name="Shape 25"/>
          <p:cNvSpPr/>
          <p:nvPr/>
        </p:nvSpPr>
        <p:spPr>
          <a:xfrm>
            <a:off x="7891272" y="4443984"/>
            <a:ext cx="2394814" cy="246888"/>
          </a:xfrm>
          <a:prstGeom prst="rect">
            <a:avLst/>
          </a:prstGeom>
          <a:solidFill>
            <a:srgbClr val="CB9133"/>
          </a:solidFill>
          <a:ln w="8890">
            <a:solidFill>
              <a:srgbClr val="CB9133"/>
            </a:solidFill>
            <a:prstDash val="solid"/>
          </a:ln>
        </p:spPr>
      </p:sp>
      <p:sp>
        <p:nvSpPr>
          <p:cNvPr id="28" name="Text 26"/>
          <p:cNvSpPr/>
          <p:nvPr/>
        </p:nvSpPr>
        <p:spPr>
          <a:xfrm>
            <a:off x="10753344" y="4434840"/>
            <a:ext cx="914400" cy="274320"/>
          </a:xfrm>
          <a:prstGeom prst="rect">
            <a:avLst/>
          </a:prstGeom>
          <a:noFill/>
          <a:ln/>
        </p:spPr>
        <p:txBody>
          <a:bodyPr wrap="square" lIns="0" tIns="0" rIns="0" bIns="0" rtlCol="0" anchor="ctr"/>
          <a:lstStyle/>
          <a:p>
            <a:pPr indent="0" marL="0">
              <a:buNone/>
            </a:pPr>
            <a:r>
              <a:rPr lang="en-US" sz="1500" b="1" dirty="0">
                <a:solidFill>
                  <a:srgbClr val="162B38"/>
                </a:solidFill>
                <a:latin typeface="Aptos" pitchFamily="34" charset="0"/>
                <a:ea typeface="Aptos" pitchFamily="34" charset="-122"/>
                <a:cs typeface="Aptos" pitchFamily="34" charset="-120"/>
              </a:rPr>
              <a:t>90.0%</a:t>
            </a:r>
            <a:endParaRPr lang="en-US" sz="1500" dirty="0"/>
          </a:p>
        </p:txBody>
      </p:sp>
      <p:sp>
        <p:nvSpPr>
          <p:cNvPr id="29" name="Text 27"/>
          <p:cNvSpPr/>
          <p:nvPr/>
        </p:nvSpPr>
        <p:spPr>
          <a:xfrm>
            <a:off x="6364224" y="5212080"/>
            <a:ext cx="5257800" cy="786384"/>
          </a:xfrm>
          <a:prstGeom prst="rect">
            <a:avLst/>
          </a:prstGeom>
          <a:noFill/>
          <a:ln/>
        </p:spPr>
        <p:txBody>
          <a:bodyPr wrap="square" lIns="0" tIns="0" rIns="0" bIns="0" rtlCol="0" anchor="ctr"/>
          <a:lstStyle/>
          <a:p>
            <a:pPr indent="0" marL="0">
              <a:buNone/>
            </a:pPr>
            <a:r>
              <a:rPr lang="en-US" sz="1900" b="1" dirty="0">
                <a:solidFill>
                  <a:srgbClr val="087F8C"/>
                </a:solidFill>
                <a:latin typeface="Aptos" pitchFamily="34" charset="0"/>
                <a:ea typeface="Aptos" pitchFamily="34" charset="-122"/>
                <a:cs typeface="Aptos" pitchFamily="34" charset="-120"/>
              </a:rPr>
              <a:t>0.945 macro-F1 · 20 evaluation pages</a:t>
            </a:r>
            <a:endParaRPr lang="en-US" sz="1900" dirty="0"/>
          </a:p>
          <a:p>
            <a:pPr indent="0" marL="0">
              <a:buNone/>
            </a:pPr>
            <a:r>
              <a:rPr lang="en-US" sz="1900" b="1" dirty="0">
                <a:solidFill>
                  <a:srgbClr val="087F8C"/>
                </a:solidFill>
                <a:latin typeface="Aptos" pitchFamily="34" charset="0"/>
                <a:ea typeface="Aptos" pitchFamily="34" charset="-122"/>
                <a:cs typeface="Aptos" pitchFamily="34" charset="-120"/>
              </a:rPr>
              <a:t>14 label errors among 5,065 supplied lines</a:t>
            </a:r>
            <a:endParaRPr lang="en-US" sz="1900" dirty="0"/>
          </a:p>
        </p:txBody>
      </p:sp>
      <p:sp>
        <p:nvSpPr>
          <p:cNvPr id="30" name="Text 28"/>
          <p:cNvSpPr/>
          <p:nvPr/>
        </p:nvSpPr>
        <p:spPr>
          <a:xfrm>
            <a:off x="612648" y="6108192"/>
            <a:ext cx="10972800" cy="256032"/>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Training priorities: small source labels, chapter apparatus and precise region boundaries.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B38"/>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8BD4D2"/>
                </a:solidFill>
                <a:latin typeface="Aptos" pitchFamily="34" charset="0"/>
                <a:ea typeface="Aptos" pitchFamily="34" charset="-122"/>
                <a:cs typeface="Aptos" pitchFamily="34" charset="-120"/>
              </a:rPr>
              <a:t>TASK I · 5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FFFFFF"/>
                </a:solidFill>
                <a:latin typeface="Aptos" pitchFamily="34" charset="0"/>
                <a:ea typeface="Aptos" pitchFamily="34" charset="-122"/>
                <a:cs typeface="Aptos" pitchFamily="34" charset="-120"/>
              </a:rPr>
              <a:t>Six days: a complete experimental environment</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D3E1E4"/>
                </a:solidFill>
                <a:latin typeface="Aptos" pitchFamily="34" charset="0"/>
                <a:ea typeface="Aptos" pitchFamily="34" charset="-122"/>
                <a:cs typeface="Aptos" pitchFamily="34" charset="-120"/>
              </a:rPr>
              <a:t>LLM agents made this breadth of implementation and testing possible.</a:t>
            </a:r>
            <a:endParaRPr lang="en-US" sz="1500" dirty="0"/>
          </a:p>
        </p:txBody>
      </p:sp>
      <p:sp>
        <p:nvSpPr>
          <p:cNvPr id="5" name="Shape 3"/>
          <p:cNvSpPr/>
          <p:nvPr/>
        </p:nvSpPr>
        <p:spPr>
          <a:xfrm>
            <a:off x="502920" y="6473952"/>
            <a:ext cx="11183112" cy="0"/>
          </a:xfrm>
          <a:prstGeom prst="line">
            <a:avLst/>
          </a:prstGeom>
          <a:noFill/>
          <a:ln w="10160">
            <a:solidFill>
              <a:srgbClr val="34515E"/>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B5C7CF"/>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B5C7CF"/>
                </a:solidFill>
                <a:latin typeface="Aptos" pitchFamily="34" charset="0"/>
                <a:ea typeface="Aptos" pitchFamily="34" charset="-122"/>
                <a:cs typeface="Aptos" pitchFamily="34" charset="-120"/>
              </a:rPr>
              <a:t>05</a:t>
            </a:r>
            <a:endParaRPr lang="en-US" sz="1000" dirty="0"/>
          </a:p>
        </p:txBody>
      </p:sp>
      <p:sp>
        <p:nvSpPr>
          <p:cNvPr id="8" name="Text 6"/>
          <p:cNvSpPr/>
          <p:nvPr/>
        </p:nvSpPr>
        <p:spPr>
          <a:xfrm>
            <a:off x="621792" y="2414016"/>
            <a:ext cx="2578608" cy="694944"/>
          </a:xfrm>
          <a:prstGeom prst="rect">
            <a:avLst/>
          </a:prstGeom>
          <a:noFill/>
          <a:ln/>
        </p:spPr>
        <p:txBody>
          <a:bodyPr wrap="square" lIns="0" tIns="0" rIns="0" bIns="0" rtlCol="0" anchor="ctr"/>
          <a:lstStyle/>
          <a:p>
            <a:pPr indent="0" marL="0">
              <a:buNone/>
            </a:pPr>
            <a:r>
              <a:rPr lang="en-US" sz="4500" b="1" dirty="0">
                <a:solidFill>
                  <a:srgbClr val="8BD4D2"/>
                </a:solidFill>
                <a:latin typeface="Aptos" pitchFamily="34" charset="0"/>
                <a:ea typeface="Aptos" pitchFamily="34" charset="-122"/>
                <a:cs typeface="Aptos" pitchFamily="34" charset="-120"/>
              </a:rPr>
              <a:t>100</a:t>
            </a:r>
            <a:endParaRPr lang="en-US" sz="4500" dirty="0"/>
          </a:p>
        </p:txBody>
      </p:sp>
      <p:sp>
        <p:nvSpPr>
          <p:cNvPr id="9" name="Text 7"/>
          <p:cNvSpPr/>
          <p:nvPr/>
        </p:nvSpPr>
        <p:spPr>
          <a:xfrm>
            <a:off x="649224" y="3182112"/>
            <a:ext cx="2505456" cy="484632"/>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volumes inventoried</a:t>
            </a:r>
            <a:endParaRPr lang="en-US" sz="1600" dirty="0"/>
          </a:p>
        </p:txBody>
      </p:sp>
      <p:sp>
        <p:nvSpPr>
          <p:cNvPr id="10" name="Text 8"/>
          <p:cNvSpPr/>
          <p:nvPr/>
        </p:nvSpPr>
        <p:spPr>
          <a:xfrm>
            <a:off x="3493008" y="2414016"/>
            <a:ext cx="2578608" cy="694944"/>
          </a:xfrm>
          <a:prstGeom prst="rect">
            <a:avLst/>
          </a:prstGeom>
          <a:noFill/>
          <a:ln/>
        </p:spPr>
        <p:txBody>
          <a:bodyPr wrap="square" lIns="0" tIns="0" rIns="0" bIns="0" rtlCol="0" anchor="ctr"/>
          <a:lstStyle/>
          <a:p>
            <a:pPr indent="0" marL="0">
              <a:buNone/>
            </a:pPr>
            <a:r>
              <a:rPr lang="en-US" sz="4500" b="1" dirty="0">
                <a:solidFill>
                  <a:srgbClr val="8BD4D2"/>
                </a:solidFill>
                <a:latin typeface="Aptos" pitchFamily="34" charset="0"/>
                <a:ea typeface="Aptos" pitchFamily="34" charset="-122"/>
                <a:cs typeface="Aptos" pitchFamily="34" charset="-120"/>
              </a:rPr>
              <a:t>26k+</a:t>
            </a:r>
            <a:endParaRPr lang="en-US" sz="4500" dirty="0"/>
          </a:p>
        </p:txBody>
      </p:sp>
      <p:sp>
        <p:nvSpPr>
          <p:cNvPr id="11" name="Text 9"/>
          <p:cNvSpPr/>
          <p:nvPr/>
        </p:nvSpPr>
        <p:spPr>
          <a:xfrm>
            <a:off x="3520440" y="3182112"/>
            <a:ext cx="2505456" cy="484632"/>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source lines</a:t>
            </a:r>
            <a:endParaRPr lang="en-US" sz="1600" dirty="0"/>
          </a:p>
        </p:txBody>
      </p:sp>
      <p:sp>
        <p:nvSpPr>
          <p:cNvPr id="12" name="Text 10"/>
          <p:cNvSpPr/>
          <p:nvPr/>
        </p:nvSpPr>
        <p:spPr>
          <a:xfrm>
            <a:off x="6364224" y="2414016"/>
            <a:ext cx="2578608" cy="694944"/>
          </a:xfrm>
          <a:prstGeom prst="rect">
            <a:avLst/>
          </a:prstGeom>
          <a:noFill/>
          <a:ln/>
        </p:spPr>
        <p:txBody>
          <a:bodyPr wrap="square" lIns="0" tIns="0" rIns="0" bIns="0" rtlCol="0" anchor="ctr"/>
          <a:lstStyle/>
          <a:p>
            <a:pPr indent="0" marL="0">
              <a:buNone/>
            </a:pPr>
            <a:r>
              <a:rPr lang="en-US" sz="4500" b="1" dirty="0">
                <a:solidFill>
                  <a:srgbClr val="8BD4D2"/>
                </a:solidFill>
                <a:latin typeface="Aptos" pitchFamily="34" charset="0"/>
                <a:ea typeface="Aptos" pitchFamily="34" charset="-122"/>
                <a:cs typeface="Aptos" pitchFamily="34" charset="-120"/>
              </a:rPr>
              <a:t>200+</a:t>
            </a:r>
            <a:endParaRPr lang="en-US" sz="4500" dirty="0"/>
          </a:p>
        </p:txBody>
      </p:sp>
      <p:sp>
        <p:nvSpPr>
          <p:cNvPr id="13" name="Text 11"/>
          <p:cNvSpPr/>
          <p:nvPr/>
        </p:nvSpPr>
        <p:spPr>
          <a:xfrm>
            <a:off x="6391656" y="3182112"/>
            <a:ext cx="2505456" cy="484632"/>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source files</a:t>
            </a:r>
            <a:endParaRPr lang="en-US" sz="1600" dirty="0"/>
          </a:p>
        </p:txBody>
      </p:sp>
      <p:sp>
        <p:nvSpPr>
          <p:cNvPr id="14" name="Text 12"/>
          <p:cNvSpPr/>
          <p:nvPr/>
        </p:nvSpPr>
        <p:spPr>
          <a:xfrm>
            <a:off x="9235440" y="2414016"/>
            <a:ext cx="2578608" cy="694944"/>
          </a:xfrm>
          <a:prstGeom prst="rect">
            <a:avLst/>
          </a:prstGeom>
          <a:noFill/>
          <a:ln/>
        </p:spPr>
        <p:txBody>
          <a:bodyPr wrap="square" lIns="0" tIns="0" rIns="0" bIns="0" rtlCol="0" anchor="ctr"/>
          <a:lstStyle/>
          <a:p>
            <a:pPr indent="0" marL="0">
              <a:buNone/>
            </a:pPr>
            <a:r>
              <a:rPr lang="en-US" sz="4500" b="1" dirty="0">
                <a:solidFill>
                  <a:srgbClr val="8BD4D2"/>
                </a:solidFill>
                <a:latin typeface="Aptos" pitchFamily="34" charset="0"/>
                <a:ea typeface="Aptos" pitchFamily="34" charset="-122"/>
                <a:cs typeface="Aptos" pitchFamily="34" charset="-120"/>
              </a:rPr>
              <a:t>3</a:t>
            </a:r>
            <a:endParaRPr lang="en-US" sz="4500" dirty="0"/>
          </a:p>
        </p:txBody>
      </p:sp>
      <p:sp>
        <p:nvSpPr>
          <p:cNvPr id="15" name="Text 13"/>
          <p:cNvSpPr/>
          <p:nvPr/>
        </p:nvSpPr>
        <p:spPr>
          <a:xfrm>
            <a:off x="9262872" y="3182112"/>
            <a:ext cx="2505456" cy="484632"/>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neural versions</a:t>
            </a:r>
            <a:endParaRPr lang="en-US" sz="1600" dirty="0"/>
          </a:p>
        </p:txBody>
      </p:sp>
      <p:sp>
        <p:nvSpPr>
          <p:cNvPr id="16" name="Shape 14"/>
          <p:cNvSpPr/>
          <p:nvPr/>
        </p:nvSpPr>
        <p:spPr>
          <a:xfrm>
            <a:off x="649224" y="3913632"/>
            <a:ext cx="10799064" cy="0"/>
          </a:xfrm>
          <a:prstGeom prst="line">
            <a:avLst/>
          </a:prstGeom>
          <a:noFill/>
          <a:ln w="12700">
            <a:solidFill>
              <a:srgbClr val="45606C"/>
            </a:solidFill>
            <a:prstDash val="solid"/>
          </a:ln>
        </p:spPr>
      </p:sp>
      <p:sp>
        <p:nvSpPr>
          <p:cNvPr id="17" name="Text 15"/>
          <p:cNvSpPr/>
          <p:nvPr/>
        </p:nvSpPr>
        <p:spPr>
          <a:xfrm>
            <a:off x="649224" y="4297680"/>
            <a:ext cx="10844784" cy="585216"/>
          </a:xfrm>
          <a:prstGeom prst="rect">
            <a:avLst/>
          </a:prstGeom>
          <a:noFill/>
          <a:ln/>
        </p:spPr>
        <p:txBody>
          <a:bodyPr wrap="square" lIns="0" tIns="0" rIns="0" bIns="0" rtlCol="0" anchor="ctr"/>
          <a:lstStyle/>
          <a:p>
            <a:pPr indent="0" marL="0">
              <a:buNone/>
            </a:pPr>
            <a:r>
              <a:rPr lang="en-US" sz="2600" b="1" dirty="0">
                <a:solidFill>
                  <a:srgbClr val="FFFFFF"/>
                </a:solidFill>
                <a:latin typeface="Aptos" pitchFamily="34" charset="0"/>
                <a:ea typeface="Aptos" pitchFamily="34" charset="-122"/>
                <a:cs typeface="Aptos" pitchFamily="34" charset="-120"/>
              </a:rPr>
              <a:t>Acquire → annotate → train → evaluate → inspect → revise</a:t>
            </a:r>
            <a:endParaRPr lang="en-US" sz="2600" dirty="0"/>
          </a:p>
        </p:txBody>
      </p:sp>
      <p:sp>
        <p:nvSpPr>
          <p:cNvPr id="18" name="Text 16"/>
          <p:cNvSpPr/>
          <p:nvPr/>
        </p:nvSpPr>
        <p:spPr>
          <a:xfrm>
            <a:off x="667512" y="5074920"/>
            <a:ext cx="10735056" cy="941832"/>
          </a:xfrm>
          <a:prstGeom prst="rect">
            <a:avLst/>
          </a:prstGeom>
          <a:noFill/>
          <a:ln/>
        </p:spPr>
        <p:txBody>
          <a:bodyPr wrap="square" lIns="0" tIns="0" rIns="0" bIns="0" rtlCol="0" anchor="ctr"/>
          <a:lstStyle/>
          <a:p>
            <a:pPr indent="0" marL="0">
              <a:buNone/>
            </a:pPr>
            <a:r>
              <a:rPr lang="en-US" sz="2000" dirty="0">
                <a:solidFill>
                  <a:srgbClr val="D3E1E4"/>
                </a:solidFill>
                <a:latin typeface="Aptos" pitchFamily="34" charset="0"/>
                <a:ea typeface="Aptos" pitchFamily="34" charset="-122"/>
                <a:cs typeface="Aptos" pitchFamily="34" charset="-120"/>
              </a:rPr>
              <a:t>Claude + Codex: implementation, debugging and experiments</a:t>
            </a:r>
            <a:endParaRPr lang="en-US" sz="2000" dirty="0"/>
          </a:p>
          <a:p>
            <a:pPr indent="0" marL="0">
              <a:buNone/>
            </a:pPr>
            <a:r>
              <a:rPr lang="en-US" sz="2000" dirty="0">
                <a:solidFill>
                  <a:srgbClr val="D3E1E4"/>
                </a:solidFill>
                <a:latin typeface="Aptos" pitchFamily="34" charset="0"/>
                <a:ea typeface="Aptos" pitchFamily="34" charset="-122"/>
                <a:cs typeface="Aptos" pitchFamily="34" charset="-120"/>
              </a:rPr>
              <a:t>ChatGPT: training annotations</a:t>
            </a:r>
            <a:endParaRPr lang="en-US" sz="2000" dirty="0"/>
          </a:p>
          <a:p>
            <a:pPr indent="0" marL="0">
              <a:buNone/>
            </a:pPr>
            <a:r>
              <a:rPr lang="en-US" sz="2000" dirty="0">
                <a:solidFill>
                  <a:srgbClr val="D3E1E4"/>
                </a:solidFill>
                <a:latin typeface="Aptos" pitchFamily="34" charset="0"/>
                <a:ea typeface="Aptos" pitchFamily="34" charset="-122"/>
                <a:cs typeface="Aptos" pitchFamily="34" charset="-120"/>
              </a:rPr>
              <a:t>My work: research direction, decisions and personal checking</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III · 1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The same divisio; a different attribution</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D. 1.1.1pr · the supplied witnesses, Venice 1490 and Lyon 1627</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06</a:t>
            </a:r>
            <a:endParaRPr lang="en-US" sz="1000" dirty="0"/>
          </a:p>
        </p:txBody>
      </p:sp>
      <p:pic>
        <p:nvPicPr>
          <p:cNvPr id="8" name="Image 0" descr="C:\Users\conra\Desktop\latinrproj\submission\petrius_interview_20261007\presentation\assets\divisio_1490.png">    </p:cNvPr>
          <p:cNvPicPr>
            <a:picLocks noChangeAspect="1"/>
          </p:cNvPicPr>
          <p:nvPr/>
        </p:nvPicPr>
        <p:blipFill>
          <a:blip r:embed="rId1"/>
          <a:stretch>
            <a:fillRect/>
          </a:stretch>
        </p:blipFill>
        <p:spPr>
          <a:xfrm>
            <a:off x="621792" y="2567950"/>
            <a:ext cx="5276088" cy="1630659"/>
          </a:xfrm>
          <a:prstGeom prst="rect">
            <a:avLst/>
          </a:prstGeom>
        </p:spPr>
      </p:pic>
      <p:pic>
        <p:nvPicPr>
          <p:cNvPr id="9" name="Image 1" descr="C:\Users\conra\Desktop\latinrproj\submission\petrius_interview_20261007\presentation\assets\divisio_1627.png">    </p:cNvPr>
          <p:cNvPicPr>
            <a:picLocks noChangeAspect="1"/>
          </p:cNvPicPr>
          <p:nvPr/>
        </p:nvPicPr>
        <p:blipFill>
          <a:blip r:embed="rId2"/>
          <a:stretch>
            <a:fillRect/>
          </a:stretch>
        </p:blipFill>
        <p:spPr>
          <a:xfrm>
            <a:off x="6272784" y="2512541"/>
            <a:ext cx="5276088" cy="1741478"/>
          </a:xfrm>
          <a:prstGeom prst="rect">
            <a:avLst/>
          </a:prstGeom>
        </p:spPr>
      </p:pic>
      <p:sp>
        <p:nvSpPr>
          <p:cNvPr id="10" name="Shape 6"/>
          <p:cNvSpPr/>
          <p:nvPr/>
        </p:nvSpPr>
        <p:spPr>
          <a:xfrm>
            <a:off x="640080" y="1993392"/>
            <a:ext cx="960120" cy="292608"/>
          </a:xfrm>
          <a:prstGeom prst="rect">
            <a:avLst/>
          </a:prstGeom>
          <a:solidFill>
            <a:srgbClr val="087F8C"/>
          </a:solidFill>
          <a:ln w="8890">
            <a:solidFill>
              <a:srgbClr val="087F8C"/>
            </a:solidFill>
            <a:prstDash val="solid"/>
          </a:ln>
        </p:spPr>
      </p:sp>
      <p:sp>
        <p:nvSpPr>
          <p:cNvPr id="11" name="Text 7"/>
          <p:cNvSpPr/>
          <p:nvPr/>
        </p:nvSpPr>
        <p:spPr>
          <a:xfrm>
            <a:off x="713232" y="2020824"/>
            <a:ext cx="813816"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1490</a:t>
            </a:r>
            <a:endParaRPr lang="en-US" sz="1000" dirty="0"/>
          </a:p>
        </p:txBody>
      </p:sp>
      <p:sp>
        <p:nvSpPr>
          <p:cNvPr id="12" name="Shape 8"/>
          <p:cNvSpPr/>
          <p:nvPr/>
        </p:nvSpPr>
        <p:spPr>
          <a:xfrm>
            <a:off x="6291072" y="1993392"/>
            <a:ext cx="960120" cy="292608"/>
          </a:xfrm>
          <a:prstGeom prst="rect">
            <a:avLst/>
          </a:prstGeom>
          <a:solidFill>
            <a:srgbClr val="087F8C"/>
          </a:solidFill>
          <a:ln w="8890">
            <a:solidFill>
              <a:srgbClr val="087F8C"/>
            </a:solidFill>
            <a:prstDash val="solid"/>
          </a:ln>
        </p:spPr>
      </p:sp>
      <p:sp>
        <p:nvSpPr>
          <p:cNvPr id="13" name="Text 9"/>
          <p:cNvSpPr/>
          <p:nvPr/>
        </p:nvSpPr>
        <p:spPr>
          <a:xfrm>
            <a:off x="6364224" y="2020824"/>
            <a:ext cx="813816"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1627</a:t>
            </a:r>
            <a:endParaRPr lang="en-US" sz="1000" dirty="0"/>
          </a:p>
        </p:txBody>
      </p:sp>
      <p:sp>
        <p:nvSpPr>
          <p:cNvPr id="14" name="Text 10"/>
          <p:cNvSpPr/>
          <p:nvPr/>
        </p:nvSpPr>
        <p:spPr>
          <a:xfrm>
            <a:off x="694944" y="4617720"/>
            <a:ext cx="4983480" cy="548640"/>
          </a:xfrm>
          <a:prstGeom prst="rect">
            <a:avLst/>
          </a:prstGeom>
          <a:noFill/>
          <a:ln/>
        </p:spPr>
        <p:txBody>
          <a:bodyPr wrap="square" lIns="0" tIns="0" rIns="0" bIns="0" rtlCol="0" anchor="ctr"/>
          <a:lstStyle/>
          <a:p>
            <a:pPr indent="0" marL="0">
              <a:buNone/>
            </a:pPr>
            <a:r>
              <a:rPr lang="en-US" sz="2900" b="1" dirty="0">
                <a:solidFill>
                  <a:srgbClr val="162B38"/>
                </a:solidFill>
                <a:latin typeface="Aptos" pitchFamily="34" charset="0"/>
                <a:ea typeface="Aptos" pitchFamily="34" charset="-122"/>
                <a:cs typeface="Aptos" pitchFamily="34" charset="-120"/>
              </a:rPr>
              <a:t>Jac. de arena … Bar.</a:t>
            </a:r>
            <a:endParaRPr lang="en-US" sz="2900" dirty="0"/>
          </a:p>
        </p:txBody>
      </p:sp>
      <p:sp>
        <p:nvSpPr>
          <p:cNvPr id="15" name="Text 11"/>
          <p:cNvSpPr/>
          <p:nvPr/>
        </p:nvSpPr>
        <p:spPr>
          <a:xfrm>
            <a:off x="6364224" y="4617720"/>
            <a:ext cx="4983480" cy="548640"/>
          </a:xfrm>
          <a:prstGeom prst="rect">
            <a:avLst/>
          </a:prstGeom>
          <a:noFill/>
          <a:ln/>
        </p:spPr>
        <p:txBody>
          <a:bodyPr wrap="square" lIns="0" tIns="0" rIns="0" bIns="0" rtlCol="0" anchor="ctr"/>
          <a:lstStyle/>
          <a:p>
            <a:pPr indent="0" marL="0">
              <a:buNone/>
            </a:pPr>
            <a:r>
              <a:rPr lang="en-US" sz="2900" b="1" dirty="0">
                <a:solidFill>
                  <a:srgbClr val="162B38"/>
                </a:solidFill>
                <a:latin typeface="Aptos" pitchFamily="34" charset="0"/>
                <a:ea typeface="Aptos" pitchFamily="34" charset="-122"/>
                <a:cs typeface="Aptos" pitchFamily="34" charset="-120"/>
              </a:rPr>
              <a:t>B.</a:t>
            </a:r>
            <a:endParaRPr lang="en-US" sz="2900" dirty="0"/>
          </a:p>
        </p:txBody>
      </p:sp>
      <p:sp>
        <p:nvSpPr>
          <p:cNvPr id="16" name="Text 12"/>
          <p:cNvSpPr/>
          <p:nvPr/>
        </p:nvSpPr>
        <p:spPr>
          <a:xfrm>
            <a:off x="694944" y="5330952"/>
            <a:ext cx="4983480" cy="411480"/>
          </a:xfrm>
          <a:prstGeom prst="rect">
            <a:avLst/>
          </a:prstGeom>
          <a:noFill/>
          <a:ln/>
        </p:spPr>
        <p:txBody>
          <a:bodyPr wrap="square" lIns="0" tIns="0" rIns="0" bIns="0" rtlCol="0" anchor="ctr"/>
          <a:lstStyle/>
          <a:p>
            <a:pPr indent="0" marL="0">
              <a:buNone/>
            </a:pPr>
            <a:r>
              <a:rPr lang="en-US" sz="2100" dirty="0">
                <a:solidFill>
                  <a:srgbClr val="566570"/>
                </a:solidFill>
                <a:latin typeface="Aptos" pitchFamily="34" charset="0"/>
                <a:ea typeface="Aptos" pitchFamily="34" charset="-122"/>
                <a:cs typeface="Aptos" pitchFamily="34" charset="-120"/>
              </a:rPr>
              <a:t>Jacobus de Arena + Bartolus</a:t>
            </a:r>
            <a:endParaRPr lang="en-US" sz="2100" dirty="0"/>
          </a:p>
        </p:txBody>
      </p:sp>
      <p:sp>
        <p:nvSpPr>
          <p:cNvPr id="17" name="Text 13"/>
          <p:cNvSpPr/>
          <p:nvPr/>
        </p:nvSpPr>
        <p:spPr>
          <a:xfrm>
            <a:off x="6364224" y="5330952"/>
            <a:ext cx="4983480" cy="411480"/>
          </a:xfrm>
          <a:prstGeom prst="rect">
            <a:avLst/>
          </a:prstGeom>
          <a:noFill/>
          <a:ln/>
        </p:spPr>
        <p:txBody>
          <a:bodyPr wrap="square" lIns="0" tIns="0" rIns="0" bIns="0" rtlCol="0" anchor="ctr"/>
          <a:lstStyle/>
          <a:p>
            <a:pPr indent="0" marL="0">
              <a:buNone/>
            </a:pPr>
            <a:r>
              <a:rPr lang="en-US" sz="2100" dirty="0">
                <a:solidFill>
                  <a:srgbClr val="566570"/>
                </a:solidFill>
                <a:latin typeface="Aptos" pitchFamily="34" charset="0"/>
                <a:ea typeface="Aptos" pitchFamily="34" charset="-122"/>
                <a:cs typeface="Aptos" pitchFamily="34" charset="-120"/>
              </a:rPr>
              <a:t>Bartolus</a:t>
            </a:r>
            <a:endParaRPr lang="en-US" sz="2100" dirty="0"/>
          </a:p>
        </p:txBody>
      </p:sp>
      <p:sp>
        <p:nvSpPr>
          <p:cNvPr id="18" name="Text 14"/>
          <p:cNvSpPr/>
          <p:nvPr/>
        </p:nvSpPr>
        <p:spPr>
          <a:xfrm>
            <a:off x="685800" y="6044184"/>
            <a:ext cx="10881360" cy="301752"/>
          </a:xfrm>
          <a:prstGeom prst="rect">
            <a:avLst/>
          </a:prstGeom>
          <a:noFill/>
          <a:ln/>
        </p:spPr>
        <p:txBody>
          <a:bodyPr wrap="square" lIns="0" tIns="0" rIns="0" bIns="0" rtlCol="0" anchor="ctr"/>
          <a:lstStyle/>
          <a:p>
            <a:pPr indent="0" marL="0">
              <a:buNone/>
            </a:pPr>
            <a:r>
              <a:rPr lang="en-US" sz="1700" b="1" dirty="0">
                <a:solidFill>
                  <a:srgbClr val="B14E4A"/>
                </a:solidFill>
                <a:latin typeface="Aptos" pitchFamily="34" charset="0"/>
                <a:ea typeface="Aptos" pitchFamily="34" charset="-122"/>
                <a:cs typeface="Aptos" pitchFamily="34" charset="-120"/>
              </a:rPr>
              <a:t>The historical event to detect: Jacobus de Arena disappears from the attribution.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III · 2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Retrieve the legal locus, then recover its paratext</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An edition-independent anchor connects different page layouts.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612648" y="2560320"/>
            <a:ext cx="2505456" cy="1847088"/>
          </a:xfrm>
          <a:prstGeom prst="rect">
            <a:avLst/>
          </a:prstGeom>
          <a:solidFill>
            <a:srgbClr val="FFFFFF"/>
          </a:solidFill>
          <a:ln w="8890">
            <a:solidFill>
              <a:srgbClr val="FFFFFF"/>
            </a:solidFill>
            <a:prstDash val="solid"/>
          </a:ln>
        </p:spPr>
      </p:sp>
      <p:sp>
        <p:nvSpPr>
          <p:cNvPr id="9" name="Shape 7"/>
          <p:cNvSpPr/>
          <p:nvPr/>
        </p:nvSpPr>
        <p:spPr>
          <a:xfrm>
            <a:off x="612648" y="2560320"/>
            <a:ext cx="50292" cy="1847088"/>
          </a:xfrm>
          <a:prstGeom prst="rect">
            <a:avLst/>
          </a:prstGeom>
          <a:solidFill>
            <a:srgbClr val="087F8C"/>
          </a:solidFill>
          <a:ln w="8890">
            <a:solidFill>
              <a:srgbClr val="087F8C"/>
            </a:solidFill>
            <a:prstDash val="solid"/>
          </a:ln>
        </p:spPr>
      </p:sp>
      <p:sp>
        <p:nvSpPr>
          <p:cNvPr id="10" name="Text 8"/>
          <p:cNvSpPr/>
          <p:nvPr/>
        </p:nvSpPr>
        <p:spPr>
          <a:xfrm>
            <a:off x="777240" y="2688336"/>
            <a:ext cx="2176272"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1  Anchor</a:t>
            </a:r>
            <a:endParaRPr lang="en-US" sz="1700" dirty="0"/>
          </a:p>
        </p:txBody>
      </p:sp>
      <p:sp>
        <p:nvSpPr>
          <p:cNvPr id="11" name="Text 9"/>
          <p:cNvSpPr/>
          <p:nvPr/>
        </p:nvSpPr>
        <p:spPr>
          <a:xfrm>
            <a:off x="777240" y="3026664"/>
            <a:ext cx="2176272" cy="13075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D. 1.1.1pr</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Book / title / fragment / incipit</a:t>
            </a:r>
            <a:endParaRPr lang="en-US" sz="1300" dirty="0"/>
          </a:p>
        </p:txBody>
      </p:sp>
      <p:sp>
        <p:nvSpPr>
          <p:cNvPr id="12" name="Shape 10"/>
          <p:cNvSpPr/>
          <p:nvPr/>
        </p:nvSpPr>
        <p:spPr>
          <a:xfrm>
            <a:off x="3182112" y="3447288"/>
            <a:ext cx="256032" cy="0"/>
          </a:xfrm>
          <a:prstGeom prst="line">
            <a:avLst/>
          </a:prstGeom>
          <a:noFill/>
          <a:ln w="25400">
            <a:solidFill>
              <a:srgbClr val="087F8C"/>
            </a:solidFill>
            <a:prstDash val="solid"/>
            <a:headEnd type="none"/>
            <a:tailEnd type="triangle"/>
          </a:ln>
        </p:spPr>
      </p:sp>
      <p:sp>
        <p:nvSpPr>
          <p:cNvPr id="13" name="Shape 11"/>
          <p:cNvSpPr/>
          <p:nvPr/>
        </p:nvSpPr>
        <p:spPr>
          <a:xfrm>
            <a:off x="3511296" y="2560320"/>
            <a:ext cx="2505456" cy="1847088"/>
          </a:xfrm>
          <a:prstGeom prst="rect">
            <a:avLst/>
          </a:prstGeom>
          <a:solidFill>
            <a:srgbClr val="FFFFFF"/>
          </a:solidFill>
          <a:ln w="8890">
            <a:solidFill>
              <a:srgbClr val="FFFFFF"/>
            </a:solidFill>
            <a:prstDash val="solid"/>
          </a:ln>
        </p:spPr>
      </p:sp>
      <p:sp>
        <p:nvSpPr>
          <p:cNvPr id="14" name="Shape 12"/>
          <p:cNvSpPr/>
          <p:nvPr/>
        </p:nvSpPr>
        <p:spPr>
          <a:xfrm>
            <a:off x="3511296" y="2560320"/>
            <a:ext cx="50292" cy="1847088"/>
          </a:xfrm>
          <a:prstGeom prst="rect">
            <a:avLst/>
          </a:prstGeom>
          <a:solidFill>
            <a:srgbClr val="087F8C"/>
          </a:solidFill>
          <a:ln w="8890">
            <a:solidFill>
              <a:srgbClr val="087F8C"/>
            </a:solidFill>
            <a:prstDash val="solid"/>
          </a:ln>
        </p:spPr>
      </p:sp>
      <p:sp>
        <p:nvSpPr>
          <p:cNvPr id="15" name="Text 13"/>
          <p:cNvSpPr/>
          <p:nvPr/>
        </p:nvSpPr>
        <p:spPr>
          <a:xfrm>
            <a:off x="3675888" y="2688336"/>
            <a:ext cx="2176272"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2  Retrieve</a:t>
            </a:r>
            <a:endParaRPr lang="en-US" sz="1700" dirty="0"/>
          </a:p>
        </p:txBody>
      </p:sp>
      <p:sp>
        <p:nvSpPr>
          <p:cNvPr id="16" name="Text 14"/>
          <p:cNvSpPr/>
          <p:nvPr/>
        </p:nvSpPr>
        <p:spPr>
          <a:xfrm>
            <a:off x="3675888" y="3026664"/>
            <a:ext cx="2176272" cy="13075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OCR character n-grams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RapidFuzz: fuzzy text matching</a:t>
            </a:r>
            <a:endParaRPr lang="en-US" sz="1300" dirty="0"/>
          </a:p>
        </p:txBody>
      </p:sp>
      <p:sp>
        <p:nvSpPr>
          <p:cNvPr id="17" name="Shape 15"/>
          <p:cNvSpPr/>
          <p:nvPr/>
        </p:nvSpPr>
        <p:spPr>
          <a:xfrm>
            <a:off x="6080760" y="3447288"/>
            <a:ext cx="256032" cy="0"/>
          </a:xfrm>
          <a:prstGeom prst="line">
            <a:avLst/>
          </a:prstGeom>
          <a:noFill/>
          <a:ln w="25400">
            <a:solidFill>
              <a:srgbClr val="087F8C"/>
            </a:solidFill>
            <a:prstDash val="solid"/>
            <a:headEnd type="none"/>
            <a:tailEnd type="triangle"/>
          </a:ln>
        </p:spPr>
      </p:sp>
      <p:sp>
        <p:nvSpPr>
          <p:cNvPr id="18" name="Shape 16"/>
          <p:cNvSpPr/>
          <p:nvPr/>
        </p:nvSpPr>
        <p:spPr>
          <a:xfrm>
            <a:off x="6409944" y="2560320"/>
            <a:ext cx="2505456" cy="1847088"/>
          </a:xfrm>
          <a:prstGeom prst="rect">
            <a:avLst/>
          </a:prstGeom>
          <a:solidFill>
            <a:srgbClr val="FFFFFF"/>
          </a:solidFill>
          <a:ln w="8890">
            <a:solidFill>
              <a:srgbClr val="FFFFFF"/>
            </a:solidFill>
            <a:prstDash val="solid"/>
          </a:ln>
        </p:spPr>
      </p:sp>
      <p:sp>
        <p:nvSpPr>
          <p:cNvPr id="19" name="Shape 17"/>
          <p:cNvSpPr/>
          <p:nvPr/>
        </p:nvSpPr>
        <p:spPr>
          <a:xfrm>
            <a:off x="6409944" y="2560320"/>
            <a:ext cx="50292" cy="1847088"/>
          </a:xfrm>
          <a:prstGeom prst="rect">
            <a:avLst/>
          </a:prstGeom>
          <a:solidFill>
            <a:srgbClr val="087F8C"/>
          </a:solidFill>
          <a:ln w="8890">
            <a:solidFill>
              <a:srgbClr val="087F8C"/>
            </a:solidFill>
            <a:prstDash val="solid"/>
          </a:ln>
        </p:spPr>
      </p:sp>
      <p:sp>
        <p:nvSpPr>
          <p:cNvPr id="20" name="Text 18"/>
          <p:cNvSpPr/>
          <p:nvPr/>
        </p:nvSpPr>
        <p:spPr>
          <a:xfrm>
            <a:off x="6574536" y="2688336"/>
            <a:ext cx="2176272"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3  Attach</a:t>
            </a:r>
            <a:endParaRPr lang="en-US" sz="1700" dirty="0"/>
          </a:p>
        </p:txBody>
      </p:sp>
      <p:sp>
        <p:nvSpPr>
          <p:cNvPr id="21" name="Text 19"/>
          <p:cNvSpPr/>
          <p:nvPr/>
        </p:nvSpPr>
        <p:spPr>
          <a:xfrm>
            <a:off x="6574536" y="3026664"/>
            <a:ext cx="2176272" cy="13075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Layout + lemma + sequence</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Find the neighbouring divisio</a:t>
            </a:r>
            <a:endParaRPr lang="en-US" sz="1300" dirty="0"/>
          </a:p>
        </p:txBody>
      </p:sp>
      <p:sp>
        <p:nvSpPr>
          <p:cNvPr id="22" name="Shape 20"/>
          <p:cNvSpPr/>
          <p:nvPr/>
        </p:nvSpPr>
        <p:spPr>
          <a:xfrm>
            <a:off x="8979408" y="3447288"/>
            <a:ext cx="256032" cy="0"/>
          </a:xfrm>
          <a:prstGeom prst="line">
            <a:avLst/>
          </a:prstGeom>
          <a:noFill/>
          <a:ln w="25400">
            <a:solidFill>
              <a:srgbClr val="087F8C"/>
            </a:solidFill>
            <a:prstDash val="solid"/>
            <a:headEnd type="none"/>
            <a:tailEnd type="triangle"/>
          </a:ln>
        </p:spPr>
      </p:sp>
      <p:sp>
        <p:nvSpPr>
          <p:cNvPr id="23" name="Shape 21"/>
          <p:cNvSpPr/>
          <p:nvPr/>
        </p:nvSpPr>
        <p:spPr>
          <a:xfrm>
            <a:off x="9308592" y="2560320"/>
            <a:ext cx="2505456" cy="1847088"/>
          </a:xfrm>
          <a:prstGeom prst="rect">
            <a:avLst/>
          </a:prstGeom>
          <a:solidFill>
            <a:srgbClr val="FFFFFF"/>
          </a:solidFill>
          <a:ln w="8890">
            <a:solidFill>
              <a:srgbClr val="FFFFFF"/>
            </a:solidFill>
            <a:prstDash val="solid"/>
          </a:ln>
        </p:spPr>
      </p:sp>
      <p:sp>
        <p:nvSpPr>
          <p:cNvPr id="24" name="Shape 22"/>
          <p:cNvSpPr/>
          <p:nvPr/>
        </p:nvSpPr>
        <p:spPr>
          <a:xfrm>
            <a:off x="9308592" y="2560320"/>
            <a:ext cx="50292" cy="1847088"/>
          </a:xfrm>
          <a:prstGeom prst="rect">
            <a:avLst/>
          </a:prstGeom>
          <a:solidFill>
            <a:srgbClr val="087F8C"/>
          </a:solidFill>
          <a:ln w="8890">
            <a:solidFill>
              <a:srgbClr val="087F8C"/>
            </a:solidFill>
            <a:prstDash val="solid"/>
          </a:ln>
        </p:spPr>
      </p:sp>
      <p:sp>
        <p:nvSpPr>
          <p:cNvPr id="25" name="Text 23"/>
          <p:cNvSpPr/>
          <p:nvPr/>
        </p:nvSpPr>
        <p:spPr>
          <a:xfrm>
            <a:off x="9473184" y="2688336"/>
            <a:ext cx="2176272"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4  Assemble</a:t>
            </a:r>
            <a:endParaRPr lang="en-US" sz="1700" dirty="0"/>
          </a:p>
        </p:txBody>
      </p:sp>
      <p:sp>
        <p:nvSpPr>
          <p:cNvPr id="26" name="Text 24"/>
          <p:cNvSpPr/>
          <p:nvPr/>
        </p:nvSpPr>
        <p:spPr>
          <a:xfrm>
            <a:off x="9473184" y="3026664"/>
            <a:ext cx="2176272" cy="1307592"/>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Join lines into a whole unit</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Keep image coordinates</a:t>
            </a:r>
            <a:endParaRPr lang="en-US" sz="1300" dirty="0"/>
          </a:p>
        </p:txBody>
      </p:sp>
      <p:sp>
        <p:nvSpPr>
          <p:cNvPr id="27" name="Shape 25"/>
          <p:cNvSpPr/>
          <p:nvPr/>
        </p:nvSpPr>
        <p:spPr>
          <a:xfrm>
            <a:off x="621792" y="4937760"/>
            <a:ext cx="10945368" cy="996696"/>
          </a:xfrm>
          <a:prstGeom prst="rect">
            <a:avLst/>
          </a:prstGeom>
          <a:solidFill>
            <a:srgbClr val="E3EEEA"/>
          </a:solidFill>
          <a:ln w="8890">
            <a:solidFill>
              <a:srgbClr val="E3EEEA"/>
            </a:solidFill>
            <a:prstDash val="solid"/>
          </a:ln>
        </p:spPr>
      </p:sp>
      <p:sp>
        <p:nvSpPr>
          <p:cNvPr id="28" name="Text 26"/>
          <p:cNvSpPr/>
          <p:nvPr/>
        </p:nvSpPr>
        <p:spPr>
          <a:xfrm>
            <a:off x="822960" y="5138928"/>
            <a:ext cx="1408176" cy="292608"/>
          </a:xfrm>
          <a:prstGeom prst="rect">
            <a:avLst/>
          </a:prstGeom>
          <a:noFill/>
          <a:ln/>
        </p:spPr>
        <p:txBody>
          <a:bodyPr wrap="square" lIns="0" tIns="0" rIns="0" bIns="0" rtlCol="0" anchor="ctr"/>
          <a:lstStyle/>
          <a:p>
            <a:pPr indent="0" marL="0">
              <a:buNone/>
            </a:pPr>
            <a:r>
              <a:rPr lang="en-US" sz="1700" b="1" dirty="0">
                <a:solidFill>
                  <a:srgbClr val="087F8C"/>
                </a:solidFill>
                <a:latin typeface="Aptos" pitchFamily="34" charset="0"/>
                <a:ea typeface="Aptos" pitchFamily="34" charset="-122"/>
                <a:cs typeface="Aptos" pitchFamily="34" charset="-120"/>
              </a:rPr>
              <a:t>Unit key</a:t>
            </a:r>
            <a:endParaRPr lang="en-US" sz="1700" dirty="0"/>
          </a:p>
        </p:txBody>
      </p:sp>
      <p:sp>
        <p:nvSpPr>
          <p:cNvPr id="29" name="Text 27"/>
          <p:cNvSpPr/>
          <p:nvPr/>
        </p:nvSpPr>
        <p:spPr>
          <a:xfrm>
            <a:off x="2386584" y="5102352"/>
            <a:ext cx="8851392" cy="393192"/>
          </a:xfrm>
          <a:prstGeom prst="rect">
            <a:avLst/>
          </a:prstGeom>
          <a:noFill/>
          <a:ln/>
        </p:spPr>
        <p:txBody>
          <a:bodyPr wrap="square" lIns="0" tIns="0" rIns="0" bIns="0" rtlCol="0" anchor="ctr"/>
          <a:lstStyle/>
          <a:p>
            <a:pPr indent="0" marL="0">
              <a:buNone/>
            </a:pPr>
            <a:r>
              <a:rPr lang="en-US" sz="2400" b="1" dirty="0">
                <a:solidFill>
                  <a:srgbClr val="162B38"/>
                </a:solidFill>
                <a:latin typeface="Aptos" pitchFamily="34" charset="0"/>
                <a:ea typeface="Aptos" pitchFamily="34" charset="-122"/>
                <a:cs typeface="Aptos" pitchFamily="34" charset="-120"/>
              </a:rPr>
              <a:t>edition × legal locus × paratext type × occurrence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III · 3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Compare wording and historical content separately</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Normalize for matching; preserve the evidence needed to detect change.</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640080" y="2340864"/>
            <a:ext cx="10927080" cy="896112"/>
          </a:xfrm>
          <a:prstGeom prst="rect">
            <a:avLst/>
          </a:prstGeom>
          <a:solidFill>
            <a:srgbClr val="FFFFFF"/>
          </a:solidFill>
          <a:ln w="8890">
            <a:solidFill>
              <a:srgbClr val="FFFFFF"/>
            </a:solidFill>
            <a:prstDash val="solid"/>
          </a:ln>
        </p:spPr>
      </p:sp>
      <p:sp>
        <p:nvSpPr>
          <p:cNvPr id="9" name="Shape 7"/>
          <p:cNvSpPr/>
          <p:nvPr/>
        </p:nvSpPr>
        <p:spPr>
          <a:xfrm>
            <a:off x="640080" y="2340864"/>
            <a:ext cx="50292" cy="896112"/>
          </a:xfrm>
          <a:prstGeom prst="rect">
            <a:avLst/>
          </a:prstGeom>
          <a:solidFill>
            <a:srgbClr val="087F8C"/>
          </a:solidFill>
          <a:ln w="8890">
            <a:solidFill>
              <a:srgbClr val="087F8C"/>
            </a:solidFill>
            <a:prstDash val="solid"/>
          </a:ln>
        </p:spPr>
      </p:sp>
      <p:sp>
        <p:nvSpPr>
          <p:cNvPr id="10" name="Text 8"/>
          <p:cNvSpPr/>
          <p:nvPr/>
        </p:nvSpPr>
        <p:spPr>
          <a:xfrm>
            <a:off x="804672" y="2468880"/>
            <a:ext cx="10597896"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Diplomatic layer</a:t>
            </a:r>
            <a:endParaRPr lang="en-US" sz="1700" dirty="0"/>
          </a:p>
        </p:txBody>
      </p:sp>
      <p:sp>
        <p:nvSpPr>
          <p:cNvPr id="11" name="Text 9"/>
          <p:cNvSpPr/>
          <p:nvPr/>
        </p:nvSpPr>
        <p:spPr>
          <a:xfrm>
            <a:off x="804672" y="2807208"/>
            <a:ext cx="10597896" cy="356616"/>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Raw OCR → checked reading → image link</a:t>
            </a:r>
            <a:endParaRPr lang="en-US" sz="1300" dirty="0"/>
          </a:p>
        </p:txBody>
      </p:sp>
      <p:sp>
        <p:nvSpPr>
          <p:cNvPr id="12" name="Shape 10"/>
          <p:cNvSpPr/>
          <p:nvPr/>
        </p:nvSpPr>
        <p:spPr>
          <a:xfrm flipH="1">
            <a:off x="3273552" y="3319272"/>
            <a:ext cx="2825496" cy="466344"/>
          </a:xfrm>
          <a:prstGeom prst="line">
            <a:avLst/>
          </a:prstGeom>
          <a:noFill/>
          <a:ln w="25400">
            <a:solidFill>
              <a:srgbClr val="087F8C"/>
            </a:solidFill>
            <a:prstDash val="solid"/>
            <a:headEnd type="none"/>
            <a:tailEnd type="triangle"/>
          </a:ln>
        </p:spPr>
      </p:sp>
      <p:sp>
        <p:nvSpPr>
          <p:cNvPr id="13" name="Shape 11"/>
          <p:cNvSpPr/>
          <p:nvPr/>
        </p:nvSpPr>
        <p:spPr>
          <a:xfrm>
            <a:off x="6099048" y="3319272"/>
            <a:ext cx="2697480" cy="466344"/>
          </a:xfrm>
          <a:prstGeom prst="line">
            <a:avLst/>
          </a:prstGeom>
          <a:noFill/>
          <a:ln w="25400">
            <a:solidFill>
              <a:srgbClr val="087F8C"/>
            </a:solidFill>
            <a:prstDash val="solid"/>
            <a:headEnd type="none"/>
            <a:tailEnd type="triangle"/>
          </a:ln>
        </p:spPr>
      </p:sp>
      <p:sp>
        <p:nvSpPr>
          <p:cNvPr id="14" name="Shape 12"/>
          <p:cNvSpPr/>
          <p:nvPr/>
        </p:nvSpPr>
        <p:spPr>
          <a:xfrm>
            <a:off x="640080" y="3904488"/>
            <a:ext cx="5202936" cy="1124712"/>
          </a:xfrm>
          <a:prstGeom prst="rect">
            <a:avLst/>
          </a:prstGeom>
          <a:solidFill>
            <a:srgbClr val="FFFFFF"/>
          </a:solidFill>
          <a:ln w="8890">
            <a:solidFill>
              <a:srgbClr val="FFFFFF"/>
            </a:solidFill>
            <a:prstDash val="solid"/>
          </a:ln>
        </p:spPr>
      </p:sp>
      <p:sp>
        <p:nvSpPr>
          <p:cNvPr id="15" name="Shape 13"/>
          <p:cNvSpPr/>
          <p:nvPr/>
        </p:nvSpPr>
        <p:spPr>
          <a:xfrm>
            <a:off x="640080" y="3904488"/>
            <a:ext cx="50292" cy="1124712"/>
          </a:xfrm>
          <a:prstGeom prst="rect">
            <a:avLst/>
          </a:prstGeom>
          <a:solidFill>
            <a:srgbClr val="087F8C"/>
          </a:solidFill>
          <a:ln w="8890">
            <a:solidFill>
              <a:srgbClr val="087F8C"/>
            </a:solidFill>
            <a:prstDash val="solid"/>
          </a:ln>
        </p:spPr>
      </p:sp>
      <p:sp>
        <p:nvSpPr>
          <p:cNvPr id="16" name="Text 14"/>
          <p:cNvSpPr/>
          <p:nvPr/>
        </p:nvSpPr>
        <p:spPr>
          <a:xfrm>
            <a:off x="804672" y="4032504"/>
            <a:ext cx="4873752"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Matching layer</a:t>
            </a:r>
            <a:endParaRPr lang="en-US" sz="1700" dirty="0"/>
          </a:p>
        </p:txBody>
      </p:sp>
      <p:sp>
        <p:nvSpPr>
          <p:cNvPr id="17" name="Text 15"/>
          <p:cNvSpPr/>
          <p:nvPr/>
        </p:nvSpPr>
        <p:spPr>
          <a:xfrm>
            <a:off x="804672" y="4370832"/>
            <a:ext cx="4873752" cy="585216"/>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Abbreviation alternatives · long-s / u-v</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CollateX alignment · candidate similarity</a:t>
            </a:r>
            <a:endParaRPr lang="en-US" sz="1300" dirty="0"/>
          </a:p>
        </p:txBody>
      </p:sp>
      <p:sp>
        <p:nvSpPr>
          <p:cNvPr id="18" name="Shape 16"/>
          <p:cNvSpPr/>
          <p:nvPr/>
        </p:nvSpPr>
        <p:spPr>
          <a:xfrm>
            <a:off x="6364224" y="3904488"/>
            <a:ext cx="5202936" cy="1124712"/>
          </a:xfrm>
          <a:prstGeom prst="rect">
            <a:avLst/>
          </a:prstGeom>
          <a:solidFill>
            <a:srgbClr val="FFFFFF"/>
          </a:solidFill>
          <a:ln w="8890">
            <a:solidFill>
              <a:srgbClr val="FFFFFF"/>
            </a:solidFill>
            <a:prstDash val="solid"/>
          </a:ln>
        </p:spPr>
      </p:sp>
      <p:sp>
        <p:nvSpPr>
          <p:cNvPr id="19" name="Shape 17"/>
          <p:cNvSpPr/>
          <p:nvPr/>
        </p:nvSpPr>
        <p:spPr>
          <a:xfrm>
            <a:off x="6364224" y="3904488"/>
            <a:ext cx="50292" cy="1124712"/>
          </a:xfrm>
          <a:prstGeom prst="rect">
            <a:avLst/>
          </a:prstGeom>
          <a:solidFill>
            <a:srgbClr val="935BA5"/>
          </a:solidFill>
          <a:ln w="8890">
            <a:solidFill>
              <a:srgbClr val="935BA5"/>
            </a:solidFill>
            <a:prstDash val="solid"/>
          </a:ln>
        </p:spPr>
      </p:sp>
      <p:sp>
        <p:nvSpPr>
          <p:cNvPr id="20" name="Text 18"/>
          <p:cNvSpPr/>
          <p:nvPr/>
        </p:nvSpPr>
        <p:spPr>
          <a:xfrm>
            <a:off x="6528816" y="4032504"/>
            <a:ext cx="4873752"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Content layer</a:t>
            </a:r>
            <a:endParaRPr lang="en-US" sz="1700" dirty="0"/>
          </a:p>
        </p:txBody>
      </p:sp>
      <p:sp>
        <p:nvSpPr>
          <p:cNvPr id="21" name="Text 19"/>
          <p:cNvSpPr/>
          <p:nvPr/>
        </p:nvSpPr>
        <p:spPr>
          <a:xfrm>
            <a:off x="6528816" y="4370832"/>
            <a:ext cx="4873752" cy="585216"/>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Names · legal citations · negation</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Conditions · exceptions · attribution</a:t>
            </a:r>
            <a:endParaRPr lang="en-US" sz="1300" dirty="0"/>
          </a:p>
        </p:txBody>
      </p:sp>
      <p:sp>
        <p:nvSpPr>
          <p:cNvPr id="22" name="Text 20"/>
          <p:cNvSpPr/>
          <p:nvPr/>
        </p:nvSpPr>
        <p:spPr>
          <a:xfrm>
            <a:off x="832104" y="5404104"/>
            <a:ext cx="4791456" cy="502920"/>
          </a:xfrm>
          <a:prstGeom prst="rect">
            <a:avLst/>
          </a:prstGeom>
          <a:noFill/>
          <a:ln/>
        </p:spPr>
        <p:txBody>
          <a:bodyPr wrap="square" lIns="0" tIns="0" rIns="0" bIns="0" rtlCol="0" anchor="ctr"/>
          <a:lstStyle/>
          <a:p>
            <a:pPr indent="0" marL="0">
              <a:buNone/>
            </a:pPr>
            <a:r>
              <a:rPr lang="en-US" sz="2500" b="1" dirty="0">
                <a:solidFill>
                  <a:srgbClr val="087F8C"/>
                </a:solidFill>
                <a:latin typeface="Aptos" pitchFamily="34" charset="0"/>
                <a:ea typeface="Aptos" pitchFamily="34" charset="-122"/>
                <a:cs typeface="Aptos" pitchFamily="34" charset="-120"/>
              </a:rPr>
              <a:t>Bar. ↔ B. → Bartolus</a:t>
            </a:r>
            <a:endParaRPr lang="en-US" sz="2500" dirty="0"/>
          </a:p>
        </p:txBody>
      </p:sp>
      <p:sp>
        <p:nvSpPr>
          <p:cNvPr id="23" name="Text 21"/>
          <p:cNvSpPr/>
          <p:nvPr/>
        </p:nvSpPr>
        <p:spPr>
          <a:xfrm>
            <a:off x="6501384" y="5404104"/>
            <a:ext cx="4855464" cy="502920"/>
          </a:xfrm>
          <a:prstGeom prst="rect">
            <a:avLst/>
          </a:prstGeom>
          <a:noFill/>
          <a:ln/>
        </p:spPr>
        <p:txBody>
          <a:bodyPr wrap="square" lIns="0" tIns="0" rIns="0" bIns="0" rtlCol="0" anchor="ctr"/>
          <a:lstStyle/>
          <a:p>
            <a:pPr indent="0" marL="0">
              <a:buNone/>
            </a:pPr>
            <a:r>
              <a:rPr lang="en-US" sz="2000" b="1" dirty="0">
                <a:solidFill>
                  <a:srgbClr val="935BA5"/>
                </a:solidFill>
                <a:latin typeface="Aptos" pitchFamily="34" charset="0"/>
                <a:ea typeface="Aptos" pitchFamily="34" charset="-122"/>
                <a:cs typeface="Aptos" pitchFamily="34" charset="-120"/>
              </a:rPr>
              <a:t>Jac. de arena → Jacobus de Arena</a:t>
            </a:r>
            <a:endParaRPr lang="en-US" sz="2000" dirty="0"/>
          </a:p>
        </p:txBody>
      </p:sp>
      <p:sp>
        <p:nvSpPr>
          <p:cNvPr id="24" name="Text 22"/>
          <p:cNvSpPr/>
          <p:nvPr/>
        </p:nvSpPr>
        <p:spPr>
          <a:xfrm>
            <a:off x="713232" y="6080760"/>
            <a:ext cx="10972800" cy="292608"/>
          </a:xfrm>
          <a:prstGeom prst="rect">
            <a:avLst/>
          </a:prstGeom>
          <a:noFill/>
          <a:ln/>
        </p:spPr>
        <p:txBody>
          <a:bodyPr wrap="square" lIns="0" tIns="0" rIns="0" bIns="0" rtlCol="0" anchor="ctr"/>
          <a:lstStyle/>
          <a:p>
            <a:pPr indent="0" marL="0">
              <a:buNone/>
            </a:pPr>
            <a:r>
              <a:rPr lang="en-US" sz="1600" dirty="0">
                <a:solidFill>
                  <a:srgbClr val="566570"/>
                </a:solidFill>
                <a:latin typeface="Aptos" pitchFamily="34" charset="0"/>
                <a:ea typeface="Aptos" pitchFamily="34" charset="-122"/>
                <a:cs typeface="Aptos" pitchFamily="34" charset="-120"/>
              </a:rPr>
              <a:t>Cluster aligned variants; keep every deletion of a name or qualification visible.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III · 4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Make the change an explicit, inspectable record</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One aligned unit; two resolved authority sets; one deletion event.</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676656" y="2340864"/>
            <a:ext cx="1554480" cy="365760"/>
          </a:xfrm>
          <a:prstGeom prst="rect">
            <a:avLst/>
          </a:prstGeom>
          <a:noFill/>
          <a:ln/>
        </p:spPr>
        <p:txBody>
          <a:bodyPr wrap="square" lIns="0" tIns="0" rIns="0" bIns="0" rtlCol="0" anchor="ctr"/>
          <a:lstStyle/>
          <a:p>
            <a:pPr indent="0" marL="0">
              <a:buNone/>
            </a:pPr>
            <a:r>
              <a:rPr lang="en-US" sz="2300" b="1" dirty="0">
                <a:solidFill>
                  <a:srgbClr val="087F8C"/>
                </a:solidFill>
                <a:latin typeface="Aptos" pitchFamily="34" charset="0"/>
                <a:ea typeface="Aptos" pitchFamily="34" charset="-122"/>
                <a:cs typeface="Aptos" pitchFamily="34" charset="-120"/>
              </a:rPr>
              <a:t>1490</a:t>
            </a:r>
            <a:endParaRPr lang="en-US" sz="2300" dirty="0"/>
          </a:p>
        </p:txBody>
      </p:sp>
      <p:sp>
        <p:nvSpPr>
          <p:cNvPr id="9" name="Text 7"/>
          <p:cNvSpPr/>
          <p:nvPr/>
        </p:nvSpPr>
        <p:spPr>
          <a:xfrm>
            <a:off x="6894576" y="2340864"/>
            <a:ext cx="1554480" cy="365760"/>
          </a:xfrm>
          <a:prstGeom prst="rect">
            <a:avLst/>
          </a:prstGeom>
          <a:noFill/>
          <a:ln/>
        </p:spPr>
        <p:txBody>
          <a:bodyPr wrap="square" lIns="0" tIns="0" rIns="0" bIns="0" rtlCol="0" anchor="ctr"/>
          <a:lstStyle/>
          <a:p>
            <a:pPr indent="0" marL="0">
              <a:buNone/>
            </a:pPr>
            <a:r>
              <a:rPr lang="en-US" sz="2300" b="1" dirty="0">
                <a:solidFill>
                  <a:srgbClr val="087F8C"/>
                </a:solidFill>
                <a:latin typeface="Aptos" pitchFamily="34" charset="0"/>
                <a:ea typeface="Aptos" pitchFamily="34" charset="-122"/>
                <a:cs typeface="Aptos" pitchFamily="34" charset="-120"/>
              </a:rPr>
              <a:t>1627</a:t>
            </a:r>
            <a:endParaRPr lang="en-US" sz="2300" dirty="0"/>
          </a:p>
        </p:txBody>
      </p:sp>
      <p:sp>
        <p:nvSpPr>
          <p:cNvPr id="10" name="Shape 8"/>
          <p:cNvSpPr/>
          <p:nvPr/>
        </p:nvSpPr>
        <p:spPr>
          <a:xfrm>
            <a:off x="694944" y="2980944"/>
            <a:ext cx="4407408" cy="905256"/>
          </a:xfrm>
          <a:prstGeom prst="rect">
            <a:avLst/>
          </a:prstGeom>
          <a:solidFill>
            <a:srgbClr val="FFFFFF"/>
          </a:solidFill>
          <a:ln w="8890">
            <a:solidFill>
              <a:srgbClr val="FFFFFF"/>
            </a:solidFill>
            <a:prstDash val="solid"/>
          </a:ln>
        </p:spPr>
      </p:sp>
      <p:sp>
        <p:nvSpPr>
          <p:cNvPr id="11" name="Shape 9"/>
          <p:cNvSpPr/>
          <p:nvPr/>
        </p:nvSpPr>
        <p:spPr>
          <a:xfrm>
            <a:off x="694944" y="2980944"/>
            <a:ext cx="50292" cy="905256"/>
          </a:xfrm>
          <a:prstGeom prst="rect">
            <a:avLst/>
          </a:prstGeom>
          <a:solidFill>
            <a:srgbClr val="935BA5"/>
          </a:solidFill>
          <a:ln w="8890">
            <a:solidFill>
              <a:srgbClr val="935BA5"/>
            </a:solidFill>
            <a:prstDash val="solid"/>
          </a:ln>
        </p:spPr>
      </p:sp>
      <p:sp>
        <p:nvSpPr>
          <p:cNvPr id="12" name="Text 10"/>
          <p:cNvSpPr/>
          <p:nvPr/>
        </p:nvSpPr>
        <p:spPr>
          <a:xfrm>
            <a:off x="859536" y="3108960"/>
            <a:ext cx="407822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Jacobus de Arena</a:t>
            </a:r>
            <a:endParaRPr lang="en-US" sz="1700" dirty="0"/>
          </a:p>
        </p:txBody>
      </p:sp>
      <p:sp>
        <p:nvSpPr>
          <p:cNvPr id="13" name="Text 11"/>
          <p:cNvSpPr/>
          <p:nvPr/>
        </p:nvSpPr>
        <p:spPr>
          <a:xfrm>
            <a:off x="859536" y="3447288"/>
            <a:ext cx="4078224" cy="365760"/>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Printed: Jac. de arena</a:t>
            </a:r>
            <a:endParaRPr lang="en-US" sz="1300" dirty="0"/>
          </a:p>
        </p:txBody>
      </p:sp>
      <p:sp>
        <p:nvSpPr>
          <p:cNvPr id="14" name="Shape 12"/>
          <p:cNvSpPr/>
          <p:nvPr/>
        </p:nvSpPr>
        <p:spPr>
          <a:xfrm>
            <a:off x="694944" y="4123944"/>
            <a:ext cx="4407408" cy="905256"/>
          </a:xfrm>
          <a:prstGeom prst="rect">
            <a:avLst/>
          </a:prstGeom>
          <a:solidFill>
            <a:srgbClr val="FFFFFF"/>
          </a:solidFill>
          <a:ln w="8890">
            <a:solidFill>
              <a:srgbClr val="FFFFFF"/>
            </a:solidFill>
            <a:prstDash val="solid"/>
          </a:ln>
        </p:spPr>
      </p:sp>
      <p:sp>
        <p:nvSpPr>
          <p:cNvPr id="15" name="Shape 13"/>
          <p:cNvSpPr/>
          <p:nvPr/>
        </p:nvSpPr>
        <p:spPr>
          <a:xfrm>
            <a:off x="694944" y="4123944"/>
            <a:ext cx="50292" cy="905256"/>
          </a:xfrm>
          <a:prstGeom prst="rect">
            <a:avLst/>
          </a:prstGeom>
          <a:solidFill>
            <a:srgbClr val="087F8C"/>
          </a:solidFill>
          <a:ln w="8890">
            <a:solidFill>
              <a:srgbClr val="087F8C"/>
            </a:solidFill>
            <a:prstDash val="solid"/>
          </a:ln>
        </p:spPr>
      </p:sp>
      <p:sp>
        <p:nvSpPr>
          <p:cNvPr id="16" name="Text 14"/>
          <p:cNvSpPr/>
          <p:nvPr/>
        </p:nvSpPr>
        <p:spPr>
          <a:xfrm>
            <a:off x="859536" y="4251960"/>
            <a:ext cx="407822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Bartolus</a:t>
            </a:r>
            <a:endParaRPr lang="en-US" sz="1700" dirty="0"/>
          </a:p>
        </p:txBody>
      </p:sp>
      <p:sp>
        <p:nvSpPr>
          <p:cNvPr id="17" name="Text 15"/>
          <p:cNvSpPr/>
          <p:nvPr/>
        </p:nvSpPr>
        <p:spPr>
          <a:xfrm>
            <a:off x="859536" y="4590288"/>
            <a:ext cx="4078224" cy="365760"/>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Printed: Bar.</a:t>
            </a:r>
            <a:endParaRPr lang="en-US" sz="1300" dirty="0"/>
          </a:p>
        </p:txBody>
      </p:sp>
      <p:sp>
        <p:nvSpPr>
          <p:cNvPr id="18" name="Shape 16"/>
          <p:cNvSpPr/>
          <p:nvPr/>
        </p:nvSpPr>
        <p:spPr>
          <a:xfrm>
            <a:off x="6912864" y="4123944"/>
            <a:ext cx="4407408" cy="905256"/>
          </a:xfrm>
          <a:prstGeom prst="rect">
            <a:avLst/>
          </a:prstGeom>
          <a:solidFill>
            <a:srgbClr val="FFFFFF"/>
          </a:solidFill>
          <a:ln w="8890">
            <a:solidFill>
              <a:srgbClr val="FFFFFF"/>
            </a:solidFill>
            <a:prstDash val="solid"/>
          </a:ln>
        </p:spPr>
      </p:sp>
      <p:sp>
        <p:nvSpPr>
          <p:cNvPr id="19" name="Shape 17"/>
          <p:cNvSpPr/>
          <p:nvPr/>
        </p:nvSpPr>
        <p:spPr>
          <a:xfrm>
            <a:off x="6912864" y="4123944"/>
            <a:ext cx="50292" cy="905256"/>
          </a:xfrm>
          <a:prstGeom prst="rect">
            <a:avLst/>
          </a:prstGeom>
          <a:solidFill>
            <a:srgbClr val="087F8C"/>
          </a:solidFill>
          <a:ln w="8890">
            <a:solidFill>
              <a:srgbClr val="087F8C"/>
            </a:solidFill>
            <a:prstDash val="solid"/>
          </a:ln>
        </p:spPr>
      </p:sp>
      <p:sp>
        <p:nvSpPr>
          <p:cNvPr id="20" name="Text 18"/>
          <p:cNvSpPr/>
          <p:nvPr/>
        </p:nvSpPr>
        <p:spPr>
          <a:xfrm>
            <a:off x="7077456" y="4251960"/>
            <a:ext cx="407822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Bartolus</a:t>
            </a:r>
            <a:endParaRPr lang="en-US" sz="1700" dirty="0"/>
          </a:p>
        </p:txBody>
      </p:sp>
      <p:sp>
        <p:nvSpPr>
          <p:cNvPr id="21" name="Text 19"/>
          <p:cNvSpPr/>
          <p:nvPr/>
        </p:nvSpPr>
        <p:spPr>
          <a:xfrm>
            <a:off x="7077456" y="4590288"/>
            <a:ext cx="4078224" cy="365760"/>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Printed: B.</a:t>
            </a:r>
            <a:endParaRPr lang="en-US" sz="1300" dirty="0"/>
          </a:p>
        </p:txBody>
      </p:sp>
      <p:sp>
        <p:nvSpPr>
          <p:cNvPr id="22" name="Shape 20"/>
          <p:cNvSpPr/>
          <p:nvPr/>
        </p:nvSpPr>
        <p:spPr>
          <a:xfrm>
            <a:off x="5230368" y="4562856"/>
            <a:ext cx="1481328" cy="0"/>
          </a:xfrm>
          <a:prstGeom prst="line">
            <a:avLst/>
          </a:prstGeom>
          <a:noFill/>
          <a:ln w="25400">
            <a:solidFill>
              <a:srgbClr val="087F8C"/>
            </a:solidFill>
            <a:prstDash val="solid"/>
            <a:headEnd type="none"/>
            <a:tailEnd type="triangle"/>
          </a:ln>
        </p:spPr>
      </p:sp>
      <p:sp>
        <p:nvSpPr>
          <p:cNvPr id="23" name="Shape 21"/>
          <p:cNvSpPr/>
          <p:nvPr/>
        </p:nvSpPr>
        <p:spPr>
          <a:xfrm>
            <a:off x="5230368" y="3438144"/>
            <a:ext cx="795528" cy="0"/>
          </a:xfrm>
          <a:prstGeom prst="line">
            <a:avLst/>
          </a:prstGeom>
          <a:noFill/>
          <a:ln w="38100">
            <a:solidFill>
              <a:srgbClr val="B14E4A"/>
            </a:solidFill>
            <a:prstDash val="solid"/>
          </a:ln>
        </p:spPr>
      </p:sp>
      <p:sp>
        <p:nvSpPr>
          <p:cNvPr id="24" name="Text 22"/>
          <p:cNvSpPr/>
          <p:nvPr/>
        </p:nvSpPr>
        <p:spPr>
          <a:xfrm>
            <a:off x="6089904" y="3136392"/>
            <a:ext cx="594360" cy="594360"/>
          </a:xfrm>
          <a:prstGeom prst="rect">
            <a:avLst/>
          </a:prstGeom>
          <a:noFill/>
          <a:ln/>
        </p:spPr>
        <p:txBody>
          <a:bodyPr wrap="square" lIns="0" tIns="0" rIns="0" bIns="0" rtlCol="0" anchor="ctr"/>
          <a:lstStyle/>
          <a:p>
            <a:pPr indent="0" marL="0">
              <a:buNone/>
            </a:pPr>
            <a:r>
              <a:rPr lang="en-US" sz="3200" b="1" dirty="0">
                <a:solidFill>
                  <a:srgbClr val="B14E4A"/>
                </a:solidFill>
                <a:latin typeface="Aptos" pitchFamily="34" charset="0"/>
                <a:ea typeface="Aptos" pitchFamily="34" charset="-122"/>
                <a:cs typeface="Aptos" pitchFamily="34" charset="-120"/>
              </a:rPr>
              <a:t>×</a:t>
            </a:r>
            <a:endParaRPr lang="en-US" sz="3200" dirty="0"/>
          </a:p>
        </p:txBody>
      </p:sp>
      <p:sp>
        <p:nvSpPr>
          <p:cNvPr id="25" name="Text 23"/>
          <p:cNvSpPr/>
          <p:nvPr/>
        </p:nvSpPr>
        <p:spPr>
          <a:xfrm>
            <a:off x="6903720" y="3035808"/>
            <a:ext cx="4334256" cy="502920"/>
          </a:xfrm>
          <a:prstGeom prst="rect">
            <a:avLst/>
          </a:prstGeom>
          <a:noFill/>
          <a:ln/>
        </p:spPr>
        <p:txBody>
          <a:bodyPr wrap="square" lIns="0" tIns="0" rIns="0" bIns="0" rtlCol="0" anchor="ctr"/>
          <a:lstStyle/>
          <a:p>
            <a:pPr indent="0" marL="0">
              <a:buNone/>
            </a:pPr>
            <a:r>
              <a:rPr lang="en-US" sz="2200" b="1" dirty="0">
                <a:solidFill>
                  <a:srgbClr val="B14E4A"/>
                </a:solidFill>
                <a:latin typeface="Aptos" pitchFamily="34" charset="0"/>
                <a:ea typeface="Aptos" pitchFamily="34" charset="-122"/>
                <a:cs typeface="Aptos" pitchFamily="34" charset="-120"/>
              </a:rPr>
              <a:t>ATTRIBUTION REMOVED</a:t>
            </a:r>
            <a:endParaRPr lang="en-US" sz="2200" dirty="0"/>
          </a:p>
        </p:txBody>
      </p:sp>
      <p:sp>
        <p:nvSpPr>
          <p:cNvPr id="26" name="Shape 24"/>
          <p:cNvSpPr/>
          <p:nvPr/>
        </p:nvSpPr>
        <p:spPr>
          <a:xfrm>
            <a:off x="694944" y="5468112"/>
            <a:ext cx="10625328" cy="612648"/>
          </a:xfrm>
          <a:prstGeom prst="rect">
            <a:avLst/>
          </a:prstGeom>
          <a:solidFill>
            <a:srgbClr val="E3EEEA"/>
          </a:solidFill>
          <a:ln w="8890">
            <a:solidFill>
              <a:srgbClr val="E3EEEA"/>
            </a:solidFill>
            <a:prstDash val="solid"/>
          </a:ln>
        </p:spPr>
      </p:sp>
      <p:sp>
        <p:nvSpPr>
          <p:cNvPr id="27" name="Text 25"/>
          <p:cNvSpPr/>
          <p:nvPr/>
        </p:nvSpPr>
        <p:spPr>
          <a:xfrm>
            <a:off x="896112" y="5632704"/>
            <a:ext cx="10241280" cy="283464"/>
          </a:xfrm>
          <a:prstGeom prst="rect">
            <a:avLst/>
          </a:prstGeom>
          <a:noFill/>
          <a:ln/>
        </p:spPr>
        <p:txBody>
          <a:bodyPr wrap="square" lIns="0" tIns="0" rIns="0" bIns="0" rtlCol="0" anchor="ctr"/>
          <a:lstStyle/>
          <a:p>
            <a:pPr indent="0" marL="0">
              <a:buNone/>
            </a:pPr>
            <a:r>
              <a:rPr lang="en-US" sz="1600" b="1" dirty="0">
                <a:solidFill>
                  <a:srgbClr val="162B38"/>
                </a:solidFill>
                <a:latin typeface="Aptos" pitchFamily="34" charset="0"/>
                <a:ea typeface="Aptos" pitchFamily="34" charset="-122"/>
                <a:cs typeface="Aptos" pitchFamily="34" charset="-120"/>
              </a:rPr>
              <a:t>Event: D.1.1.1pr / divisio / Jacobus de Arena / present in 1490 → absent in 1627</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III · 5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Return evidence to historians—and patterns to research</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Proposed comparison desk: link each event to both witnesses.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10</a:t>
            </a:r>
            <a:endParaRPr lang="en-US" sz="1000" dirty="0"/>
          </a:p>
        </p:txBody>
      </p:sp>
      <p:sp>
        <p:nvSpPr>
          <p:cNvPr id="8" name="Shape 6"/>
          <p:cNvSpPr/>
          <p:nvPr/>
        </p:nvSpPr>
        <p:spPr>
          <a:xfrm>
            <a:off x="640080" y="2304288"/>
            <a:ext cx="6949440" cy="3447288"/>
          </a:xfrm>
          <a:prstGeom prst="rect">
            <a:avLst/>
          </a:prstGeom>
          <a:solidFill>
            <a:srgbClr val="FFFFFF"/>
          </a:solidFill>
          <a:ln w="8890">
            <a:solidFill>
              <a:srgbClr val="FFFFFF"/>
            </a:solidFill>
            <a:prstDash val="solid"/>
          </a:ln>
        </p:spPr>
      </p:sp>
      <p:sp>
        <p:nvSpPr>
          <p:cNvPr id="9" name="Shape 7"/>
          <p:cNvSpPr/>
          <p:nvPr/>
        </p:nvSpPr>
        <p:spPr>
          <a:xfrm>
            <a:off x="640080" y="2304288"/>
            <a:ext cx="6949440" cy="438912"/>
          </a:xfrm>
          <a:prstGeom prst="rect">
            <a:avLst/>
          </a:prstGeom>
          <a:solidFill>
            <a:srgbClr val="162B38"/>
          </a:solidFill>
          <a:ln w="8890">
            <a:solidFill>
              <a:srgbClr val="162B38"/>
            </a:solidFill>
            <a:prstDash val="solid"/>
          </a:ln>
        </p:spPr>
      </p:sp>
      <p:sp>
        <p:nvSpPr>
          <p:cNvPr id="10" name="Text 8"/>
          <p:cNvSpPr/>
          <p:nvPr/>
        </p:nvSpPr>
        <p:spPr>
          <a:xfrm>
            <a:off x="832104" y="2432304"/>
            <a:ext cx="6547104" cy="182880"/>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D. 1.1.1pr   /   divisio   /   attribution removed</a:t>
            </a:r>
            <a:endParaRPr lang="en-US" sz="1200" dirty="0"/>
          </a:p>
        </p:txBody>
      </p:sp>
      <p:pic>
        <p:nvPicPr>
          <p:cNvPr id="11" name="Image 0" descr="C:\Users\conra\Desktop\latinrproj\submission\petrius_interview_20261007\presentation\assets\divisio_1490.png">    </p:cNvPr>
          <p:cNvPicPr>
            <a:picLocks noChangeAspect="1"/>
          </p:cNvPicPr>
          <p:nvPr/>
        </p:nvPicPr>
        <p:blipFill>
          <a:blip r:embed="rId1"/>
          <a:stretch>
            <a:fillRect/>
          </a:stretch>
        </p:blipFill>
        <p:spPr>
          <a:xfrm>
            <a:off x="859536" y="3026287"/>
            <a:ext cx="3108960" cy="960874"/>
          </a:xfrm>
          <a:prstGeom prst="rect">
            <a:avLst/>
          </a:prstGeom>
        </p:spPr>
      </p:pic>
      <p:pic>
        <p:nvPicPr>
          <p:cNvPr id="12" name="Image 1" descr="C:\Users\conra\Desktop\latinrproj\submission\petrius_interview_20261007\presentation\assets\divisio_1627.png">    </p:cNvPr>
          <p:cNvPicPr>
            <a:picLocks noChangeAspect="1"/>
          </p:cNvPicPr>
          <p:nvPr/>
        </p:nvPicPr>
        <p:blipFill>
          <a:blip r:embed="rId2"/>
          <a:stretch>
            <a:fillRect/>
          </a:stretch>
        </p:blipFill>
        <p:spPr>
          <a:xfrm>
            <a:off x="4187952" y="2993637"/>
            <a:ext cx="3108960" cy="1026174"/>
          </a:xfrm>
          <a:prstGeom prst="rect">
            <a:avLst/>
          </a:prstGeom>
        </p:spPr>
      </p:pic>
      <p:sp>
        <p:nvSpPr>
          <p:cNvPr id="13" name="Text 9"/>
          <p:cNvSpPr/>
          <p:nvPr/>
        </p:nvSpPr>
        <p:spPr>
          <a:xfrm>
            <a:off x="905256" y="4325112"/>
            <a:ext cx="6364224" cy="704088"/>
          </a:xfrm>
          <a:prstGeom prst="rect">
            <a:avLst/>
          </a:prstGeom>
          <a:noFill/>
          <a:ln/>
        </p:spPr>
        <p:txBody>
          <a:bodyPr wrap="square" lIns="0" tIns="0" rIns="0" bIns="0" rtlCol="0" anchor="ctr"/>
          <a:lstStyle/>
          <a:p>
            <a:pPr indent="0" marL="0">
              <a:buNone/>
            </a:pPr>
            <a:r>
              <a:rPr lang="en-US" sz="1900" dirty="0">
                <a:solidFill>
                  <a:srgbClr val="162B38"/>
                </a:solidFill>
                <a:latin typeface="Aptos" pitchFamily="34" charset="0"/>
                <a:ea typeface="Aptos" pitchFamily="34" charset="-122"/>
                <a:cs typeface="Aptos" pitchFamily="34" charset="-120"/>
              </a:rPr>
              <a:t>1490: Jacobus de Arena; Bartolus</a:t>
            </a:r>
            <a:endParaRPr lang="en-US" sz="1900" dirty="0"/>
          </a:p>
          <a:p>
            <a:pPr indent="0" marL="0">
              <a:buNone/>
            </a:pPr>
            <a:r>
              <a:rPr lang="en-US" sz="1900" dirty="0">
                <a:solidFill>
                  <a:srgbClr val="162B38"/>
                </a:solidFill>
                <a:latin typeface="Aptos" pitchFamily="34" charset="0"/>
                <a:ea typeface="Aptos" pitchFamily="34" charset="-122"/>
                <a:cs typeface="Aptos" pitchFamily="34" charset="-120"/>
              </a:rPr>
              <a:t>1627: Bartolus</a:t>
            </a:r>
            <a:endParaRPr lang="en-US" sz="1900" dirty="0"/>
          </a:p>
        </p:txBody>
      </p:sp>
      <p:sp>
        <p:nvSpPr>
          <p:cNvPr id="14" name="Shape 10"/>
          <p:cNvSpPr/>
          <p:nvPr/>
        </p:nvSpPr>
        <p:spPr>
          <a:xfrm>
            <a:off x="914400" y="5202936"/>
            <a:ext cx="1289304" cy="292608"/>
          </a:xfrm>
          <a:prstGeom prst="rect">
            <a:avLst/>
          </a:prstGeom>
          <a:solidFill>
            <a:srgbClr val="087F8C"/>
          </a:solidFill>
          <a:ln w="8890">
            <a:solidFill>
              <a:srgbClr val="087F8C"/>
            </a:solidFill>
            <a:prstDash val="solid"/>
          </a:ln>
        </p:spPr>
      </p:sp>
      <p:sp>
        <p:nvSpPr>
          <p:cNvPr id="15" name="Text 11"/>
          <p:cNvSpPr/>
          <p:nvPr/>
        </p:nvSpPr>
        <p:spPr>
          <a:xfrm>
            <a:off x="987552" y="5230368"/>
            <a:ext cx="114300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CONFIRM</a:t>
            </a:r>
            <a:endParaRPr lang="en-US" sz="1000" dirty="0"/>
          </a:p>
        </p:txBody>
      </p:sp>
      <p:sp>
        <p:nvSpPr>
          <p:cNvPr id="16" name="Shape 12"/>
          <p:cNvSpPr/>
          <p:nvPr/>
        </p:nvSpPr>
        <p:spPr>
          <a:xfrm>
            <a:off x="2359152" y="5202936"/>
            <a:ext cx="1353312" cy="292608"/>
          </a:xfrm>
          <a:prstGeom prst="rect">
            <a:avLst/>
          </a:prstGeom>
          <a:solidFill>
            <a:srgbClr val="935BA5"/>
          </a:solidFill>
          <a:ln w="8890">
            <a:solidFill>
              <a:srgbClr val="935BA5"/>
            </a:solidFill>
            <a:prstDash val="solid"/>
          </a:ln>
        </p:spPr>
      </p:sp>
      <p:sp>
        <p:nvSpPr>
          <p:cNvPr id="17" name="Text 13"/>
          <p:cNvSpPr/>
          <p:nvPr/>
        </p:nvSpPr>
        <p:spPr>
          <a:xfrm>
            <a:off x="2432304" y="5230368"/>
            <a:ext cx="1207008"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CORRECT</a:t>
            </a:r>
            <a:endParaRPr lang="en-US" sz="1000" dirty="0"/>
          </a:p>
        </p:txBody>
      </p:sp>
      <p:sp>
        <p:nvSpPr>
          <p:cNvPr id="18" name="Shape 14"/>
          <p:cNvSpPr/>
          <p:nvPr/>
        </p:nvSpPr>
        <p:spPr>
          <a:xfrm>
            <a:off x="3877056" y="5202936"/>
            <a:ext cx="2112264" cy="292608"/>
          </a:xfrm>
          <a:prstGeom prst="rect">
            <a:avLst/>
          </a:prstGeom>
          <a:solidFill>
            <a:srgbClr val="162B38"/>
          </a:solidFill>
          <a:ln w="8890">
            <a:solidFill>
              <a:srgbClr val="162B38"/>
            </a:solidFill>
            <a:prstDash val="solid"/>
          </a:ln>
        </p:spPr>
      </p:sp>
      <p:sp>
        <p:nvSpPr>
          <p:cNvPr id="19" name="Text 15"/>
          <p:cNvSpPr/>
          <p:nvPr/>
        </p:nvSpPr>
        <p:spPr>
          <a:xfrm>
            <a:off x="3950208" y="5230368"/>
            <a:ext cx="1965960" cy="228600"/>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EXPORT EVIDENCE</a:t>
            </a:r>
            <a:endParaRPr lang="en-US" sz="1000" dirty="0"/>
          </a:p>
        </p:txBody>
      </p:sp>
      <p:sp>
        <p:nvSpPr>
          <p:cNvPr id="20" name="Text 16"/>
          <p:cNvSpPr/>
          <p:nvPr/>
        </p:nvSpPr>
        <p:spPr>
          <a:xfrm>
            <a:off x="8028432" y="2386584"/>
            <a:ext cx="3593592" cy="402336"/>
          </a:xfrm>
          <a:prstGeom prst="rect">
            <a:avLst/>
          </a:prstGeom>
          <a:noFill/>
          <a:ln/>
        </p:spPr>
        <p:txBody>
          <a:bodyPr wrap="square" lIns="0" tIns="0" rIns="0" bIns="0" rtlCol="0" anchor="ctr"/>
          <a:lstStyle/>
          <a:p>
            <a:pPr indent="0" marL="0">
              <a:buNone/>
            </a:pPr>
            <a:r>
              <a:rPr lang="en-US" sz="2400" b="1" dirty="0">
                <a:solidFill>
                  <a:srgbClr val="B14E4A"/>
                </a:solidFill>
                <a:latin typeface="Aptos" pitchFamily="34" charset="0"/>
                <a:ea typeface="Aptos" pitchFamily="34" charset="-122"/>
                <a:cs typeface="Aptos" pitchFamily="34" charset="-120"/>
              </a:rPr>
              <a:t>Main risk</a:t>
            </a:r>
            <a:endParaRPr lang="en-US" sz="2400" dirty="0"/>
          </a:p>
        </p:txBody>
      </p:sp>
      <p:sp>
        <p:nvSpPr>
          <p:cNvPr id="21" name="Text 17"/>
          <p:cNvSpPr/>
          <p:nvPr/>
        </p:nvSpPr>
        <p:spPr>
          <a:xfrm>
            <a:off x="8028432" y="2944368"/>
            <a:ext cx="3593592" cy="1078992"/>
          </a:xfrm>
          <a:prstGeom prst="rect">
            <a:avLst/>
          </a:prstGeom>
          <a:noFill/>
          <a:ln/>
        </p:spPr>
        <p:txBody>
          <a:bodyPr wrap="square" lIns="0" tIns="0" rIns="0" bIns="0" rtlCol="0" anchor="ctr"/>
          <a:lstStyle/>
          <a:p>
            <a:pPr indent="0" marL="0">
              <a:buNone/>
            </a:pPr>
            <a:r>
              <a:rPr lang="en-US" sz="2500" b="1" dirty="0">
                <a:solidFill>
                  <a:srgbClr val="162B38"/>
                </a:solidFill>
                <a:latin typeface="Aptos" pitchFamily="34" charset="0"/>
                <a:ea typeface="Aptos" pitchFamily="34" charset="-122"/>
                <a:cs typeface="Aptos" pitchFamily="34" charset="-120"/>
              </a:rPr>
              <a:t>OCR loss masquerades</a:t>
            </a:r>
            <a:endParaRPr lang="en-US" sz="2500" dirty="0"/>
          </a:p>
          <a:p>
            <a:pPr indent="0" marL="0">
              <a:buNone/>
            </a:pPr>
            <a:r>
              <a:rPr lang="en-US" sz="2500" b="1" dirty="0">
                <a:solidFill>
                  <a:srgbClr val="162B38"/>
                </a:solidFill>
                <a:latin typeface="Aptos" pitchFamily="34" charset="0"/>
                <a:ea typeface="Aptos" pitchFamily="34" charset="-122"/>
                <a:cs typeface="Aptos" pitchFamily="34" charset="-120"/>
              </a:rPr>
              <a:t>as historical deletion.</a:t>
            </a:r>
            <a:endParaRPr lang="en-US" sz="2500" dirty="0"/>
          </a:p>
        </p:txBody>
      </p:sp>
      <p:sp>
        <p:nvSpPr>
          <p:cNvPr id="22" name="Text 18"/>
          <p:cNvSpPr/>
          <p:nvPr/>
        </p:nvSpPr>
        <p:spPr>
          <a:xfrm>
            <a:off x="8055864" y="4370832"/>
            <a:ext cx="3529584" cy="1078992"/>
          </a:xfrm>
          <a:prstGeom prst="rect">
            <a:avLst/>
          </a:prstGeom>
          <a:noFill/>
          <a:ln/>
        </p:spPr>
        <p:txBody>
          <a:bodyPr wrap="square" lIns="0" tIns="0" rIns="0" bIns="0" rtlCol="0" anchor="ctr"/>
          <a:lstStyle/>
          <a:p>
            <a:pPr indent="0" marL="0">
              <a:buNone/>
            </a:pPr>
            <a:r>
              <a:rPr lang="en-US" sz="1800" dirty="0">
                <a:solidFill>
                  <a:srgbClr val="566570"/>
                </a:solidFill>
                <a:latin typeface="Aptos" pitchFamily="34" charset="0"/>
                <a:ea typeface="Aptos" pitchFamily="34" charset="-122"/>
                <a:cs typeface="Aptos" pitchFamily="34" charset="-120"/>
              </a:rPr>
              <a:t>Inspect the complete source unit;</a:t>
            </a:r>
            <a:endParaRPr lang="en-US" sz="1800" dirty="0"/>
          </a:p>
          <a:p>
            <a:pPr indent="0" marL="0">
              <a:buNone/>
            </a:pPr>
            <a:r>
              <a:rPr lang="en-US" sz="1800" dirty="0">
                <a:solidFill>
                  <a:srgbClr val="566570"/>
                </a:solidFill>
                <a:latin typeface="Aptos" pitchFamily="34" charset="0"/>
                <a:ea typeface="Aptos" pitchFamily="34" charset="-122"/>
                <a:cs typeface="Aptos" pitchFamily="34" charset="-120"/>
              </a:rPr>
              <a:t>re-recognise or transcribe</a:t>
            </a:r>
            <a:endParaRPr lang="en-US" sz="1800" dirty="0"/>
          </a:p>
          <a:p>
            <a:pPr indent="0" marL="0">
              <a:buNone/>
            </a:pPr>
            <a:r>
              <a:rPr lang="en-US" sz="1800" dirty="0">
                <a:solidFill>
                  <a:srgbClr val="566570"/>
                </a:solidFill>
                <a:latin typeface="Aptos" pitchFamily="34" charset="0"/>
                <a:ea typeface="Aptos" pitchFamily="34" charset="-122"/>
                <a:cs typeface="Aptos" pitchFamily="34" charset="-120"/>
              </a:rPr>
              <a:t>the disputed span.</a:t>
            </a:r>
            <a:endParaRPr lang="en-US" sz="1800" dirty="0"/>
          </a:p>
        </p:txBody>
      </p:sp>
      <p:sp>
        <p:nvSpPr>
          <p:cNvPr id="23" name="Text 19"/>
          <p:cNvSpPr/>
          <p:nvPr/>
        </p:nvSpPr>
        <p:spPr>
          <a:xfrm>
            <a:off x="676656" y="6080760"/>
            <a:ext cx="10972800" cy="283464"/>
          </a:xfrm>
          <a:prstGeom prst="rect">
            <a:avLst/>
          </a:prstGeom>
          <a:noFill/>
          <a:ln/>
        </p:spPr>
        <p:txBody>
          <a:bodyPr wrap="square" lIns="0" tIns="0" rIns="0" bIns="0" rtlCol="0" anchor="ctr"/>
          <a:lstStyle/>
          <a:p>
            <a:pPr indent="0" marL="0">
              <a:buNone/>
            </a:pPr>
            <a:r>
              <a:rPr lang="en-US" sz="1600" b="1" dirty="0">
                <a:solidFill>
                  <a:srgbClr val="087F8C"/>
                </a:solidFill>
                <a:latin typeface="Aptos" pitchFamily="34" charset="0"/>
                <a:ea typeface="Aptos" pitchFamily="34" charset="-122"/>
                <a:cs typeface="Aptos" pitchFamily="34" charset="-120"/>
              </a:rPr>
              <a:t>Research payoff: where, when and in which editorial families did attribution disappear?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IV · 1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A 360-page pilot across six editions</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1 December 2026 → 31 May 2027 · matched legal loci + contrasting page structures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58952" y="2295144"/>
            <a:ext cx="1371600" cy="274320"/>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Work</a:t>
            </a:r>
            <a:endParaRPr lang="en-US" sz="1300" dirty="0"/>
          </a:p>
        </p:txBody>
      </p:sp>
      <p:sp>
        <p:nvSpPr>
          <p:cNvPr id="9" name="Text 7"/>
          <p:cNvSpPr/>
          <p:nvPr/>
        </p:nvSpPr>
        <p:spPr>
          <a:xfrm>
            <a:off x="2468880" y="2295144"/>
            <a:ext cx="2194560" cy="274320"/>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Edition</a:t>
            </a:r>
            <a:endParaRPr lang="en-US" sz="1300" dirty="0"/>
          </a:p>
        </p:txBody>
      </p:sp>
      <p:sp>
        <p:nvSpPr>
          <p:cNvPr id="10" name="Text 8"/>
          <p:cNvSpPr/>
          <p:nvPr/>
        </p:nvSpPr>
        <p:spPr>
          <a:xfrm>
            <a:off x="4910328" y="2295144"/>
            <a:ext cx="3474720" cy="274320"/>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Purpose</a:t>
            </a:r>
            <a:endParaRPr lang="en-US" sz="1300" dirty="0"/>
          </a:p>
        </p:txBody>
      </p:sp>
      <p:sp>
        <p:nvSpPr>
          <p:cNvPr id="11" name="Text 9"/>
          <p:cNvSpPr/>
          <p:nvPr/>
        </p:nvSpPr>
        <p:spPr>
          <a:xfrm>
            <a:off x="8723376" y="2295144"/>
            <a:ext cx="1005840" cy="274320"/>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Pages</a:t>
            </a:r>
            <a:endParaRPr lang="en-US" sz="1300" dirty="0"/>
          </a:p>
        </p:txBody>
      </p:sp>
      <p:sp>
        <p:nvSpPr>
          <p:cNvPr id="12" name="Shape 10"/>
          <p:cNvSpPr/>
          <p:nvPr/>
        </p:nvSpPr>
        <p:spPr>
          <a:xfrm>
            <a:off x="640080" y="2706624"/>
            <a:ext cx="9573768" cy="347472"/>
          </a:xfrm>
          <a:prstGeom prst="rect">
            <a:avLst/>
          </a:prstGeom>
          <a:solidFill>
            <a:srgbClr val="FFFFFF"/>
          </a:solidFill>
          <a:ln w="8890">
            <a:solidFill>
              <a:srgbClr val="FFFFFF"/>
            </a:solidFill>
            <a:prstDash val="solid"/>
          </a:ln>
        </p:spPr>
      </p:sp>
      <p:sp>
        <p:nvSpPr>
          <p:cNvPr id="13" name="Text 11"/>
          <p:cNvSpPr/>
          <p:nvPr/>
        </p:nvSpPr>
        <p:spPr>
          <a:xfrm>
            <a:off x="758952" y="2770632"/>
            <a:ext cx="137160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Digest</a:t>
            </a:r>
            <a:endParaRPr lang="en-US" sz="1500" dirty="0"/>
          </a:p>
        </p:txBody>
      </p:sp>
      <p:sp>
        <p:nvSpPr>
          <p:cNvPr id="14" name="Text 12"/>
          <p:cNvSpPr/>
          <p:nvPr/>
        </p:nvSpPr>
        <p:spPr>
          <a:xfrm>
            <a:off x="2468880" y="2770632"/>
            <a:ext cx="219456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Venice 1490</a:t>
            </a:r>
            <a:endParaRPr lang="en-US" sz="1500" dirty="0"/>
          </a:p>
        </p:txBody>
      </p:sp>
      <p:sp>
        <p:nvSpPr>
          <p:cNvPr id="15" name="Text 13"/>
          <p:cNvSpPr/>
          <p:nvPr/>
        </p:nvSpPr>
        <p:spPr>
          <a:xfrm>
            <a:off x="4910328" y="2770632"/>
            <a:ext cx="347472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Gothic + gloss</a:t>
            </a:r>
            <a:endParaRPr lang="en-US" sz="1500" dirty="0"/>
          </a:p>
        </p:txBody>
      </p:sp>
      <p:sp>
        <p:nvSpPr>
          <p:cNvPr id="16" name="Text 14"/>
          <p:cNvSpPr/>
          <p:nvPr/>
        </p:nvSpPr>
        <p:spPr>
          <a:xfrm>
            <a:off x="8723376" y="2770632"/>
            <a:ext cx="1005840" cy="219456"/>
          </a:xfrm>
          <a:prstGeom prst="rect">
            <a:avLst/>
          </a:prstGeom>
          <a:noFill/>
          <a:ln/>
        </p:spPr>
        <p:txBody>
          <a:bodyPr wrap="square" lIns="0" tIns="0" rIns="0" bIns="0" rtlCol="0" anchor="ctr"/>
          <a:lstStyle/>
          <a:p>
            <a:pPr indent="0" marL="0">
              <a:buNone/>
            </a:pPr>
            <a:r>
              <a:rPr lang="en-US" sz="1500" b="1" dirty="0">
                <a:solidFill>
                  <a:srgbClr val="087F8C"/>
                </a:solidFill>
                <a:latin typeface="Aptos" pitchFamily="34" charset="0"/>
                <a:ea typeface="Aptos" pitchFamily="34" charset="-122"/>
                <a:cs typeface="Aptos" pitchFamily="34" charset="-120"/>
              </a:rPr>
              <a:t>60</a:t>
            </a:r>
            <a:endParaRPr lang="en-US" sz="1500" dirty="0"/>
          </a:p>
        </p:txBody>
      </p:sp>
      <p:sp>
        <p:nvSpPr>
          <p:cNvPr id="17" name="Shape 15"/>
          <p:cNvSpPr/>
          <p:nvPr/>
        </p:nvSpPr>
        <p:spPr>
          <a:xfrm>
            <a:off x="640080" y="3099816"/>
            <a:ext cx="9573768" cy="347472"/>
          </a:xfrm>
          <a:prstGeom prst="rect">
            <a:avLst/>
          </a:prstGeom>
          <a:solidFill>
            <a:srgbClr val="F4F1E9"/>
          </a:solidFill>
          <a:ln w="8890">
            <a:solidFill>
              <a:srgbClr val="F4F1E9"/>
            </a:solidFill>
            <a:prstDash val="solid"/>
          </a:ln>
        </p:spPr>
      </p:sp>
      <p:sp>
        <p:nvSpPr>
          <p:cNvPr id="18" name="Text 16"/>
          <p:cNvSpPr/>
          <p:nvPr/>
        </p:nvSpPr>
        <p:spPr>
          <a:xfrm>
            <a:off x="758952" y="3163824"/>
            <a:ext cx="137160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Digest</a:t>
            </a:r>
            <a:endParaRPr lang="en-US" sz="1500" dirty="0"/>
          </a:p>
        </p:txBody>
      </p:sp>
      <p:sp>
        <p:nvSpPr>
          <p:cNvPr id="19" name="Text 17"/>
          <p:cNvSpPr/>
          <p:nvPr/>
        </p:nvSpPr>
        <p:spPr>
          <a:xfrm>
            <a:off x="2468880" y="3163824"/>
            <a:ext cx="219456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Lyon 1569</a:t>
            </a:r>
            <a:endParaRPr lang="en-US" sz="1500" dirty="0"/>
          </a:p>
        </p:txBody>
      </p:sp>
      <p:sp>
        <p:nvSpPr>
          <p:cNvPr id="20" name="Text 18"/>
          <p:cNvSpPr/>
          <p:nvPr/>
        </p:nvSpPr>
        <p:spPr>
          <a:xfrm>
            <a:off x="4910328" y="3163824"/>
            <a:ext cx="347472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Roman + gloss</a:t>
            </a:r>
            <a:endParaRPr lang="en-US" sz="1500" dirty="0"/>
          </a:p>
        </p:txBody>
      </p:sp>
      <p:sp>
        <p:nvSpPr>
          <p:cNvPr id="21" name="Text 19"/>
          <p:cNvSpPr/>
          <p:nvPr/>
        </p:nvSpPr>
        <p:spPr>
          <a:xfrm>
            <a:off x="8723376" y="3163824"/>
            <a:ext cx="1005840" cy="219456"/>
          </a:xfrm>
          <a:prstGeom prst="rect">
            <a:avLst/>
          </a:prstGeom>
          <a:noFill/>
          <a:ln/>
        </p:spPr>
        <p:txBody>
          <a:bodyPr wrap="square" lIns="0" tIns="0" rIns="0" bIns="0" rtlCol="0" anchor="ctr"/>
          <a:lstStyle/>
          <a:p>
            <a:pPr indent="0" marL="0">
              <a:buNone/>
            </a:pPr>
            <a:r>
              <a:rPr lang="en-US" sz="1500" b="1" dirty="0">
                <a:solidFill>
                  <a:srgbClr val="087F8C"/>
                </a:solidFill>
                <a:latin typeface="Aptos" pitchFamily="34" charset="0"/>
                <a:ea typeface="Aptos" pitchFamily="34" charset="-122"/>
                <a:cs typeface="Aptos" pitchFamily="34" charset="-120"/>
              </a:rPr>
              <a:t>60</a:t>
            </a:r>
            <a:endParaRPr lang="en-US" sz="1500" dirty="0"/>
          </a:p>
        </p:txBody>
      </p:sp>
      <p:sp>
        <p:nvSpPr>
          <p:cNvPr id="22" name="Shape 20"/>
          <p:cNvSpPr/>
          <p:nvPr/>
        </p:nvSpPr>
        <p:spPr>
          <a:xfrm>
            <a:off x="640080" y="3493008"/>
            <a:ext cx="9573768" cy="347472"/>
          </a:xfrm>
          <a:prstGeom prst="rect">
            <a:avLst/>
          </a:prstGeom>
          <a:solidFill>
            <a:srgbClr val="FFFFFF"/>
          </a:solidFill>
          <a:ln w="8890">
            <a:solidFill>
              <a:srgbClr val="FFFFFF"/>
            </a:solidFill>
            <a:prstDash val="solid"/>
          </a:ln>
        </p:spPr>
      </p:sp>
      <p:sp>
        <p:nvSpPr>
          <p:cNvPr id="23" name="Text 21"/>
          <p:cNvSpPr/>
          <p:nvPr/>
        </p:nvSpPr>
        <p:spPr>
          <a:xfrm>
            <a:off x="758952" y="3557016"/>
            <a:ext cx="137160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Digest</a:t>
            </a:r>
            <a:endParaRPr lang="en-US" sz="1500" dirty="0"/>
          </a:p>
        </p:txBody>
      </p:sp>
      <p:sp>
        <p:nvSpPr>
          <p:cNvPr id="24" name="Text 22"/>
          <p:cNvSpPr/>
          <p:nvPr/>
        </p:nvSpPr>
        <p:spPr>
          <a:xfrm>
            <a:off x="2468880" y="3557016"/>
            <a:ext cx="219456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Venice 1606</a:t>
            </a:r>
            <a:endParaRPr lang="en-US" sz="1500" dirty="0"/>
          </a:p>
        </p:txBody>
      </p:sp>
      <p:sp>
        <p:nvSpPr>
          <p:cNvPr id="25" name="Text 23"/>
          <p:cNvSpPr/>
          <p:nvPr/>
        </p:nvSpPr>
        <p:spPr>
          <a:xfrm>
            <a:off x="4910328" y="3557016"/>
            <a:ext cx="347472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Roman + Greek notes</a:t>
            </a:r>
            <a:endParaRPr lang="en-US" sz="1500" dirty="0"/>
          </a:p>
        </p:txBody>
      </p:sp>
      <p:sp>
        <p:nvSpPr>
          <p:cNvPr id="26" name="Text 24"/>
          <p:cNvSpPr/>
          <p:nvPr/>
        </p:nvSpPr>
        <p:spPr>
          <a:xfrm>
            <a:off x="8723376" y="3557016"/>
            <a:ext cx="1005840" cy="219456"/>
          </a:xfrm>
          <a:prstGeom prst="rect">
            <a:avLst/>
          </a:prstGeom>
          <a:noFill/>
          <a:ln/>
        </p:spPr>
        <p:txBody>
          <a:bodyPr wrap="square" lIns="0" tIns="0" rIns="0" bIns="0" rtlCol="0" anchor="ctr"/>
          <a:lstStyle/>
          <a:p>
            <a:pPr indent="0" marL="0">
              <a:buNone/>
            </a:pPr>
            <a:r>
              <a:rPr lang="en-US" sz="1500" b="1" dirty="0">
                <a:solidFill>
                  <a:srgbClr val="087F8C"/>
                </a:solidFill>
                <a:latin typeface="Aptos" pitchFamily="34" charset="0"/>
                <a:ea typeface="Aptos" pitchFamily="34" charset="-122"/>
                <a:cs typeface="Aptos" pitchFamily="34" charset="-120"/>
              </a:rPr>
              <a:t>60</a:t>
            </a:r>
            <a:endParaRPr lang="en-US" sz="1500" dirty="0"/>
          </a:p>
        </p:txBody>
      </p:sp>
      <p:sp>
        <p:nvSpPr>
          <p:cNvPr id="27" name="Shape 25"/>
          <p:cNvSpPr/>
          <p:nvPr/>
        </p:nvSpPr>
        <p:spPr>
          <a:xfrm>
            <a:off x="640080" y="3886200"/>
            <a:ext cx="9573768" cy="347472"/>
          </a:xfrm>
          <a:prstGeom prst="rect">
            <a:avLst/>
          </a:prstGeom>
          <a:solidFill>
            <a:srgbClr val="F4F1E9"/>
          </a:solidFill>
          <a:ln w="8890">
            <a:solidFill>
              <a:srgbClr val="F4F1E9"/>
            </a:solidFill>
            <a:prstDash val="solid"/>
          </a:ln>
        </p:spPr>
      </p:sp>
      <p:sp>
        <p:nvSpPr>
          <p:cNvPr id="28" name="Text 26"/>
          <p:cNvSpPr/>
          <p:nvPr/>
        </p:nvSpPr>
        <p:spPr>
          <a:xfrm>
            <a:off x="758952" y="3950208"/>
            <a:ext cx="137160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Digest</a:t>
            </a:r>
            <a:endParaRPr lang="en-US" sz="1500" dirty="0"/>
          </a:p>
        </p:txBody>
      </p:sp>
      <p:sp>
        <p:nvSpPr>
          <p:cNvPr id="29" name="Text 27"/>
          <p:cNvSpPr/>
          <p:nvPr/>
        </p:nvSpPr>
        <p:spPr>
          <a:xfrm>
            <a:off x="2468880" y="3950208"/>
            <a:ext cx="219456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Lyon 1627</a:t>
            </a:r>
            <a:endParaRPr lang="en-US" sz="1500" dirty="0"/>
          </a:p>
        </p:txBody>
      </p:sp>
      <p:sp>
        <p:nvSpPr>
          <p:cNvPr id="30" name="Text 28"/>
          <p:cNvSpPr/>
          <p:nvPr/>
        </p:nvSpPr>
        <p:spPr>
          <a:xfrm>
            <a:off x="4910328" y="3950208"/>
            <a:ext cx="347472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Roman + dense apparatus</a:t>
            </a:r>
            <a:endParaRPr lang="en-US" sz="1500" dirty="0"/>
          </a:p>
        </p:txBody>
      </p:sp>
      <p:sp>
        <p:nvSpPr>
          <p:cNvPr id="31" name="Text 29"/>
          <p:cNvSpPr/>
          <p:nvPr/>
        </p:nvSpPr>
        <p:spPr>
          <a:xfrm>
            <a:off x="8723376" y="3950208"/>
            <a:ext cx="1005840" cy="219456"/>
          </a:xfrm>
          <a:prstGeom prst="rect">
            <a:avLst/>
          </a:prstGeom>
          <a:noFill/>
          <a:ln/>
        </p:spPr>
        <p:txBody>
          <a:bodyPr wrap="square" lIns="0" tIns="0" rIns="0" bIns="0" rtlCol="0" anchor="ctr"/>
          <a:lstStyle/>
          <a:p>
            <a:pPr indent="0" marL="0">
              <a:buNone/>
            </a:pPr>
            <a:r>
              <a:rPr lang="en-US" sz="1500" b="1" dirty="0">
                <a:solidFill>
                  <a:srgbClr val="087F8C"/>
                </a:solidFill>
                <a:latin typeface="Aptos" pitchFamily="34" charset="0"/>
                <a:ea typeface="Aptos" pitchFamily="34" charset="-122"/>
                <a:cs typeface="Aptos" pitchFamily="34" charset="-120"/>
              </a:rPr>
              <a:t>60</a:t>
            </a:r>
            <a:endParaRPr lang="en-US" sz="1500" dirty="0"/>
          </a:p>
        </p:txBody>
      </p:sp>
      <p:sp>
        <p:nvSpPr>
          <p:cNvPr id="32" name="Shape 30"/>
          <p:cNvSpPr/>
          <p:nvPr/>
        </p:nvSpPr>
        <p:spPr>
          <a:xfrm>
            <a:off x="640080" y="4279392"/>
            <a:ext cx="9573768" cy="347472"/>
          </a:xfrm>
          <a:prstGeom prst="rect">
            <a:avLst/>
          </a:prstGeom>
          <a:solidFill>
            <a:srgbClr val="FFFFFF"/>
          </a:solidFill>
          <a:ln w="8890">
            <a:solidFill>
              <a:srgbClr val="FFFFFF"/>
            </a:solidFill>
            <a:prstDash val="solid"/>
          </a:ln>
        </p:spPr>
      </p:sp>
      <p:sp>
        <p:nvSpPr>
          <p:cNvPr id="33" name="Text 31"/>
          <p:cNvSpPr/>
          <p:nvPr/>
        </p:nvSpPr>
        <p:spPr>
          <a:xfrm>
            <a:off x="758952" y="4343400"/>
            <a:ext cx="137160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Decretals</a:t>
            </a:r>
            <a:endParaRPr lang="en-US" sz="1500" dirty="0"/>
          </a:p>
        </p:txBody>
      </p:sp>
      <p:sp>
        <p:nvSpPr>
          <p:cNvPr id="34" name="Text 32"/>
          <p:cNvSpPr/>
          <p:nvPr/>
        </p:nvSpPr>
        <p:spPr>
          <a:xfrm>
            <a:off x="2468880" y="4343400"/>
            <a:ext cx="219456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Venice 1494</a:t>
            </a:r>
            <a:endParaRPr lang="en-US" sz="1500" dirty="0"/>
          </a:p>
        </p:txBody>
      </p:sp>
      <p:sp>
        <p:nvSpPr>
          <p:cNvPr id="35" name="Text 33"/>
          <p:cNvSpPr/>
          <p:nvPr/>
        </p:nvSpPr>
        <p:spPr>
          <a:xfrm>
            <a:off x="4910328" y="4343400"/>
            <a:ext cx="347472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Gothic + gloss</a:t>
            </a:r>
            <a:endParaRPr lang="en-US" sz="1500" dirty="0"/>
          </a:p>
        </p:txBody>
      </p:sp>
      <p:sp>
        <p:nvSpPr>
          <p:cNvPr id="36" name="Text 34"/>
          <p:cNvSpPr/>
          <p:nvPr/>
        </p:nvSpPr>
        <p:spPr>
          <a:xfrm>
            <a:off x="8723376" y="4343400"/>
            <a:ext cx="1005840" cy="219456"/>
          </a:xfrm>
          <a:prstGeom prst="rect">
            <a:avLst/>
          </a:prstGeom>
          <a:noFill/>
          <a:ln/>
        </p:spPr>
        <p:txBody>
          <a:bodyPr wrap="square" lIns="0" tIns="0" rIns="0" bIns="0" rtlCol="0" anchor="ctr"/>
          <a:lstStyle/>
          <a:p>
            <a:pPr indent="0" marL="0">
              <a:buNone/>
            </a:pPr>
            <a:r>
              <a:rPr lang="en-US" sz="1500" b="1" dirty="0">
                <a:solidFill>
                  <a:srgbClr val="087F8C"/>
                </a:solidFill>
                <a:latin typeface="Aptos" pitchFamily="34" charset="0"/>
                <a:ea typeface="Aptos" pitchFamily="34" charset="-122"/>
                <a:cs typeface="Aptos" pitchFamily="34" charset="-120"/>
              </a:rPr>
              <a:t>60</a:t>
            </a:r>
            <a:endParaRPr lang="en-US" sz="1500" dirty="0"/>
          </a:p>
        </p:txBody>
      </p:sp>
      <p:sp>
        <p:nvSpPr>
          <p:cNvPr id="37" name="Shape 35"/>
          <p:cNvSpPr/>
          <p:nvPr/>
        </p:nvSpPr>
        <p:spPr>
          <a:xfrm>
            <a:off x="640080" y="4672584"/>
            <a:ext cx="9573768" cy="347472"/>
          </a:xfrm>
          <a:prstGeom prst="rect">
            <a:avLst/>
          </a:prstGeom>
          <a:solidFill>
            <a:srgbClr val="F4F1E9"/>
          </a:solidFill>
          <a:ln w="8890">
            <a:solidFill>
              <a:srgbClr val="F4F1E9"/>
            </a:solidFill>
            <a:prstDash val="solid"/>
          </a:ln>
        </p:spPr>
      </p:sp>
      <p:sp>
        <p:nvSpPr>
          <p:cNvPr id="38" name="Text 36"/>
          <p:cNvSpPr/>
          <p:nvPr/>
        </p:nvSpPr>
        <p:spPr>
          <a:xfrm>
            <a:off x="758952" y="4736592"/>
            <a:ext cx="137160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Decretals</a:t>
            </a:r>
            <a:endParaRPr lang="en-US" sz="1500" dirty="0"/>
          </a:p>
        </p:txBody>
      </p:sp>
      <p:sp>
        <p:nvSpPr>
          <p:cNvPr id="39" name="Text 37"/>
          <p:cNvSpPr/>
          <p:nvPr/>
        </p:nvSpPr>
        <p:spPr>
          <a:xfrm>
            <a:off x="2468880" y="4736592"/>
            <a:ext cx="219456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Rome 1582</a:t>
            </a:r>
            <a:endParaRPr lang="en-US" sz="1500" dirty="0"/>
          </a:p>
        </p:txBody>
      </p:sp>
      <p:sp>
        <p:nvSpPr>
          <p:cNvPr id="40" name="Text 38"/>
          <p:cNvSpPr/>
          <p:nvPr/>
        </p:nvSpPr>
        <p:spPr>
          <a:xfrm>
            <a:off x="4910328" y="4736592"/>
            <a:ext cx="3474720" cy="219456"/>
          </a:xfrm>
          <a:prstGeom prst="rect">
            <a:avLst/>
          </a:prstGeom>
          <a:noFill/>
          <a:ln/>
        </p:spPr>
        <p:txBody>
          <a:bodyPr wrap="square" lIns="0" tIns="0" rIns="0" bIns="0" rtlCol="0" anchor="ctr"/>
          <a:lstStyle/>
          <a:p>
            <a:pPr indent="0" marL="0">
              <a:buNone/>
            </a:pPr>
            <a:r>
              <a:rPr lang="en-US" sz="1500" dirty="0">
                <a:solidFill>
                  <a:srgbClr val="162B38"/>
                </a:solidFill>
                <a:latin typeface="Aptos" pitchFamily="34" charset="0"/>
                <a:ea typeface="Aptos" pitchFamily="34" charset="-122"/>
                <a:cs typeface="Aptos" pitchFamily="34" charset="-120"/>
              </a:rPr>
              <a:t>Roman + gloss</a:t>
            </a:r>
            <a:endParaRPr lang="en-US" sz="1500" dirty="0"/>
          </a:p>
        </p:txBody>
      </p:sp>
      <p:sp>
        <p:nvSpPr>
          <p:cNvPr id="41" name="Text 39"/>
          <p:cNvSpPr/>
          <p:nvPr/>
        </p:nvSpPr>
        <p:spPr>
          <a:xfrm>
            <a:off x="8723376" y="4736592"/>
            <a:ext cx="1005840" cy="219456"/>
          </a:xfrm>
          <a:prstGeom prst="rect">
            <a:avLst/>
          </a:prstGeom>
          <a:noFill/>
          <a:ln/>
        </p:spPr>
        <p:txBody>
          <a:bodyPr wrap="square" lIns="0" tIns="0" rIns="0" bIns="0" rtlCol="0" anchor="ctr"/>
          <a:lstStyle/>
          <a:p>
            <a:pPr indent="0" marL="0">
              <a:buNone/>
            </a:pPr>
            <a:r>
              <a:rPr lang="en-US" sz="1500" b="1" dirty="0">
                <a:solidFill>
                  <a:srgbClr val="087F8C"/>
                </a:solidFill>
                <a:latin typeface="Aptos" pitchFamily="34" charset="0"/>
                <a:ea typeface="Aptos" pitchFamily="34" charset="-122"/>
                <a:cs typeface="Aptos" pitchFamily="34" charset="-120"/>
              </a:rPr>
              <a:t>60</a:t>
            </a:r>
            <a:endParaRPr lang="en-US" sz="1500" dirty="0"/>
          </a:p>
        </p:txBody>
      </p:sp>
      <p:sp>
        <p:nvSpPr>
          <p:cNvPr id="42" name="Text 40"/>
          <p:cNvSpPr/>
          <p:nvPr/>
        </p:nvSpPr>
        <p:spPr>
          <a:xfrm>
            <a:off x="713232" y="5394960"/>
            <a:ext cx="5650992" cy="658368"/>
          </a:xfrm>
          <a:prstGeom prst="rect">
            <a:avLst/>
          </a:prstGeom>
          <a:noFill/>
          <a:ln/>
        </p:spPr>
        <p:txBody>
          <a:bodyPr wrap="square" lIns="0" tIns="0" rIns="0" bIns="0" rtlCol="0" anchor="ctr"/>
          <a:lstStyle/>
          <a:p>
            <a:pPr indent="0" marL="0">
              <a:buNone/>
            </a:pPr>
            <a:r>
              <a:rPr lang="en-US" sz="2200" b="1" dirty="0">
                <a:solidFill>
                  <a:srgbClr val="162B38"/>
                </a:solidFill>
                <a:latin typeface="Aptos" pitchFamily="34" charset="0"/>
                <a:ea typeface="Aptos" pitchFamily="34" charset="-122"/>
                <a:cs typeface="Aptos" pitchFamily="34" charset="-120"/>
              </a:rPr>
              <a:t>40 Digest loci × 4 editions</a:t>
            </a:r>
            <a:endParaRPr lang="en-US" sz="2200" dirty="0"/>
          </a:p>
          <a:p>
            <a:pPr indent="0" marL="0">
              <a:buNone/>
            </a:pPr>
            <a:r>
              <a:rPr lang="en-US" sz="2200" b="1" dirty="0">
                <a:solidFill>
                  <a:srgbClr val="162B38"/>
                </a:solidFill>
                <a:latin typeface="Aptos" pitchFamily="34" charset="0"/>
                <a:ea typeface="Aptos" pitchFamily="34" charset="-122"/>
                <a:cs typeface="Aptos" pitchFamily="34" charset="-120"/>
              </a:rPr>
              <a:t>20 Decretals loci × 2 editions</a:t>
            </a:r>
            <a:endParaRPr lang="en-US" sz="2200" dirty="0"/>
          </a:p>
        </p:txBody>
      </p:sp>
      <p:sp>
        <p:nvSpPr>
          <p:cNvPr id="43" name="Text 41"/>
          <p:cNvSpPr/>
          <p:nvPr/>
        </p:nvSpPr>
        <p:spPr>
          <a:xfrm>
            <a:off x="6492240" y="5404104"/>
            <a:ext cx="5074920" cy="658368"/>
          </a:xfrm>
          <a:prstGeom prst="rect">
            <a:avLst/>
          </a:prstGeom>
          <a:noFill/>
          <a:ln/>
        </p:spPr>
        <p:txBody>
          <a:bodyPr wrap="square" lIns="0" tIns="0" rIns="0" bIns="0" rtlCol="0" anchor="ctr"/>
          <a:lstStyle/>
          <a:p>
            <a:pPr indent="0" marL="0">
              <a:buNone/>
            </a:pPr>
            <a:r>
              <a:rPr lang="en-US" sz="1800" b="1" dirty="0">
                <a:solidFill>
                  <a:srgbClr val="087F8C"/>
                </a:solidFill>
                <a:latin typeface="Aptos" pitchFamily="34" charset="0"/>
                <a:ea typeface="Aptos" pitchFamily="34" charset="-122"/>
                <a:cs typeface="Aptos" pitchFamily="34" charset="-120"/>
              </a:rPr>
              <a:t>240 train / 60 development / 60 test</a:t>
            </a:r>
            <a:endParaRPr lang="en-US" sz="1800" dirty="0"/>
          </a:p>
          <a:p>
            <a:pPr indent="0" marL="0">
              <a:buNone/>
            </a:pPr>
            <a:r>
              <a:rPr lang="en-US" sz="1800" b="1" dirty="0">
                <a:solidFill>
                  <a:srgbClr val="087F8C"/>
                </a:solidFill>
                <a:latin typeface="Aptos" pitchFamily="34" charset="0"/>
                <a:ea typeface="Aptos" pitchFamily="34" charset="-122"/>
                <a:cs typeface="Aptos" pitchFamily="34" charset="-120"/>
              </a:rPr>
              <a:t>Freeze test pages before iteration.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IV · 2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Historians define the units and the distinctions</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Annotation concentrates expertise on decisions with historical consequences.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12</a:t>
            </a:r>
            <a:endParaRPr lang="en-US" sz="1000" dirty="0"/>
          </a:p>
        </p:txBody>
      </p:sp>
      <p:sp>
        <p:nvSpPr>
          <p:cNvPr id="8" name="Shape 6"/>
          <p:cNvSpPr/>
          <p:nvPr/>
        </p:nvSpPr>
        <p:spPr>
          <a:xfrm>
            <a:off x="676656" y="2414016"/>
            <a:ext cx="3502152" cy="1673352"/>
          </a:xfrm>
          <a:prstGeom prst="rect">
            <a:avLst/>
          </a:prstGeom>
          <a:solidFill>
            <a:srgbClr val="FFFFFF"/>
          </a:solidFill>
          <a:ln w="8890">
            <a:solidFill>
              <a:srgbClr val="FFFFFF"/>
            </a:solidFill>
            <a:prstDash val="solid"/>
          </a:ln>
        </p:spPr>
      </p:sp>
      <p:sp>
        <p:nvSpPr>
          <p:cNvPr id="9" name="Shape 7"/>
          <p:cNvSpPr/>
          <p:nvPr/>
        </p:nvSpPr>
        <p:spPr>
          <a:xfrm>
            <a:off x="676656" y="2414016"/>
            <a:ext cx="50292" cy="1673352"/>
          </a:xfrm>
          <a:prstGeom prst="rect">
            <a:avLst/>
          </a:prstGeom>
          <a:solidFill>
            <a:srgbClr val="087F8C"/>
          </a:solidFill>
          <a:ln w="8890">
            <a:solidFill>
              <a:srgbClr val="087F8C"/>
            </a:solidFill>
            <a:prstDash val="solid"/>
          </a:ln>
        </p:spPr>
      </p:sp>
      <p:sp>
        <p:nvSpPr>
          <p:cNvPr id="10" name="Text 8"/>
          <p:cNvSpPr/>
          <p:nvPr/>
        </p:nvSpPr>
        <p:spPr>
          <a:xfrm>
            <a:off x="841248" y="2542032"/>
            <a:ext cx="3172968"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Page structure</a:t>
            </a:r>
            <a:endParaRPr lang="en-US" sz="1700" dirty="0"/>
          </a:p>
        </p:txBody>
      </p:sp>
      <p:sp>
        <p:nvSpPr>
          <p:cNvPr id="11" name="Text 9"/>
          <p:cNvSpPr/>
          <p:nvPr/>
        </p:nvSpPr>
        <p:spPr>
          <a:xfrm>
            <a:off x="841248" y="2880360"/>
            <a:ext cx="3172968" cy="1133856"/>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Regions · line order · continuation</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Main text / gloss / additions / paratext</a:t>
            </a:r>
            <a:endParaRPr lang="en-US" sz="1300" dirty="0"/>
          </a:p>
        </p:txBody>
      </p:sp>
      <p:sp>
        <p:nvSpPr>
          <p:cNvPr id="12" name="Shape 10"/>
          <p:cNvSpPr/>
          <p:nvPr/>
        </p:nvSpPr>
        <p:spPr>
          <a:xfrm>
            <a:off x="4498848" y="2414016"/>
            <a:ext cx="3502152" cy="1673352"/>
          </a:xfrm>
          <a:prstGeom prst="rect">
            <a:avLst/>
          </a:prstGeom>
          <a:solidFill>
            <a:srgbClr val="FFFFFF"/>
          </a:solidFill>
          <a:ln w="8890">
            <a:solidFill>
              <a:srgbClr val="FFFFFF"/>
            </a:solidFill>
            <a:prstDash val="solid"/>
          </a:ln>
        </p:spPr>
      </p:sp>
      <p:sp>
        <p:nvSpPr>
          <p:cNvPr id="13" name="Shape 11"/>
          <p:cNvSpPr/>
          <p:nvPr/>
        </p:nvSpPr>
        <p:spPr>
          <a:xfrm>
            <a:off x="4498848" y="2414016"/>
            <a:ext cx="50292" cy="1673352"/>
          </a:xfrm>
          <a:prstGeom prst="rect">
            <a:avLst/>
          </a:prstGeom>
          <a:solidFill>
            <a:srgbClr val="935BA5"/>
          </a:solidFill>
          <a:ln w="8890">
            <a:solidFill>
              <a:srgbClr val="935BA5"/>
            </a:solidFill>
            <a:prstDash val="solid"/>
          </a:ln>
        </p:spPr>
      </p:sp>
      <p:sp>
        <p:nvSpPr>
          <p:cNvPr id="14" name="Text 12"/>
          <p:cNvSpPr/>
          <p:nvPr/>
        </p:nvSpPr>
        <p:spPr>
          <a:xfrm>
            <a:off x="4663440" y="2542032"/>
            <a:ext cx="3172968"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Unit identity</a:t>
            </a:r>
            <a:endParaRPr lang="en-US" sz="1700" dirty="0"/>
          </a:p>
        </p:txBody>
      </p:sp>
      <p:sp>
        <p:nvSpPr>
          <p:cNvPr id="15" name="Text 13"/>
          <p:cNvSpPr/>
          <p:nvPr/>
        </p:nvSpPr>
        <p:spPr>
          <a:xfrm>
            <a:off x="4663440" y="2880360"/>
            <a:ext cx="3172968" cy="1133856"/>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Legal locus · lemma · paratext type</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Where the unit begins and ends</a:t>
            </a:r>
            <a:endParaRPr lang="en-US" sz="1300" dirty="0"/>
          </a:p>
        </p:txBody>
      </p:sp>
      <p:sp>
        <p:nvSpPr>
          <p:cNvPr id="16" name="Shape 14"/>
          <p:cNvSpPr/>
          <p:nvPr/>
        </p:nvSpPr>
        <p:spPr>
          <a:xfrm>
            <a:off x="8321040" y="2414016"/>
            <a:ext cx="3502152" cy="1673352"/>
          </a:xfrm>
          <a:prstGeom prst="rect">
            <a:avLst/>
          </a:prstGeom>
          <a:solidFill>
            <a:srgbClr val="FFFFFF"/>
          </a:solidFill>
          <a:ln w="8890">
            <a:solidFill>
              <a:srgbClr val="FFFFFF"/>
            </a:solidFill>
            <a:prstDash val="solid"/>
          </a:ln>
        </p:spPr>
      </p:sp>
      <p:sp>
        <p:nvSpPr>
          <p:cNvPr id="17" name="Shape 15"/>
          <p:cNvSpPr/>
          <p:nvPr/>
        </p:nvSpPr>
        <p:spPr>
          <a:xfrm>
            <a:off x="8321040" y="2414016"/>
            <a:ext cx="50292" cy="1673352"/>
          </a:xfrm>
          <a:prstGeom prst="rect">
            <a:avLst/>
          </a:prstGeom>
          <a:solidFill>
            <a:srgbClr val="CB9133"/>
          </a:solidFill>
          <a:ln w="8890">
            <a:solidFill>
              <a:srgbClr val="CB9133"/>
            </a:solidFill>
            <a:prstDash val="solid"/>
          </a:ln>
        </p:spPr>
      </p:sp>
      <p:sp>
        <p:nvSpPr>
          <p:cNvPr id="18" name="Text 16"/>
          <p:cNvSpPr/>
          <p:nvPr/>
        </p:nvSpPr>
        <p:spPr>
          <a:xfrm>
            <a:off x="8485632" y="2542032"/>
            <a:ext cx="3172968"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Text and meaning</a:t>
            </a:r>
            <a:endParaRPr lang="en-US" sz="1700" dirty="0"/>
          </a:p>
        </p:txBody>
      </p:sp>
      <p:sp>
        <p:nvSpPr>
          <p:cNvPr id="19" name="Text 17"/>
          <p:cNvSpPr/>
          <p:nvPr/>
        </p:nvSpPr>
        <p:spPr>
          <a:xfrm>
            <a:off x="8485632" y="2880360"/>
            <a:ext cx="3172968" cy="1133856"/>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Names · citations · abbreviation readings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Attribution · conditions · exceptions</a:t>
            </a:r>
            <a:endParaRPr lang="en-US" sz="1300" dirty="0"/>
          </a:p>
        </p:txBody>
      </p:sp>
      <p:sp>
        <p:nvSpPr>
          <p:cNvPr id="20" name="Text 18"/>
          <p:cNvSpPr/>
          <p:nvPr/>
        </p:nvSpPr>
        <p:spPr>
          <a:xfrm>
            <a:off x="740664" y="4553712"/>
            <a:ext cx="10945368" cy="521208"/>
          </a:xfrm>
          <a:prstGeom prst="rect">
            <a:avLst/>
          </a:prstGeom>
          <a:noFill/>
          <a:ln/>
        </p:spPr>
        <p:txBody>
          <a:bodyPr wrap="square" lIns="0" tIns="0" rIns="0" bIns="0" rtlCol="0" anchor="ctr"/>
          <a:lstStyle/>
          <a:p>
            <a:pPr indent="0" marL="0">
              <a:buNone/>
            </a:pPr>
            <a:r>
              <a:rPr lang="en-US" sz="2500" b="1" dirty="0">
                <a:solidFill>
                  <a:srgbClr val="087F8C"/>
                </a:solidFill>
                <a:latin typeface="Aptos" pitchFamily="34" charset="0"/>
                <a:ea typeface="Aptos" pitchFamily="34" charset="-122"/>
                <a:cs typeface="Aptos" pitchFamily="34" charset="-120"/>
              </a:rPr>
              <a:t>Draft → correct → discuss disagreements → update the guide</a:t>
            </a:r>
            <a:endParaRPr lang="en-US" sz="2500" dirty="0"/>
          </a:p>
        </p:txBody>
      </p:sp>
      <p:sp>
        <p:nvSpPr>
          <p:cNvPr id="21" name="Text 19"/>
          <p:cNvSpPr/>
          <p:nvPr/>
        </p:nvSpPr>
        <p:spPr>
          <a:xfrm>
            <a:off x="768096" y="5239512"/>
            <a:ext cx="10844784" cy="896112"/>
          </a:xfrm>
          <a:prstGeom prst="rect">
            <a:avLst/>
          </a:prstGeom>
          <a:noFill/>
          <a:ln/>
        </p:spPr>
        <p:txBody>
          <a:bodyPr wrap="square" lIns="0" tIns="0" rIns="0" bIns="0" rtlCol="0" anchor="ctr"/>
          <a:lstStyle/>
          <a:p>
            <a:pPr indent="0" marL="0">
              <a:buNone/>
            </a:pPr>
            <a:r>
              <a:rPr lang="en-US" sz="1900" dirty="0">
                <a:solidFill>
                  <a:srgbClr val="162B38"/>
                </a:solidFill>
                <a:latin typeface="Aptos" pitchFamily="34" charset="0"/>
                <a:ea typeface="Aptos" pitchFamily="34" charset="-122"/>
                <a:cs typeface="Aptos" pitchFamily="34" charset="-120"/>
              </a:rPr>
              <a:t>December: 12-page calibration workshop</a:t>
            </a:r>
            <a:endParaRPr lang="en-US" sz="1900" dirty="0"/>
          </a:p>
          <a:p>
            <a:pPr indent="0" marL="0">
              <a:buNone/>
            </a:pPr>
            <a:r>
              <a:rPr lang="en-US" sz="1900" dirty="0">
                <a:solidFill>
                  <a:srgbClr val="162B38"/>
                </a:solidFill>
                <a:latin typeface="Aptos" pitchFamily="34" charset="0"/>
                <a:ea typeface="Aptos" pitchFamily="34" charset="-122"/>
                <a:cs typeface="Aptos" pitchFamily="34" charset="-120"/>
              </a:rPr>
              <a:t>Weekly: focused review clinic + annotated examples</a:t>
            </a:r>
            <a:endParaRPr lang="en-US" sz="1900" dirty="0"/>
          </a:p>
          <a:p>
            <a:pPr indent="0" marL="0">
              <a:buNone/>
            </a:pPr>
            <a:r>
              <a:rPr lang="en-US" sz="1900" dirty="0">
                <a:solidFill>
                  <a:srgbClr val="162B38"/>
                </a:solidFill>
                <a:latin typeface="Aptos" pitchFamily="34" charset="0"/>
                <a:ea typeface="Aptos" pitchFamily="34" charset="-122"/>
                <a:cs typeface="Aptos" pitchFamily="34" charset="-120"/>
              </a:rPr>
              <a:t>Evaluation: double-review 60 focal units, then adjudicate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IV · 3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Six months, with a usable result at each stage</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The existing software becomes the starting point for the pilot.</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13</a:t>
            </a:r>
            <a:endParaRPr lang="en-US" sz="1000" dirty="0"/>
          </a:p>
        </p:txBody>
      </p:sp>
      <p:sp>
        <p:nvSpPr>
          <p:cNvPr id="8" name="Text 6"/>
          <p:cNvSpPr/>
          <p:nvPr/>
        </p:nvSpPr>
        <p:spPr>
          <a:xfrm>
            <a:off x="4791456" y="2276856"/>
            <a:ext cx="960120" cy="274320"/>
          </a:xfrm>
          <a:prstGeom prst="rect">
            <a:avLst/>
          </a:prstGeom>
          <a:noFill/>
          <a:ln/>
        </p:spPr>
        <p:txBody>
          <a:bodyPr wrap="square" lIns="0" tIns="0" rIns="0" bIns="0" rtlCol="0" anchor="ctr"/>
          <a:lstStyle/>
          <a:p>
            <a:pPr algn="ctr" indent="0" marL="0">
              <a:buNone/>
            </a:pPr>
            <a:r>
              <a:rPr lang="en-US" sz="1300" b="1" dirty="0">
                <a:solidFill>
                  <a:srgbClr val="087F8C"/>
                </a:solidFill>
                <a:latin typeface="Aptos" pitchFamily="34" charset="0"/>
                <a:ea typeface="Aptos" pitchFamily="34" charset="-122"/>
                <a:cs typeface="Aptos" pitchFamily="34" charset="-120"/>
              </a:rPr>
              <a:t>DEC</a:t>
            </a:r>
            <a:endParaRPr lang="en-US" sz="1300" dirty="0"/>
          </a:p>
        </p:txBody>
      </p:sp>
      <p:sp>
        <p:nvSpPr>
          <p:cNvPr id="9" name="Text 7"/>
          <p:cNvSpPr/>
          <p:nvPr/>
        </p:nvSpPr>
        <p:spPr>
          <a:xfrm>
            <a:off x="5879592" y="2276856"/>
            <a:ext cx="960120" cy="274320"/>
          </a:xfrm>
          <a:prstGeom prst="rect">
            <a:avLst/>
          </a:prstGeom>
          <a:noFill/>
          <a:ln/>
        </p:spPr>
        <p:txBody>
          <a:bodyPr wrap="square" lIns="0" tIns="0" rIns="0" bIns="0" rtlCol="0" anchor="ctr"/>
          <a:lstStyle/>
          <a:p>
            <a:pPr algn="ctr" indent="0" marL="0">
              <a:buNone/>
            </a:pPr>
            <a:r>
              <a:rPr lang="en-US" sz="1300" b="1" dirty="0">
                <a:solidFill>
                  <a:srgbClr val="087F8C"/>
                </a:solidFill>
                <a:latin typeface="Aptos" pitchFamily="34" charset="0"/>
                <a:ea typeface="Aptos" pitchFamily="34" charset="-122"/>
                <a:cs typeface="Aptos" pitchFamily="34" charset="-120"/>
              </a:rPr>
              <a:t>JAN</a:t>
            </a:r>
            <a:endParaRPr lang="en-US" sz="1300" dirty="0"/>
          </a:p>
        </p:txBody>
      </p:sp>
      <p:sp>
        <p:nvSpPr>
          <p:cNvPr id="10" name="Text 8"/>
          <p:cNvSpPr/>
          <p:nvPr/>
        </p:nvSpPr>
        <p:spPr>
          <a:xfrm>
            <a:off x="6967728" y="2276856"/>
            <a:ext cx="960120" cy="274320"/>
          </a:xfrm>
          <a:prstGeom prst="rect">
            <a:avLst/>
          </a:prstGeom>
          <a:noFill/>
          <a:ln/>
        </p:spPr>
        <p:txBody>
          <a:bodyPr wrap="square" lIns="0" tIns="0" rIns="0" bIns="0" rtlCol="0" anchor="ctr"/>
          <a:lstStyle/>
          <a:p>
            <a:pPr algn="ctr" indent="0" marL="0">
              <a:buNone/>
            </a:pPr>
            <a:r>
              <a:rPr lang="en-US" sz="1300" b="1" dirty="0">
                <a:solidFill>
                  <a:srgbClr val="087F8C"/>
                </a:solidFill>
                <a:latin typeface="Aptos" pitchFamily="34" charset="0"/>
                <a:ea typeface="Aptos" pitchFamily="34" charset="-122"/>
                <a:cs typeface="Aptos" pitchFamily="34" charset="-120"/>
              </a:rPr>
              <a:t>FEB</a:t>
            </a:r>
            <a:endParaRPr lang="en-US" sz="1300" dirty="0"/>
          </a:p>
        </p:txBody>
      </p:sp>
      <p:sp>
        <p:nvSpPr>
          <p:cNvPr id="11" name="Text 9"/>
          <p:cNvSpPr/>
          <p:nvPr/>
        </p:nvSpPr>
        <p:spPr>
          <a:xfrm>
            <a:off x="8055864" y="2276856"/>
            <a:ext cx="960120" cy="274320"/>
          </a:xfrm>
          <a:prstGeom prst="rect">
            <a:avLst/>
          </a:prstGeom>
          <a:noFill/>
          <a:ln/>
        </p:spPr>
        <p:txBody>
          <a:bodyPr wrap="square" lIns="0" tIns="0" rIns="0" bIns="0" rtlCol="0" anchor="ctr"/>
          <a:lstStyle/>
          <a:p>
            <a:pPr algn="ctr" indent="0" marL="0">
              <a:buNone/>
            </a:pPr>
            <a:r>
              <a:rPr lang="en-US" sz="1300" b="1" dirty="0">
                <a:solidFill>
                  <a:srgbClr val="087F8C"/>
                </a:solidFill>
                <a:latin typeface="Aptos" pitchFamily="34" charset="0"/>
                <a:ea typeface="Aptos" pitchFamily="34" charset="-122"/>
                <a:cs typeface="Aptos" pitchFamily="34" charset="-120"/>
              </a:rPr>
              <a:t>MAR</a:t>
            </a:r>
            <a:endParaRPr lang="en-US" sz="1300" dirty="0"/>
          </a:p>
        </p:txBody>
      </p:sp>
      <p:sp>
        <p:nvSpPr>
          <p:cNvPr id="12" name="Text 10"/>
          <p:cNvSpPr/>
          <p:nvPr/>
        </p:nvSpPr>
        <p:spPr>
          <a:xfrm>
            <a:off x="9144000" y="2276856"/>
            <a:ext cx="960120" cy="274320"/>
          </a:xfrm>
          <a:prstGeom prst="rect">
            <a:avLst/>
          </a:prstGeom>
          <a:noFill/>
          <a:ln/>
        </p:spPr>
        <p:txBody>
          <a:bodyPr wrap="square" lIns="0" tIns="0" rIns="0" bIns="0" rtlCol="0" anchor="ctr"/>
          <a:lstStyle/>
          <a:p>
            <a:pPr algn="ctr" indent="0" marL="0">
              <a:buNone/>
            </a:pPr>
            <a:r>
              <a:rPr lang="en-US" sz="1300" b="1" dirty="0">
                <a:solidFill>
                  <a:srgbClr val="087F8C"/>
                </a:solidFill>
                <a:latin typeface="Aptos" pitchFamily="34" charset="0"/>
                <a:ea typeface="Aptos" pitchFamily="34" charset="-122"/>
                <a:cs typeface="Aptos" pitchFamily="34" charset="-120"/>
              </a:rPr>
              <a:t>APR</a:t>
            </a:r>
            <a:endParaRPr lang="en-US" sz="1300" dirty="0"/>
          </a:p>
        </p:txBody>
      </p:sp>
      <p:sp>
        <p:nvSpPr>
          <p:cNvPr id="13" name="Text 11"/>
          <p:cNvSpPr/>
          <p:nvPr/>
        </p:nvSpPr>
        <p:spPr>
          <a:xfrm>
            <a:off x="10232136" y="2276856"/>
            <a:ext cx="960120" cy="274320"/>
          </a:xfrm>
          <a:prstGeom prst="rect">
            <a:avLst/>
          </a:prstGeom>
          <a:noFill/>
          <a:ln/>
        </p:spPr>
        <p:txBody>
          <a:bodyPr wrap="square" lIns="0" tIns="0" rIns="0" bIns="0" rtlCol="0" anchor="ctr"/>
          <a:lstStyle/>
          <a:p>
            <a:pPr algn="ctr" indent="0" marL="0">
              <a:buNone/>
            </a:pPr>
            <a:r>
              <a:rPr lang="en-US" sz="1300" b="1" dirty="0">
                <a:solidFill>
                  <a:srgbClr val="087F8C"/>
                </a:solidFill>
                <a:latin typeface="Aptos" pitchFamily="34" charset="0"/>
                <a:ea typeface="Aptos" pitchFamily="34" charset="-122"/>
                <a:cs typeface="Aptos" pitchFamily="34" charset="-120"/>
              </a:rPr>
              <a:t>MAY</a:t>
            </a:r>
            <a:endParaRPr lang="en-US" sz="1300" dirty="0"/>
          </a:p>
        </p:txBody>
      </p:sp>
      <p:sp>
        <p:nvSpPr>
          <p:cNvPr id="14" name="Text 12"/>
          <p:cNvSpPr/>
          <p:nvPr/>
        </p:nvSpPr>
        <p:spPr>
          <a:xfrm>
            <a:off x="713232" y="2798064"/>
            <a:ext cx="3794760" cy="29260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Corpus + rights + guide</a:t>
            </a:r>
            <a:endParaRPr lang="en-US" sz="1600" dirty="0"/>
          </a:p>
        </p:txBody>
      </p:sp>
      <p:sp>
        <p:nvSpPr>
          <p:cNvPr id="15" name="Shape 13"/>
          <p:cNvSpPr/>
          <p:nvPr/>
        </p:nvSpPr>
        <p:spPr>
          <a:xfrm>
            <a:off x="4855464" y="2816352"/>
            <a:ext cx="6419088" cy="265176"/>
          </a:xfrm>
          <a:prstGeom prst="rect">
            <a:avLst/>
          </a:prstGeom>
          <a:solidFill>
            <a:srgbClr val="DFE5E1"/>
          </a:solidFill>
          <a:ln w="8890">
            <a:solidFill>
              <a:srgbClr val="DFE5E1"/>
            </a:solidFill>
            <a:prstDash val="solid"/>
          </a:ln>
        </p:spPr>
      </p:sp>
      <p:sp>
        <p:nvSpPr>
          <p:cNvPr id="16" name="Shape 14"/>
          <p:cNvSpPr/>
          <p:nvPr/>
        </p:nvSpPr>
        <p:spPr>
          <a:xfrm>
            <a:off x="4855464" y="2816352"/>
            <a:ext cx="2084832" cy="265176"/>
          </a:xfrm>
          <a:prstGeom prst="rect">
            <a:avLst/>
          </a:prstGeom>
          <a:solidFill>
            <a:srgbClr val="087F8C"/>
          </a:solidFill>
          <a:ln w="8890">
            <a:solidFill>
              <a:srgbClr val="087F8C"/>
            </a:solidFill>
            <a:prstDash val="solid"/>
          </a:ln>
        </p:spPr>
      </p:sp>
      <p:sp>
        <p:nvSpPr>
          <p:cNvPr id="17" name="Text 15"/>
          <p:cNvSpPr/>
          <p:nvPr/>
        </p:nvSpPr>
        <p:spPr>
          <a:xfrm>
            <a:off x="713232" y="3246120"/>
            <a:ext cx="3794760" cy="29260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Regions + line roles</a:t>
            </a:r>
            <a:endParaRPr lang="en-US" sz="1600" dirty="0"/>
          </a:p>
        </p:txBody>
      </p:sp>
      <p:sp>
        <p:nvSpPr>
          <p:cNvPr id="18" name="Shape 16"/>
          <p:cNvSpPr/>
          <p:nvPr/>
        </p:nvSpPr>
        <p:spPr>
          <a:xfrm>
            <a:off x="4855464" y="3264408"/>
            <a:ext cx="6419088" cy="265176"/>
          </a:xfrm>
          <a:prstGeom prst="rect">
            <a:avLst/>
          </a:prstGeom>
          <a:solidFill>
            <a:srgbClr val="DFE5E1"/>
          </a:solidFill>
          <a:ln w="8890">
            <a:solidFill>
              <a:srgbClr val="DFE5E1"/>
            </a:solidFill>
            <a:prstDash val="solid"/>
          </a:ln>
        </p:spPr>
      </p:sp>
      <p:sp>
        <p:nvSpPr>
          <p:cNvPr id="19" name="Shape 17"/>
          <p:cNvSpPr/>
          <p:nvPr/>
        </p:nvSpPr>
        <p:spPr>
          <a:xfrm>
            <a:off x="5925312" y="3264408"/>
            <a:ext cx="2084832" cy="265176"/>
          </a:xfrm>
          <a:prstGeom prst="rect">
            <a:avLst/>
          </a:prstGeom>
          <a:solidFill>
            <a:srgbClr val="087F8C"/>
          </a:solidFill>
          <a:ln w="8890">
            <a:solidFill>
              <a:srgbClr val="087F8C"/>
            </a:solidFill>
            <a:prstDash val="solid"/>
          </a:ln>
        </p:spPr>
      </p:sp>
      <p:sp>
        <p:nvSpPr>
          <p:cNvPr id="20" name="Text 18"/>
          <p:cNvSpPr/>
          <p:nvPr/>
        </p:nvSpPr>
        <p:spPr>
          <a:xfrm>
            <a:off x="713232" y="3694176"/>
            <a:ext cx="3794760" cy="29260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OCR + Gothic / Greek</a:t>
            </a:r>
            <a:endParaRPr lang="en-US" sz="1600" dirty="0"/>
          </a:p>
        </p:txBody>
      </p:sp>
      <p:sp>
        <p:nvSpPr>
          <p:cNvPr id="21" name="Shape 19"/>
          <p:cNvSpPr/>
          <p:nvPr/>
        </p:nvSpPr>
        <p:spPr>
          <a:xfrm>
            <a:off x="4855464" y="3712464"/>
            <a:ext cx="6419088" cy="265176"/>
          </a:xfrm>
          <a:prstGeom prst="rect">
            <a:avLst/>
          </a:prstGeom>
          <a:solidFill>
            <a:srgbClr val="DFE5E1"/>
          </a:solidFill>
          <a:ln w="8890">
            <a:solidFill>
              <a:srgbClr val="DFE5E1"/>
            </a:solidFill>
            <a:prstDash val="solid"/>
          </a:ln>
        </p:spPr>
      </p:sp>
      <p:sp>
        <p:nvSpPr>
          <p:cNvPr id="22" name="Shape 20"/>
          <p:cNvSpPr/>
          <p:nvPr/>
        </p:nvSpPr>
        <p:spPr>
          <a:xfrm>
            <a:off x="5925312" y="3712464"/>
            <a:ext cx="3154680" cy="265176"/>
          </a:xfrm>
          <a:prstGeom prst="rect">
            <a:avLst/>
          </a:prstGeom>
          <a:solidFill>
            <a:srgbClr val="935BA5"/>
          </a:solidFill>
          <a:ln w="8890">
            <a:solidFill>
              <a:srgbClr val="935BA5"/>
            </a:solidFill>
            <a:prstDash val="solid"/>
          </a:ln>
        </p:spPr>
      </p:sp>
      <p:sp>
        <p:nvSpPr>
          <p:cNvPr id="23" name="Text 21"/>
          <p:cNvSpPr/>
          <p:nvPr/>
        </p:nvSpPr>
        <p:spPr>
          <a:xfrm>
            <a:off x="713232" y="4142232"/>
            <a:ext cx="3794760" cy="29260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Locus + unit linking</a:t>
            </a:r>
            <a:endParaRPr lang="en-US" sz="1600" dirty="0"/>
          </a:p>
        </p:txBody>
      </p:sp>
      <p:sp>
        <p:nvSpPr>
          <p:cNvPr id="24" name="Shape 22"/>
          <p:cNvSpPr/>
          <p:nvPr/>
        </p:nvSpPr>
        <p:spPr>
          <a:xfrm>
            <a:off x="4855464" y="4160520"/>
            <a:ext cx="6419088" cy="265176"/>
          </a:xfrm>
          <a:prstGeom prst="rect">
            <a:avLst/>
          </a:prstGeom>
          <a:solidFill>
            <a:srgbClr val="DFE5E1"/>
          </a:solidFill>
          <a:ln w="8890">
            <a:solidFill>
              <a:srgbClr val="DFE5E1"/>
            </a:solidFill>
            <a:prstDash val="solid"/>
          </a:ln>
        </p:spPr>
      </p:sp>
      <p:sp>
        <p:nvSpPr>
          <p:cNvPr id="25" name="Shape 23"/>
          <p:cNvSpPr/>
          <p:nvPr/>
        </p:nvSpPr>
        <p:spPr>
          <a:xfrm>
            <a:off x="6995160" y="4160520"/>
            <a:ext cx="2084832" cy="265176"/>
          </a:xfrm>
          <a:prstGeom prst="rect">
            <a:avLst/>
          </a:prstGeom>
          <a:solidFill>
            <a:srgbClr val="CB9133"/>
          </a:solidFill>
          <a:ln w="8890">
            <a:solidFill>
              <a:srgbClr val="CB9133"/>
            </a:solidFill>
            <a:prstDash val="solid"/>
          </a:ln>
        </p:spPr>
      </p:sp>
      <p:sp>
        <p:nvSpPr>
          <p:cNvPr id="26" name="Text 24"/>
          <p:cNvSpPr/>
          <p:nvPr/>
        </p:nvSpPr>
        <p:spPr>
          <a:xfrm>
            <a:off x="713232" y="4590288"/>
            <a:ext cx="3794760" cy="29260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Variants + historian review</a:t>
            </a:r>
            <a:endParaRPr lang="en-US" sz="1600" dirty="0"/>
          </a:p>
        </p:txBody>
      </p:sp>
      <p:sp>
        <p:nvSpPr>
          <p:cNvPr id="27" name="Shape 25"/>
          <p:cNvSpPr/>
          <p:nvPr/>
        </p:nvSpPr>
        <p:spPr>
          <a:xfrm>
            <a:off x="4855464" y="4608576"/>
            <a:ext cx="6419088" cy="265176"/>
          </a:xfrm>
          <a:prstGeom prst="rect">
            <a:avLst/>
          </a:prstGeom>
          <a:solidFill>
            <a:srgbClr val="DFE5E1"/>
          </a:solidFill>
          <a:ln w="8890">
            <a:solidFill>
              <a:srgbClr val="DFE5E1"/>
            </a:solidFill>
            <a:prstDash val="solid"/>
          </a:ln>
        </p:spPr>
      </p:sp>
      <p:sp>
        <p:nvSpPr>
          <p:cNvPr id="28" name="Shape 26"/>
          <p:cNvSpPr/>
          <p:nvPr/>
        </p:nvSpPr>
        <p:spPr>
          <a:xfrm>
            <a:off x="8065008" y="4608576"/>
            <a:ext cx="2084832" cy="265176"/>
          </a:xfrm>
          <a:prstGeom prst="rect">
            <a:avLst/>
          </a:prstGeom>
          <a:solidFill>
            <a:srgbClr val="935BA5"/>
          </a:solidFill>
          <a:ln w="8890">
            <a:solidFill>
              <a:srgbClr val="935BA5"/>
            </a:solidFill>
            <a:prstDash val="solid"/>
          </a:ln>
        </p:spPr>
      </p:sp>
      <p:sp>
        <p:nvSpPr>
          <p:cNvPr id="29" name="Text 27"/>
          <p:cNvSpPr/>
          <p:nvPr/>
        </p:nvSpPr>
        <p:spPr>
          <a:xfrm>
            <a:off x="713232" y="5038344"/>
            <a:ext cx="3794760" cy="292608"/>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Sealed evaluation + release</a:t>
            </a:r>
            <a:endParaRPr lang="en-US" sz="1600" dirty="0"/>
          </a:p>
        </p:txBody>
      </p:sp>
      <p:sp>
        <p:nvSpPr>
          <p:cNvPr id="30" name="Shape 28"/>
          <p:cNvSpPr/>
          <p:nvPr/>
        </p:nvSpPr>
        <p:spPr>
          <a:xfrm>
            <a:off x="4855464" y="5056632"/>
            <a:ext cx="6419088" cy="265176"/>
          </a:xfrm>
          <a:prstGeom prst="rect">
            <a:avLst/>
          </a:prstGeom>
          <a:solidFill>
            <a:srgbClr val="DFE5E1"/>
          </a:solidFill>
          <a:ln w="8890">
            <a:solidFill>
              <a:srgbClr val="DFE5E1"/>
            </a:solidFill>
            <a:prstDash val="solid"/>
          </a:ln>
        </p:spPr>
      </p:sp>
      <p:sp>
        <p:nvSpPr>
          <p:cNvPr id="31" name="Shape 29"/>
          <p:cNvSpPr/>
          <p:nvPr/>
        </p:nvSpPr>
        <p:spPr>
          <a:xfrm>
            <a:off x="9134856" y="5056632"/>
            <a:ext cx="2084832" cy="265176"/>
          </a:xfrm>
          <a:prstGeom prst="rect">
            <a:avLst/>
          </a:prstGeom>
          <a:solidFill>
            <a:srgbClr val="087F8C"/>
          </a:solidFill>
          <a:ln w="8890">
            <a:solidFill>
              <a:srgbClr val="087F8C"/>
            </a:solidFill>
            <a:prstDash val="solid"/>
          </a:ln>
        </p:spPr>
      </p:sp>
      <p:sp>
        <p:nvSpPr>
          <p:cNvPr id="32" name="Text 30"/>
          <p:cNvSpPr/>
          <p:nvPr/>
        </p:nvSpPr>
        <p:spPr>
          <a:xfrm>
            <a:off x="758952" y="5788152"/>
            <a:ext cx="5358384" cy="484632"/>
          </a:xfrm>
          <a:prstGeom prst="rect">
            <a:avLst/>
          </a:prstGeom>
          <a:noFill/>
          <a:ln/>
        </p:spPr>
        <p:txBody>
          <a:bodyPr wrap="square" lIns="0" tIns="0" rIns="0" bIns="0" rtlCol="0" anchor="ctr"/>
          <a:lstStyle/>
          <a:p>
            <a:pPr indent="0" marL="0">
              <a:buNone/>
            </a:pPr>
            <a:r>
              <a:rPr lang="en-US" sz="1600" dirty="0">
                <a:solidFill>
                  <a:srgbClr val="566570"/>
                </a:solidFill>
                <a:latin typeface="Aptos" pitchFamily="34" charset="0"/>
                <a:ea typeface="Aptos" pitchFamily="34" charset="-122"/>
                <a:cs typeface="Aptos" pitchFamily="34" charset="-120"/>
              </a:rPr>
              <a:t>End January: checked pilot data</a:t>
            </a:r>
            <a:endParaRPr lang="en-US" sz="1600" dirty="0"/>
          </a:p>
          <a:p>
            <a:pPr indent="0" marL="0">
              <a:buNone/>
            </a:pPr>
            <a:r>
              <a:rPr lang="en-US" sz="1600" dirty="0">
                <a:solidFill>
                  <a:srgbClr val="566570"/>
                </a:solidFill>
                <a:latin typeface="Aptos" pitchFamily="34" charset="0"/>
                <a:ea typeface="Aptos" pitchFamily="34" charset="-122"/>
                <a:cs typeface="Aptos" pitchFamily="34" charset="-120"/>
              </a:rPr>
              <a:t>End March: linked paratexts</a:t>
            </a:r>
            <a:endParaRPr lang="en-US" sz="1600" dirty="0"/>
          </a:p>
        </p:txBody>
      </p:sp>
      <p:sp>
        <p:nvSpPr>
          <p:cNvPr id="33" name="Text 31"/>
          <p:cNvSpPr/>
          <p:nvPr/>
        </p:nvSpPr>
        <p:spPr>
          <a:xfrm>
            <a:off x="6537960" y="5788152"/>
            <a:ext cx="4773168" cy="484632"/>
          </a:xfrm>
          <a:prstGeom prst="rect">
            <a:avLst/>
          </a:prstGeom>
          <a:noFill/>
          <a:ln/>
        </p:spPr>
        <p:txBody>
          <a:bodyPr wrap="square" lIns="0" tIns="0" rIns="0" bIns="0" rtlCol="0" anchor="ctr"/>
          <a:lstStyle/>
          <a:p>
            <a:pPr indent="0" marL="0">
              <a:buNone/>
            </a:pPr>
            <a:r>
              <a:rPr lang="en-US" sz="1600" b="1" dirty="0">
                <a:solidFill>
                  <a:srgbClr val="087F8C"/>
                </a:solidFill>
                <a:latin typeface="Aptos" pitchFamily="34" charset="0"/>
                <a:ea typeface="Aptos" pitchFamily="34" charset="-122"/>
                <a:cs typeface="Aptos" pitchFamily="34" charset="-120"/>
              </a:rPr>
              <a:t>End May: tested variant workflow</a:t>
            </a:r>
            <a:endParaRPr lang="en-US" sz="1600" dirty="0"/>
          </a:p>
          <a:p>
            <a:pPr indent="0" marL="0">
              <a:buNone/>
            </a:pPr>
            <a:r>
              <a:rPr lang="en-US" sz="1600" b="1" dirty="0">
                <a:solidFill>
                  <a:srgbClr val="087F8C"/>
                </a:solidFill>
                <a:latin typeface="Aptos" pitchFamily="34" charset="0"/>
                <a:ea typeface="Aptos" pitchFamily="34" charset="-122"/>
                <a:cs typeface="Aptos" pitchFamily="34" charset="-120"/>
              </a:rPr>
              <a:t>+ first attribution-change study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IV · 4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Success means recovering the historical evidence</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Evaluate on complete pages and matched units, then measure the cost of correction.</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14</a:t>
            </a:r>
            <a:endParaRPr lang="en-US" sz="1000" dirty="0"/>
          </a:p>
        </p:txBody>
      </p:sp>
      <p:sp>
        <p:nvSpPr>
          <p:cNvPr id="8" name="Shape 6"/>
          <p:cNvSpPr/>
          <p:nvPr/>
        </p:nvSpPr>
        <p:spPr>
          <a:xfrm>
            <a:off x="676656" y="2386584"/>
            <a:ext cx="10844784" cy="521208"/>
          </a:xfrm>
          <a:prstGeom prst="rect">
            <a:avLst/>
          </a:prstGeom>
          <a:solidFill>
            <a:srgbClr val="FFFFFF"/>
          </a:solidFill>
          <a:ln w="8890">
            <a:solidFill>
              <a:srgbClr val="FFFFFF"/>
            </a:solidFill>
            <a:prstDash val="solid"/>
          </a:ln>
        </p:spPr>
      </p:sp>
      <p:sp>
        <p:nvSpPr>
          <p:cNvPr id="9" name="Text 7"/>
          <p:cNvSpPr/>
          <p:nvPr/>
        </p:nvSpPr>
        <p:spPr>
          <a:xfrm>
            <a:off x="832104" y="2496312"/>
            <a:ext cx="2295144" cy="292608"/>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Regions + roles</a:t>
            </a:r>
            <a:endParaRPr lang="en-US" sz="1700" dirty="0"/>
          </a:p>
        </p:txBody>
      </p:sp>
      <p:sp>
        <p:nvSpPr>
          <p:cNvPr id="10" name="Text 8"/>
          <p:cNvSpPr/>
          <p:nvPr/>
        </p:nvSpPr>
        <p:spPr>
          <a:xfrm>
            <a:off x="3346704" y="2478024"/>
            <a:ext cx="3931920" cy="338328"/>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Find full units, preserve streams</a:t>
            </a:r>
            <a:endParaRPr lang="en-US" sz="1400" dirty="0"/>
          </a:p>
        </p:txBody>
      </p:sp>
      <p:sp>
        <p:nvSpPr>
          <p:cNvPr id="11" name="Text 9"/>
          <p:cNvSpPr/>
          <p:nvPr/>
        </p:nvSpPr>
        <p:spPr>
          <a:xfrm>
            <a:off x="7626096" y="2468880"/>
            <a:ext cx="3703320" cy="356616"/>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Region F1 ≥ .90; role macro-F1 ≥ .95</a:t>
            </a:r>
            <a:endParaRPr lang="en-US" sz="1300" dirty="0"/>
          </a:p>
        </p:txBody>
      </p:sp>
      <p:sp>
        <p:nvSpPr>
          <p:cNvPr id="12" name="Shape 10"/>
          <p:cNvSpPr/>
          <p:nvPr/>
        </p:nvSpPr>
        <p:spPr>
          <a:xfrm>
            <a:off x="676656" y="3008376"/>
            <a:ext cx="10844784" cy="521208"/>
          </a:xfrm>
          <a:prstGeom prst="rect">
            <a:avLst/>
          </a:prstGeom>
          <a:solidFill>
            <a:srgbClr val="E3EEEA"/>
          </a:solidFill>
          <a:ln w="8890">
            <a:solidFill>
              <a:srgbClr val="E3EEEA"/>
            </a:solidFill>
            <a:prstDash val="solid"/>
          </a:ln>
        </p:spPr>
      </p:sp>
      <p:sp>
        <p:nvSpPr>
          <p:cNvPr id="13" name="Text 11"/>
          <p:cNvSpPr/>
          <p:nvPr/>
        </p:nvSpPr>
        <p:spPr>
          <a:xfrm>
            <a:off x="832104" y="3118104"/>
            <a:ext cx="2295144" cy="292608"/>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OCR + anchors</a:t>
            </a:r>
            <a:endParaRPr lang="en-US" sz="1700" dirty="0"/>
          </a:p>
        </p:txBody>
      </p:sp>
      <p:sp>
        <p:nvSpPr>
          <p:cNvPr id="14" name="Text 12"/>
          <p:cNvSpPr/>
          <p:nvPr/>
        </p:nvSpPr>
        <p:spPr>
          <a:xfrm>
            <a:off x="3346704" y="3099816"/>
            <a:ext cx="3931920" cy="338328"/>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Recover the fields comparisons depend on</a:t>
            </a:r>
            <a:endParaRPr lang="en-US" sz="1400" dirty="0"/>
          </a:p>
        </p:txBody>
      </p:sp>
      <p:sp>
        <p:nvSpPr>
          <p:cNvPr id="15" name="Text 13"/>
          <p:cNvSpPr/>
          <p:nvPr/>
        </p:nvSpPr>
        <p:spPr>
          <a:xfrm>
            <a:off x="7626096" y="3090672"/>
            <a:ext cx="3703320" cy="356616"/>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Names / citations exact recovery ≥ 95%</a:t>
            </a:r>
            <a:endParaRPr lang="en-US" sz="1300" dirty="0"/>
          </a:p>
        </p:txBody>
      </p:sp>
      <p:sp>
        <p:nvSpPr>
          <p:cNvPr id="16" name="Shape 14"/>
          <p:cNvSpPr/>
          <p:nvPr/>
        </p:nvSpPr>
        <p:spPr>
          <a:xfrm>
            <a:off x="676656" y="3630168"/>
            <a:ext cx="10844784" cy="521208"/>
          </a:xfrm>
          <a:prstGeom prst="rect">
            <a:avLst/>
          </a:prstGeom>
          <a:solidFill>
            <a:srgbClr val="FFFFFF"/>
          </a:solidFill>
          <a:ln w="8890">
            <a:solidFill>
              <a:srgbClr val="FFFFFF"/>
            </a:solidFill>
            <a:prstDash val="solid"/>
          </a:ln>
        </p:spPr>
      </p:sp>
      <p:sp>
        <p:nvSpPr>
          <p:cNvPr id="17" name="Text 15"/>
          <p:cNvSpPr/>
          <p:nvPr/>
        </p:nvSpPr>
        <p:spPr>
          <a:xfrm>
            <a:off x="832104" y="3739896"/>
            <a:ext cx="2295144" cy="292608"/>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Linking + variants</a:t>
            </a:r>
            <a:endParaRPr lang="en-US" sz="1700" dirty="0"/>
          </a:p>
        </p:txBody>
      </p:sp>
      <p:sp>
        <p:nvSpPr>
          <p:cNvPr id="18" name="Text 16"/>
          <p:cNvSpPr/>
          <p:nvPr/>
        </p:nvSpPr>
        <p:spPr>
          <a:xfrm>
            <a:off x="3346704" y="3721608"/>
            <a:ext cx="3931920" cy="338328"/>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Attach and group the correct paratexts</a:t>
            </a:r>
            <a:endParaRPr lang="en-US" sz="1400" dirty="0"/>
          </a:p>
        </p:txBody>
      </p:sp>
      <p:sp>
        <p:nvSpPr>
          <p:cNvPr id="19" name="Text 17"/>
          <p:cNvSpPr/>
          <p:nvPr/>
        </p:nvSpPr>
        <p:spPr>
          <a:xfrm>
            <a:off x="7626096" y="3712464"/>
            <a:ext cx="3703320" cy="356616"/>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Locus linking F1 ≥ .95; grouping F1 ≥ .90</a:t>
            </a:r>
            <a:endParaRPr lang="en-US" sz="1300" dirty="0"/>
          </a:p>
        </p:txBody>
      </p:sp>
      <p:sp>
        <p:nvSpPr>
          <p:cNvPr id="20" name="Shape 18"/>
          <p:cNvSpPr/>
          <p:nvPr/>
        </p:nvSpPr>
        <p:spPr>
          <a:xfrm>
            <a:off x="676656" y="4251960"/>
            <a:ext cx="10844784" cy="521208"/>
          </a:xfrm>
          <a:prstGeom prst="rect">
            <a:avLst/>
          </a:prstGeom>
          <a:solidFill>
            <a:srgbClr val="E3EEEA"/>
          </a:solidFill>
          <a:ln w="8890">
            <a:solidFill>
              <a:srgbClr val="E3EEEA"/>
            </a:solidFill>
            <a:prstDash val="solid"/>
          </a:ln>
        </p:spPr>
      </p:sp>
      <p:sp>
        <p:nvSpPr>
          <p:cNvPr id="21" name="Text 19"/>
          <p:cNvSpPr/>
          <p:nvPr/>
        </p:nvSpPr>
        <p:spPr>
          <a:xfrm>
            <a:off x="832104" y="4361688"/>
            <a:ext cx="2295144" cy="292608"/>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Substantive events</a:t>
            </a:r>
            <a:endParaRPr lang="en-US" sz="1700" dirty="0"/>
          </a:p>
        </p:txBody>
      </p:sp>
      <p:sp>
        <p:nvSpPr>
          <p:cNvPr id="22" name="Text 20"/>
          <p:cNvSpPr/>
          <p:nvPr/>
        </p:nvSpPr>
        <p:spPr>
          <a:xfrm>
            <a:off x="3346704" y="4343400"/>
            <a:ext cx="3931920" cy="338328"/>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Detect attribution and qualification changes</a:t>
            </a:r>
            <a:endParaRPr lang="en-US" sz="1400" dirty="0"/>
          </a:p>
        </p:txBody>
      </p:sp>
      <p:sp>
        <p:nvSpPr>
          <p:cNvPr id="23" name="Text 21"/>
          <p:cNvSpPr/>
          <p:nvPr/>
        </p:nvSpPr>
        <p:spPr>
          <a:xfrm>
            <a:off x="7626096" y="4334256"/>
            <a:ext cx="3703320" cy="356616"/>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Precision ≥ 95%; recall ≥ 90%</a:t>
            </a:r>
            <a:endParaRPr lang="en-US" sz="1300" dirty="0"/>
          </a:p>
        </p:txBody>
      </p:sp>
      <p:sp>
        <p:nvSpPr>
          <p:cNvPr id="24" name="Shape 22"/>
          <p:cNvSpPr/>
          <p:nvPr/>
        </p:nvSpPr>
        <p:spPr>
          <a:xfrm>
            <a:off x="676656" y="4873752"/>
            <a:ext cx="10844784" cy="521208"/>
          </a:xfrm>
          <a:prstGeom prst="rect">
            <a:avLst/>
          </a:prstGeom>
          <a:solidFill>
            <a:srgbClr val="FFFFFF"/>
          </a:solidFill>
          <a:ln w="8890">
            <a:solidFill>
              <a:srgbClr val="FFFFFF"/>
            </a:solidFill>
            <a:prstDash val="solid"/>
          </a:ln>
        </p:spPr>
      </p:sp>
      <p:sp>
        <p:nvSpPr>
          <p:cNvPr id="25" name="Text 23"/>
          <p:cNvSpPr/>
          <p:nvPr/>
        </p:nvSpPr>
        <p:spPr>
          <a:xfrm>
            <a:off x="832104" y="4983480"/>
            <a:ext cx="2295144" cy="292608"/>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Historian effort</a:t>
            </a:r>
            <a:endParaRPr lang="en-US" sz="1700" dirty="0"/>
          </a:p>
        </p:txBody>
      </p:sp>
      <p:sp>
        <p:nvSpPr>
          <p:cNvPr id="26" name="Text 24"/>
          <p:cNvSpPr/>
          <p:nvPr/>
        </p:nvSpPr>
        <p:spPr>
          <a:xfrm>
            <a:off x="3346704" y="4965192"/>
            <a:ext cx="3931920" cy="338328"/>
          </a:xfrm>
          <a:prstGeom prst="rect">
            <a:avLst/>
          </a:prstGeom>
          <a:noFill/>
          <a:ln/>
        </p:spPr>
        <p:txBody>
          <a:bodyPr wrap="square" lIns="0" tIns="0" rIns="0" bIns="0" rtlCol="0" anchor="ctr"/>
          <a:lstStyle/>
          <a:p>
            <a:pPr indent="0" marL="0">
              <a:buNone/>
            </a:pPr>
            <a:r>
              <a:rPr lang="en-US" sz="1400" dirty="0">
                <a:solidFill>
                  <a:srgbClr val="566570"/>
                </a:solidFill>
                <a:latin typeface="Aptos" pitchFamily="34" charset="0"/>
                <a:ea typeface="Aptos" pitchFamily="34" charset="-122"/>
                <a:cs typeface="Aptos" pitchFamily="34" charset="-120"/>
              </a:rPr>
              <a:t>Reduce the work needed per usable unit</a:t>
            </a:r>
            <a:endParaRPr lang="en-US" sz="1400" dirty="0"/>
          </a:p>
        </p:txBody>
      </p:sp>
      <p:sp>
        <p:nvSpPr>
          <p:cNvPr id="27" name="Text 25"/>
          <p:cNvSpPr/>
          <p:nvPr/>
        </p:nvSpPr>
        <p:spPr>
          <a:xfrm>
            <a:off x="7626096" y="4956048"/>
            <a:ext cx="3703320" cy="356616"/>
          </a:xfrm>
          <a:prstGeom prst="rect">
            <a:avLst/>
          </a:prstGeom>
          <a:noFill/>
          <a:ln/>
        </p:spPr>
        <p:txBody>
          <a:bodyPr wrap="square" lIns="0" tIns="0" rIns="0" bIns="0" rtlCol="0" anchor="ctr"/>
          <a:lstStyle/>
          <a:p>
            <a:pPr indent="0" marL="0">
              <a:buNone/>
            </a:pPr>
            <a:r>
              <a:rPr lang="en-US" sz="1300" b="1" dirty="0">
                <a:solidFill>
                  <a:srgbClr val="087F8C"/>
                </a:solidFill>
                <a:latin typeface="Aptos" pitchFamily="34" charset="0"/>
                <a:ea typeface="Aptos" pitchFamily="34" charset="-122"/>
                <a:cs typeface="Aptos" pitchFamily="34" charset="-120"/>
              </a:rPr>
              <a:t>Median correction time at least halved</a:t>
            </a:r>
            <a:endParaRPr lang="en-US" sz="1300" dirty="0"/>
          </a:p>
        </p:txBody>
      </p:sp>
      <p:sp>
        <p:nvSpPr>
          <p:cNvPr id="28" name="Text 26"/>
          <p:cNvSpPr/>
          <p:nvPr/>
        </p:nvSpPr>
        <p:spPr>
          <a:xfrm>
            <a:off x="768096" y="5934456"/>
            <a:ext cx="10689336" cy="356616"/>
          </a:xfrm>
          <a:prstGeom prst="rect">
            <a:avLst/>
          </a:prstGeom>
          <a:noFill/>
          <a:ln/>
        </p:spPr>
        <p:txBody>
          <a:bodyPr wrap="square" lIns="0" tIns="0" rIns="0" bIns="0" rtlCol="0" anchor="ctr"/>
          <a:lstStyle/>
          <a:p>
            <a:pPr indent="0" marL="0">
              <a:buNone/>
            </a:pPr>
            <a:r>
              <a:rPr lang="en-US" sz="1600" dirty="0">
                <a:solidFill>
                  <a:srgbClr val="566570"/>
                </a:solidFill>
                <a:latin typeface="Aptos" pitchFamily="34" charset="0"/>
                <a:ea typeface="Aptos" pitchFamily="34" charset="-122"/>
                <a:cs typeface="Aptos" pitchFamily="34" charset="-120"/>
              </a:rPr>
              <a:t>Pilot targets · report by edition, typeface and class · score all 60 sealed test pages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TASK IV · 5 / 5</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Publish a reusable corpus and an answerable question</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The first study: when and where did named interpretation become anonymous?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15</a:t>
            </a:r>
            <a:endParaRPr lang="en-US" sz="1000" dirty="0"/>
          </a:p>
        </p:txBody>
      </p:sp>
      <p:sp>
        <p:nvSpPr>
          <p:cNvPr id="8" name="Shape 6"/>
          <p:cNvSpPr/>
          <p:nvPr/>
        </p:nvSpPr>
        <p:spPr>
          <a:xfrm>
            <a:off x="694944" y="2377440"/>
            <a:ext cx="5230368" cy="1188720"/>
          </a:xfrm>
          <a:prstGeom prst="rect">
            <a:avLst/>
          </a:prstGeom>
          <a:solidFill>
            <a:srgbClr val="FFFFFF"/>
          </a:solidFill>
          <a:ln w="8890">
            <a:solidFill>
              <a:srgbClr val="FFFFFF"/>
            </a:solidFill>
            <a:prstDash val="solid"/>
          </a:ln>
        </p:spPr>
      </p:sp>
      <p:sp>
        <p:nvSpPr>
          <p:cNvPr id="9" name="Shape 7"/>
          <p:cNvSpPr/>
          <p:nvPr/>
        </p:nvSpPr>
        <p:spPr>
          <a:xfrm>
            <a:off x="694944" y="2377440"/>
            <a:ext cx="50292" cy="1188720"/>
          </a:xfrm>
          <a:prstGeom prst="rect">
            <a:avLst/>
          </a:prstGeom>
          <a:solidFill>
            <a:srgbClr val="087F8C"/>
          </a:solidFill>
          <a:ln w="8890">
            <a:solidFill>
              <a:srgbClr val="087F8C"/>
            </a:solidFill>
            <a:prstDash val="solid"/>
          </a:ln>
        </p:spPr>
      </p:sp>
      <p:sp>
        <p:nvSpPr>
          <p:cNvPr id="10" name="Text 8"/>
          <p:cNvSpPr/>
          <p:nvPr/>
        </p:nvSpPr>
        <p:spPr>
          <a:xfrm>
            <a:off x="859536" y="2505456"/>
            <a:ext cx="490118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GitHub</a:t>
            </a:r>
            <a:endParaRPr lang="en-US" sz="1700" dirty="0"/>
          </a:p>
        </p:txBody>
      </p:sp>
      <p:sp>
        <p:nvSpPr>
          <p:cNvPr id="11" name="Text 9"/>
          <p:cNvSpPr/>
          <p:nvPr/>
        </p:nvSpPr>
        <p:spPr>
          <a:xfrm>
            <a:off x="859536" y="2843784"/>
            <a:ext cx="4901184" cy="649224"/>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Versioned code · run scripts · tests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Annotation guide · evaluation protocol</a:t>
            </a:r>
            <a:endParaRPr lang="en-US" sz="1300" dirty="0"/>
          </a:p>
        </p:txBody>
      </p:sp>
      <p:sp>
        <p:nvSpPr>
          <p:cNvPr id="12" name="Shape 10"/>
          <p:cNvSpPr/>
          <p:nvPr/>
        </p:nvSpPr>
        <p:spPr>
          <a:xfrm>
            <a:off x="6263640" y="2377440"/>
            <a:ext cx="5230368" cy="1188720"/>
          </a:xfrm>
          <a:prstGeom prst="rect">
            <a:avLst/>
          </a:prstGeom>
          <a:solidFill>
            <a:srgbClr val="FFFFFF"/>
          </a:solidFill>
          <a:ln w="8890">
            <a:solidFill>
              <a:srgbClr val="FFFFFF"/>
            </a:solidFill>
            <a:prstDash val="solid"/>
          </a:ln>
        </p:spPr>
      </p:sp>
      <p:sp>
        <p:nvSpPr>
          <p:cNvPr id="13" name="Shape 11"/>
          <p:cNvSpPr/>
          <p:nvPr/>
        </p:nvSpPr>
        <p:spPr>
          <a:xfrm>
            <a:off x="6263640" y="2377440"/>
            <a:ext cx="50292" cy="1188720"/>
          </a:xfrm>
          <a:prstGeom prst="rect">
            <a:avLst/>
          </a:prstGeom>
          <a:solidFill>
            <a:srgbClr val="935BA5"/>
          </a:solidFill>
          <a:ln w="8890">
            <a:solidFill>
              <a:srgbClr val="935BA5"/>
            </a:solidFill>
            <a:prstDash val="solid"/>
          </a:ln>
        </p:spPr>
      </p:sp>
      <p:sp>
        <p:nvSpPr>
          <p:cNvPr id="14" name="Text 12"/>
          <p:cNvSpPr/>
          <p:nvPr/>
        </p:nvSpPr>
        <p:spPr>
          <a:xfrm>
            <a:off x="6428232" y="2505456"/>
            <a:ext cx="490118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Hugging Face / archival release</a:t>
            </a:r>
            <a:endParaRPr lang="en-US" sz="1700" dirty="0"/>
          </a:p>
        </p:txBody>
      </p:sp>
      <p:sp>
        <p:nvSpPr>
          <p:cNvPr id="15" name="Text 13"/>
          <p:cNvSpPr/>
          <p:nvPr/>
        </p:nvSpPr>
        <p:spPr>
          <a:xfrm>
            <a:off x="6428232" y="2843784"/>
            <a:ext cx="4901184" cy="649224"/>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Model weights · permitted annotations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Dataset / model cards · versioned identifiers</a:t>
            </a:r>
            <a:endParaRPr lang="en-US" sz="1300" dirty="0"/>
          </a:p>
        </p:txBody>
      </p:sp>
      <p:sp>
        <p:nvSpPr>
          <p:cNvPr id="16" name="Shape 14"/>
          <p:cNvSpPr/>
          <p:nvPr/>
        </p:nvSpPr>
        <p:spPr>
          <a:xfrm>
            <a:off x="694944" y="3886200"/>
            <a:ext cx="10799064" cy="914400"/>
          </a:xfrm>
          <a:prstGeom prst="rect">
            <a:avLst/>
          </a:prstGeom>
          <a:solidFill>
            <a:srgbClr val="E3EEEA"/>
          </a:solidFill>
          <a:ln w="8890">
            <a:solidFill>
              <a:srgbClr val="E3EEEA"/>
            </a:solidFill>
            <a:prstDash val="solid"/>
          </a:ln>
        </p:spPr>
      </p:sp>
      <p:sp>
        <p:nvSpPr>
          <p:cNvPr id="17" name="Text 15"/>
          <p:cNvSpPr/>
          <p:nvPr/>
        </p:nvSpPr>
        <p:spPr>
          <a:xfrm>
            <a:off x="877824" y="4032504"/>
            <a:ext cx="4133088" cy="292608"/>
          </a:xfrm>
          <a:prstGeom prst="rect">
            <a:avLst/>
          </a:prstGeom>
          <a:noFill/>
          <a:ln/>
        </p:spPr>
        <p:txBody>
          <a:bodyPr wrap="square" lIns="0" tIns="0" rIns="0" bIns="0" rtlCol="0" anchor="ctr"/>
          <a:lstStyle/>
          <a:p>
            <a:pPr indent="0" marL="0">
              <a:buNone/>
            </a:pPr>
            <a:r>
              <a:rPr lang="en-US" sz="2000" b="1" dirty="0">
                <a:solidFill>
                  <a:srgbClr val="162B38"/>
                </a:solidFill>
                <a:latin typeface="Aptos" pitchFamily="34" charset="0"/>
                <a:ea typeface="Aptos" pitchFamily="34" charset="-122"/>
                <a:cs typeface="Aptos" pitchFamily="34" charset="-120"/>
              </a:rPr>
              <a:t>Keep rights at the item level</a:t>
            </a:r>
            <a:endParaRPr lang="en-US" sz="2000" dirty="0"/>
          </a:p>
        </p:txBody>
      </p:sp>
      <p:sp>
        <p:nvSpPr>
          <p:cNvPr id="18" name="Text 16"/>
          <p:cNvSpPr/>
          <p:nvPr/>
        </p:nvSpPr>
        <p:spPr>
          <a:xfrm>
            <a:off x="5148072" y="4032504"/>
            <a:ext cx="6016752" cy="512064"/>
          </a:xfrm>
          <a:prstGeom prst="rect">
            <a:avLst/>
          </a:prstGeom>
          <a:noFill/>
          <a:ln/>
        </p:spPr>
        <p:txBody>
          <a:bodyPr wrap="square" lIns="0" tIns="0" rIns="0" bIns="0" rtlCol="0" anchor="ctr"/>
          <a:lstStyle/>
          <a:p>
            <a:pPr indent="0" marL="0">
              <a:buNone/>
            </a:pPr>
            <a:r>
              <a:rPr lang="en-US" sz="1600" dirty="0">
                <a:solidFill>
                  <a:srgbClr val="162B38"/>
                </a:solidFill>
                <a:latin typeface="Aptos" pitchFamily="34" charset="0"/>
                <a:ea typeface="Aptos" pitchFamily="34" charset="-122"/>
                <a:cs typeface="Aptos" pitchFamily="34" charset="-120"/>
              </a:rPr>
              <a:t>Library identifiers + IIIF links + retrieval scripts</a:t>
            </a:r>
            <a:endParaRPr lang="en-US" sz="1600" dirty="0"/>
          </a:p>
          <a:p>
            <a:pPr indent="0" marL="0">
              <a:buNone/>
            </a:pPr>
            <a:r>
              <a:rPr lang="en-US" sz="1600" dirty="0">
                <a:solidFill>
                  <a:srgbClr val="162B38"/>
                </a:solidFill>
                <a:latin typeface="Aptos" pitchFamily="34" charset="0"/>
                <a:ea typeface="Aptos" pitchFamily="34" charset="-122"/>
                <a:cs typeface="Aptos" pitchFamily="34" charset="-120"/>
              </a:rPr>
              <a:t>Redistribute images only under their recorded terms.</a:t>
            </a:r>
            <a:endParaRPr lang="en-US" sz="1600" dirty="0"/>
          </a:p>
        </p:txBody>
      </p:sp>
      <p:sp>
        <p:nvSpPr>
          <p:cNvPr id="19" name="Text 17"/>
          <p:cNvSpPr/>
          <p:nvPr/>
        </p:nvSpPr>
        <p:spPr>
          <a:xfrm>
            <a:off x="795528" y="5248656"/>
            <a:ext cx="10579608" cy="566928"/>
          </a:xfrm>
          <a:prstGeom prst="rect">
            <a:avLst/>
          </a:prstGeom>
          <a:noFill/>
          <a:ln/>
        </p:spPr>
        <p:txBody>
          <a:bodyPr wrap="square" lIns="0" tIns="0" rIns="0" bIns="0" rtlCol="0" anchor="ctr"/>
          <a:lstStyle/>
          <a:p>
            <a:pPr indent="0" marL="0">
              <a:buNone/>
            </a:pPr>
            <a:r>
              <a:rPr lang="en-US" sz="2900" b="1" dirty="0">
                <a:solidFill>
                  <a:srgbClr val="087F8C"/>
                </a:solidFill>
                <a:latin typeface="Aptos" pitchFamily="34" charset="0"/>
                <a:ea typeface="Aptos" pitchFamily="34" charset="-122"/>
                <a:cs typeface="Aptos" pitchFamily="34" charset="-120"/>
              </a:rPr>
              <a:t>Matched loci × editions × attribution events</a:t>
            </a:r>
            <a:endParaRPr lang="en-US" sz="2900" dirty="0"/>
          </a:p>
        </p:txBody>
      </p:sp>
      <p:sp>
        <p:nvSpPr>
          <p:cNvPr id="20" name="Text 18"/>
          <p:cNvSpPr/>
          <p:nvPr/>
        </p:nvSpPr>
        <p:spPr>
          <a:xfrm>
            <a:off x="804672" y="5934456"/>
            <a:ext cx="10689336" cy="347472"/>
          </a:xfrm>
          <a:prstGeom prst="rect">
            <a:avLst/>
          </a:prstGeom>
          <a:noFill/>
          <a:ln/>
        </p:spPr>
        <p:txBody>
          <a:bodyPr wrap="square" lIns="0" tIns="0" rIns="0" bIns="0" rtlCol="0" anchor="ctr"/>
          <a:lstStyle/>
          <a:p>
            <a:pPr indent="0" marL="0">
              <a:buNone/>
            </a:pPr>
            <a:r>
              <a:rPr lang="en-US" sz="1800" dirty="0">
                <a:solidFill>
                  <a:srgbClr val="566570"/>
                </a:solidFill>
                <a:latin typeface="Aptos" pitchFamily="34" charset="0"/>
                <a:ea typeface="Aptos" pitchFamily="34" charset="-122"/>
                <a:cs typeface="Aptos" pitchFamily="34" charset="-120"/>
              </a:rPr>
              <a:t>A corpus-wide pattern, with every conclusion linked back to its witnesses.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APPENDIX · RUNNING THE TASK</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The committee can reproduce the result locally</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See the package README for the supplied Windows launchers.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16</a:t>
            </a:r>
            <a:endParaRPr lang="en-US" sz="1000" dirty="0"/>
          </a:p>
        </p:txBody>
      </p:sp>
      <p:sp>
        <p:nvSpPr>
          <p:cNvPr id="8" name="Text 6"/>
          <p:cNvSpPr/>
          <p:nvPr/>
        </p:nvSpPr>
        <p:spPr>
          <a:xfrm>
            <a:off x="694944" y="2350008"/>
            <a:ext cx="5120640" cy="384048"/>
          </a:xfrm>
          <a:prstGeom prst="rect">
            <a:avLst/>
          </a:prstGeom>
          <a:noFill/>
          <a:ln/>
        </p:spPr>
        <p:txBody>
          <a:bodyPr wrap="square" lIns="0" tIns="0" rIns="0" bIns="0" rtlCol="0" anchor="ctr"/>
          <a:lstStyle/>
          <a:p>
            <a:pPr indent="0" marL="0">
              <a:buNone/>
            </a:pPr>
            <a:r>
              <a:rPr lang="en-US" sz="2400" b="1" dirty="0">
                <a:solidFill>
                  <a:srgbClr val="087F8C"/>
                </a:solidFill>
                <a:latin typeface="Aptos" pitchFamily="34" charset="0"/>
                <a:ea typeface="Aptos" pitchFamily="34" charset="-122"/>
                <a:cs typeface="Aptos" pitchFamily="34" charset="-120"/>
              </a:rPr>
              <a:t>Minimal task</a:t>
            </a:r>
            <a:endParaRPr lang="en-US" sz="2400" dirty="0"/>
          </a:p>
        </p:txBody>
      </p:sp>
      <p:sp>
        <p:nvSpPr>
          <p:cNvPr id="9" name="Text 7"/>
          <p:cNvSpPr/>
          <p:nvPr/>
        </p:nvSpPr>
        <p:spPr>
          <a:xfrm>
            <a:off x="722376" y="3008376"/>
            <a:ext cx="10698480" cy="832104"/>
          </a:xfrm>
          <a:prstGeom prst="rect">
            <a:avLst/>
          </a:prstGeom>
          <a:noFill/>
          <a:ln/>
        </p:spPr>
        <p:txBody>
          <a:bodyPr wrap="square" lIns="0" tIns="0" rIns="0" bIns="0" rtlCol="0" anchor="ctr"/>
          <a:lstStyle/>
          <a:p>
            <a:pPr indent="0" marL="0">
              <a:buNone/>
            </a:pPr>
            <a:r>
              <a:rPr lang="en-US" sz="2100" dirty="0">
                <a:solidFill>
                  <a:srgbClr val="162B38"/>
                </a:solidFill>
                <a:latin typeface="Consolas" pitchFamily="34" charset="0"/>
                <a:ea typeface="Consolas" pitchFamily="34" charset="-122"/>
                <a:cs typeface="Consolas" pitchFamily="34" charset="-120"/>
              </a:rPr>
              <a:t>python -m pip install opencv-python numpy</a:t>
            </a:r>
            <a:endParaRPr lang="en-US" sz="2100" dirty="0"/>
          </a:p>
          <a:p>
            <a:pPr indent="0" marL="0">
              <a:buNone/>
            </a:pPr>
            <a:r>
              <a:rPr lang="en-US" sz="2100" dirty="0">
                <a:solidFill>
                  <a:srgbClr val="162B38"/>
                </a:solidFill>
                <a:latin typeface="Consolas" pitchFamily="34" charset="0"/>
                <a:ea typeface="Consolas" pitchFamily="34" charset="-122"/>
                <a:cs typeface="Consolas" pitchFamily="34" charset="-120"/>
              </a:rPr>
              <a:t>python task1.py</a:t>
            </a:r>
            <a:endParaRPr lang="en-US" sz="2100" dirty="0"/>
          </a:p>
        </p:txBody>
      </p:sp>
      <p:sp>
        <p:nvSpPr>
          <p:cNvPr id="10" name="Text 8"/>
          <p:cNvSpPr/>
          <p:nvPr/>
        </p:nvSpPr>
        <p:spPr>
          <a:xfrm>
            <a:off x="694944" y="4270248"/>
            <a:ext cx="5120640" cy="384048"/>
          </a:xfrm>
          <a:prstGeom prst="rect">
            <a:avLst/>
          </a:prstGeom>
          <a:noFill/>
          <a:ln/>
        </p:spPr>
        <p:txBody>
          <a:bodyPr wrap="square" lIns="0" tIns="0" rIns="0" bIns="0" rtlCol="0" anchor="ctr"/>
          <a:lstStyle/>
          <a:p>
            <a:pPr indent="0" marL="0">
              <a:buNone/>
            </a:pPr>
            <a:r>
              <a:rPr lang="en-US" sz="2400" b="1" dirty="0">
                <a:solidFill>
                  <a:srgbClr val="087F8C"/>
                </a:solidFill>
                <a:latin typeface="Aptos" pitchFamily="34" charset="0"/>
                <a:ea typeface="Aptos" pitchFamily="34" charset="-122"/>
                <a:cs typeface="Aptos" pitchFamily="34" charset="-120"/>
              </a:rPr>
              <a:t>MDZ interfaces</a:t>
            </a:r>
            <a:endParaRPr lang="en-US" sz="2400" dirty="0"/>
          </a:p>
        </p:txBody>
      </p:sp>
      <p:sp>
        <p:nvSpPr>
          <p:cNvPr id="11" name="Text 9"/>
          <p:cNvSpPr/>
          <p:nvPr/>
        </p:nvSpPr>
        <p:spPr>
          <a:xfrm>
            <a:off x="731520" y="4901184"/>
            <a:ext cx="10698480" cy="1051560"/>
          </a:xfrm>
          <a:prstGeom prst="rect">
            <a:avLst/>
          </a:prstGeom>
          <a:noFill/>
          <a:ln/>
        </p:spPr>
        <p:txBody>
          <a:bodyPr wrap="square" lIns="0" tIns="0" rIns="0" bIns="0" rtlCol="0" anchor="ctr"/>
          <a:lstStyle/>
          <a:p>
            <a:pPr indent="0" marL="0">
              <a:buNone/>
            </a:pPr>
            <a:r>
              <a:rPr lang="en-US" sz="1700" dirty="0">
                <a:solidFill>
                  <a:srgbClr val="162B38"/>
                </a:solidFill>
                <a:latin typeface="Aptos" pitchFamily="34" charset="0"/>
                <a:ea typeface="Aptos" pitchFamily="34" charset="-122"/>
                <a:cs typeface="Aptos" pitchFamily="34" charset="-120"/>
              </a:rPr>
              <a:t>IIIF image API: api.digitale-sammlungen.de/iiif/image/v2/bsb10144443_00040</a:t>
            </a:r>
            <a:endParaRPr lang="en-US" sz="1700" dirty="0"/>
          </a:p>
          <a:p>
            <a:pPr indent="0" marL="0">
              <a:buNone/>
            </a:pPr>
            <a:r>
              <a:rPr lang="en-US" sz="1700" dirty="0">
                <a:solidFill>
                  <a:srgbClr val="162B38"/>
                </a:solidFill>
                <a:latin typeface="Aptos" pitchFamily="34" charset="0"/>
                <a:ea typeface="Aptos" pitchFamily="34" charset="-122"/>
                <a:cs typeface="Aptos" pitchFamily="34" charset="-120"/>
              </a:rPr>
              <a:t>hOCR: api.digitale-sammlungen.de/ocr/bsb10144443/40</a:t>
            </a:r>
            <a:endParaRPr lang="en-US" sz="1700" dirty="0"/>
          </a:p>
          <a:p>
            <a:pPr indent="0" marL="0">
              <a:buNone/>
            </a:pPr>
            <a:r>
              <a:rPr lang="en-US" sz="1700" dirty="0">
                <a:solidFill>
                  <a:srgbClr val="162B38"/>
                </a:solidFill>
                <a:latin typeface="Aptos" pitchFamily="34" charset="0"/>
                <a:ea typeface="Aptos" pitchFamily="34" charset="-122"/>
                <a:cs typeface="Aptos" pitchFamily="34" charset="-120"/>
              </a:rPr>
              <a:t>Image: use 00041. OCR: use /41 for the second task page.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APPENDIX · NEURAL MODEL EVALUATION</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Neural v3: the complete confusion matrix</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20 evaluation pages · reference in rows, prediction in columns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17</a:t>
            </a:r>
            <a:endParaRPr lang="en-US" sz="1000" dirty="0"/>
          </a:p>
        </p:txBody>
      </p:sp>
      <p:sp>
        <p:nvSpPr>
          <p:cNvPr id="8" name="Text 6"/>
          <p:cNvSpPr/>
          <p:nvPr/>
        </p:nvSpPr>
        <p:spPr>
          <a:xfrm>
            <a:off x="3502152" y="2450592"/>
            <a:ext cx="1380744" cy="365760"/>
          </a:xfrm>
          <a:prstGeom prst="rect">
            <a:avLst/>
          </a:prstGeom>
          <a:noFill/>
          <a:ln/>
        </p:spPr>
        <p:txBody>
          <a:bodyPr wrap="square" lIns="0" tIns="0" rIns="0" bIns="0" rtlCol="0" anchor="ctr"/>
          <a:lstStyle/>
          <a:p>
            <a:pPr algn="ctr" indent="0" marL="0">
              <a:buNone/>
            </a:pPr>
            <a:r>
              <a:rPr lang="en-US" sz="1500" b="1" dirty="0">
                <a:solidFill>
                  <a:srgbClr val="087F8C"/>
                </a:solidFill>
                <a:latin typeface="Aptos" pitchFamily="34" charset="0"/>
                <a:ea typeface="Aptos" pitchFamily="34" charset="-122"/>
                <a:cs typeface="Aptos" pitchFamily="34" charset="-120"/>
              </a:rPr>
              <a:t>Text</a:t>
            </a:r>
            <a:endParaRPr lang="en-US" sz="1500" dirty="0"/>
          </a:p>
        </p:txBody>
      </p:sp>
      <p:sp>
        <p:nvSpPr>
          <p:cNvPr id="9" name="Text 7"/>
          <p:cNvSpPr/>
          <p:nvPr/>
        </p:nvSpPr>
        <p:spPr>
          <a:xfrm>
            <a:off x="4965192" y="2450592"/>
            <a:ext cx="1380744" cy="365760"/>
          </a:xfrm>
          <a:prstGeom prst="rect">
            <a:avLst/>
          </a:prstGeom>
          <a:noFill/>
          <a:ln/>
        </p:spPr>
        <p:txBody>
          <a:bodyPr wrap="square" lIns="0" tIns="0" rIns="0" bIns="0" rtlCol="0" anchor="ctr"/>
          <a:lstStyle/>
          <a:p>
            <a:pPr algn="ctr" indent="0" marL="0">
              <a:buNone/>
            </a:pPr>
            <a:r>
              <a:rPr lang="en-US" sz="1500" b="1" dirty="0">
                <a:solidFill>
                  <a:srgbClr val="087F8C"/>
                </a:solidFill>
                <a:latin typeface="Aptos" pitchFamily="34" charset="0"/>
                <a:ea typeface="Aptos" pitchFamily="34" charset="-122"/>
                <a:cs typeface="Aptos" pitchFamily="34" charset="-120"/>
              </a:rPr>
              <a:t>Summarium</a:t>
            </a:r>
            <a:endParaRPr lang="en-US" sz="1500" dirty="0"/>
          </a:p>
        </p:txBody>
      </p:sp>
      <p:sp>
        <p:nvSpPr>
          <p:cNvPr id="10" name="Text 8"/>
          <p:cNvSpPr/>
          <p:nvPr/>
        </p:nvSpPr>
        <p:spPr>
          <a:xfrm>
            <a:off x="6428232" y="2450592"/>
            <a:ext cx="1380744" cy="365760"/>
          </a:xfrm>
          <a:prstGeom prst="rect">
            <a:avLst/>
          </a:prstGeom>
          <a:noFill/>
          <a:ln/>
        </p:spPr>
        <p:txBody>
          <a:bodyPr wrap="square" lIns="0" tIns="0" rIns="0" bIns="0" rtlCol="0" anchor="ctr"/>
          <a:lstStyle/>
          <a:p>
            <a:pPr algn="ctr" indent="0" marL="0">
              <a:buNone/>
            </a:pPr>
            <a:r>
              <a:rPr lang="en-US" sz="1500" b="1" dirty="0">
                <a:solidFill>
                  <a:srgbClr val="087F8C"/>
                </a:solidFill>
                <a:latin typeface="Aptos" pitchFamily="34" charset="0"/>
                <a:ea typeface="Aptos" pitchFamily="34" charset="-122"/>
                <a:cs typeface="Aptos" pitchFamily="34" charset="-120"/>
              </a:rPr>
              <a:t>Inscriptio</a:t>
            </a:r>
            <a:endParaRPr lang="en-US" sz="1500" dirty="0"/>
          </a:p>
        </p:txBody>
      </p:sp>
      <p:sp>
        <p:nvSpPr>
          <p:cNvPr id="11" name="Text 9"/>
          <p:cNvSpPr/>
          <p:nvPr/>
        </p:nvSpPr>
        <p:spPr>
          <a:xfrm>
            <a:off x="7891272" y="2450592"/>
            <a:ext cx="1380744" cy="365760"/>
          </a:xfrm>
          <a:prstGeom prst="rect">
            <a:avLst/>
          </a:prstGeom>
          <a:noFill/>
          <a:ln/>
        </p:spPr>
        <p:txBody>
          <a:bodyPr wrap="square" lIns="0" tIns="0" rIns="0" bIns="0" rtlCol="0" anchor="ctr"/>
          <a:lstStyle/>
          <a:p>
            <a:pPr algn="ctr" indent="0" marL="0">
              <a:buNone/>
            </a:pPr>
            <a:r>
              <a:rPr lang="en-US" sz="1500" b="1" dirty="0">
                <a:solidFill>
                  <a:srgbClr val="087F8C"/>
                </a:solidFill>
                <a:latin typeface="Aptos" pitchFamily="34" charset="0"/>
                <a:ea typeface="Aptos" pitchFamily="34" charset="-122"/>
                <a:cs typeface="Aptos" pitchFamily="34" charset="-120"/>
              </a:rPr>
              <a:t>Other</a:t>
            </a:r>
            <a:endParaRPr lang="en-US" sz="1500" dirty="0"/>
          </a:p>
        </p:txBody>
      </p:sp>
      <p:sp>
        <p:nvSpPr>
          <p:cNvPr id="12" name="Text 10"/>
          <p:cNvSpPr/>
          <p:nvPr/>
        </p:nvSpPr>
        <p:spPr>
          <a:xfrm>
            <a:off x="9354312" y="2450592"/>
            <a:ext cx="1380744" cy="365760"/>
          </a:xfrm>
          <a:prstGeom prst="rect">
            <a:avLst/>
          </a:prstGeom>
          <a:noFill/>
          <a:ln/>
        </p:spPr>
        <p:txBody>
          <a:bodyPr wrap="square" lIns="0" tIns="0" rIns="0" bIns="0" rtlCol="0" anchor="ctr"/>
          <a:lstStyle/>
          <a:p>
            <a:pPr algn="ctr" indent="0" marL="0">
              <a:buNone/>
            </a:pPr>
            <a:r>
              <a:rPr lang="en-US" sz="1500" b="1" dirty="0">
                <a:solidFill>
                  <a:srgbClr val="087F8C"/>
                </a:solidFill>
                <a:latin typeface="Aptos" pitchFamily="34" charset="0"/>
                <a:ea typeface="Aptos" pitchFamily="34" charset="-122"/>
                <a:cs typeface="Aptos" pitchFamily="34" charset="-120"/>
              </a:rPr>
              <a:t>Outside</a:t>
            </a:r>
            <a:endParaRPr lang="en-US" sz="1500" dirty="0"/>
          </a:p>
        </p:txBody>
      </p:sp>
      <p:sp>
        <p:nvSpPr>
          <p:cNvPr id="13" name="Text 11"/>
          <p:cNvSpPr/>
          <p:nvPr/>
        </p:nvSpPr>
        <p:spPr>
          <a:xfrm>
            <a:off x="1316736" y="3099816"/>
            <a:ext cx="1984248" cy="310896"/>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Text</a:t>
            </a:r>
            <a:endParaRPr lang="en-US" sz="1700" dirty="0"/>
          </a:p>
        </p:txBody>
      </p:sp>
      <p:sp>
        <p:nvSpPr>
          <p:cNvPr id="14" name="Shape 12"/>
          <p:cNvSpPr/>
          <p:nvPr/>
        </p:nvSpPr>
        <p:spPr>
          <a:xfrm>
            <a:off x="3502152" y="3008376"/>
            <a:ext cx="1380744" cy="429768"/>
          </a:xfrm>
          <a:prstGeom prst="rect">
            <a:avLst/>
          </a:prstGeom>
          <a:solidFill>
            <a:srgbClr val="087F8C"/>
          </a:solidFill>
          <a:ln w="8890">
            <a:solidFill>
              <a:srgbClr val="087F8C"/>
            </a:solidFill>
            <a:prstDash val="solid"/>
          </a:ln>
        </p:spPr>
      </p:sp>
      <p:sp>
        <p:nvSpPr>
          <p:cNvPr id="15" name="Text 13"/>
          <p:cNvSpPr/>
          <p:nvPr/>
        </p:nvSpPr>
        <p:spPr>
          <a:xfrm>
            <a:off x="3502152" y="3099816"/>
            <a:ext cx="1380744" cy="246888"/>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811</a:t>
            </a:r>
            <a:endParaRPr lang="en-US" sz="1800" dirty="0"/>
          </a:p>
        </p:txBody>
      </p:sp>
      <p:sp>
        <p:nvSpPr>
          <p:cNvPr id="16" name="Shape 14"/>
          <p:cNvSpPr/>
          <p:nvPr/>
        </p:nvSpPr>
        <p:spPr>
          <a:xfrm>
            <a:off x="4965192" y="3008376"/>
            <a:ext cx="1380744" cy="429768"/>
          </a:xfrm>
          <a:prstGeom prst="rect">
            <a:avLst/>
          </a:prstGeom>
          <a:solidFill>
            <a:srgbClr val="FFFFFF"/>
          </a:solidFill>
          <a:ln w="8890">
            <a:solidFill>
              <a:srgbClr val="FFFFFF"/>
            </a:solidFill>
            <a:prstDash val="solid"/>
          </a:ln>
        </p:spPr>
      </p:sp>
      <p:sp>
        <p:nvSpPr>
          <p:cNvPr id="17" name="Text 15"/>
          <p:cNvSpPr/>
          <p:nvPr/>
        </p:nvSpPr>
        <p:spPr>
          <a:xfrm>
            <a:off x="4965192" y="309981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18" name="Shape 16"/>
          <p:cNvSpPr/>
          <p:nvPr/>
        </p:nvSpPr>
        <p:spPr>
          <a:xfrm>
            <a:off x="6428232" y="3008376"/>
            <a:ext cx="1380744" cy="429768"/>
          </a:xfrm>
          <a:prstGeom prst="rect">
            <a:avLst/>
          </a:prstGeom>
          <a:solidFill>
            <a:srgbClr val="FFFFFF"/>
          </a:solidFill>
          <a:ln w="8890">
            <a:solidFill>
              <a:srgbClr val="FFFFFF"/>
            </a:solidFill>
            <a:prstDash val="solid"/>
          </a:ln>
        </p:spPr>
      </p:sp>
      <p:sp>
        <p:nvSpPr>
          <p:cNvPr id="19" name="Text 17"/>
          <p:cNvSpPr/>
          <p:nvPr/>
        </p:nvSpPr>
        <p:spPr>
          <a:xfrm>
            <a:off x="6428232" y="309981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20" name="Shape 18"/>
          <p:cNvSpPr/>
          <p:nvPr/>
        </p:nvSpPr>
        <p:spPr>
          <a:xfrm>
            <a:off x="7891272" y="3008376"/>
            <a:ext cx="1380744" cy="429768"/>
          </a:xfrm>
          <a:prstGeom prst="rect">
            <a:avLst/>
          </a:prstGeom>
          <a:solidFill>
            <a:srgbClr val="E9D3CC"/>
          </a:solidFill>
          <a:ln w="8890">
            <a:solidFill>
              <a:srgbClr val="E9D3CC"/>
            </a:solidFill>
            <a:prstDash val="solid"/>
          </a:ln>
        </p:spPr>
      </p:sp>
      <p:sp>
        <p:nvSpPr>
          <p:cNvPr id="21" name="Text 19"/>
          <p:cNvSpPr/>
          <p:nvPr/>
        </p:nvSpPr>
        <p:spPr>
          <a:xfrm>
            <a:off x="7891272" y="309981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1</a:t>
            </a:r>
            <a:endParaRPr lang="en-US" sz="1800" dirty="0"/>
          </a:p>
        </p:txBody>
      </p:sp>
      <p:sp>
        <p:nvSpPr>
          <p:cNvPr id="22" name="Shape 20"/>
          <p:cNvSpPr/>
          <p:nvPr/>
        </p:nvSpPr>
        <p:spPr>
          <a:xfrm>
            <a:off x="9354312" y="3008376"/>
            <a:ext cx="1380744" cy="429768"/>
          </a:xfrm>
          <a:prstGeom prst="rect">
            <a:avLst/>
          </a:prstGeom>
          <a:solidFill>
            <a:srgbClr val="FFFFFF"/>
          </a:solidFill>
          <a:ln w="8890">
            <a:solidFill>
              <a:srgbClr val="FFFFFF"/>
            </a:solidFill>
            <a:prstDash val="solid"/>
          </a:ln>
        </p:spPr>
      </p:sp>
      <p:sp>
        <p:nvSpPr>
          <p:cNvPr id="23" name="Text 21"/>
          <p:cNvSpPr/>
          <p:nvPr/>
        </p:nvSpPr>
        <p:spPr>
          <a:xfrm>
            <a:off x="9354312" y="309981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24" name="Text 22"/>
          <p:cNvSpPr/>
          <p:nvPr/>
        </p:nvSpPr>
        <p:spPr>
          <a:xfrm>
            <a:off x="1316736" y="3602736"/>
            <a:ext cx="1984248" cy="310896"/>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Summarium</a:t>
            </a:r>
            <a:endParaRPr lang="en-US" sz="1700" dirty="0"/>
          </a:p>
        </p:txBody>
      </p:sp>
      <p:sp>
        <p:nvSpPr>
          <p:cNvPr id="25" name="Shape 23"/>
          <p:cNvSpPr/>
          <p:nvPr/>
        </p:nvSpPr>
        <p:spPr>
          <a:xfrm>
            <a:off x="3502152" y="3511296"/>
            <a:ext cx="1380744" cy="429768"/>
          </a:xfrm>
          <a:prstGeom prst="rect">
            <a:avLst/>
          </a:prstGeom>
          <a:solidFill>
            <a:srgbClr val="FFFFFF"/>
          </a:solidFill>
          <a:ln w="8890">
            <a:solidFill>
              <a:srgbClr val="FFFFFF"/>
            </a:solidFill>
            <a:prstDash val="solid"/>
          </a:ln>
        </p:spPr>
      </p:sp>
      <p:sp>
        <p:nvSpPr>
          <p:cNvPr id="26" name="Text 24"/>
          <p:cNvSpPr/>
          <p:nvPr/>
        </p:nvSpPr>
        <p:spPr>
          <a:xfrm>
            <a:off x="3502152" y="360273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27" name="Shape 25"/>
          <p:cNvSpPr/>
          <p:nvPr/>
        </p:nvSpPr>
        <p:spPr>
          <a:xfrm>
            <a:off x="4965192" y="3511296"/>
            <a:ext cx="1380744" cy="429768"/>
          </a:xfrm>
          <a:prstGeom prst="rect">
            <a:avLst/>
          </a:prstGeom>
          <a:solidFill>
            <a:srgbClr val="087F8C"/>
          </a:solidFill>
          <a:ln w="8890">
            <a:solidFill>
              <a:srgbClr val="087F8C"/>
            </a:solidFill>
            <a:prstDash val="solid"/>
          </a:ln>
        </p:spPr>
      </p:sp>
      <p:sp>
        <p:nvSpPr>
          <p:cNvPr id="28" name="Text 26"/>
          <p:cNvSpPr/>
          <p:nvPr/>
        </p:nvSpPr>
        <p:spPr>
          <a:xfrm>
            <a:off x="4965192" y="3602736"/>
            <a:ext cx="1380744" cy="246888"/>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143</a:t>
            </a:r>
            <a:endParaRPr lang="en-US" sz="1800" dirty="0"/>
          </a:p>
        </p:txBody>
      </p:sp>
      <p:sp>
        <p:nvSpPr>
          <p:cNvPr id="29" name="Shape 27"/>
          <p:cNvSpPr/>
          <p:nvPr/>
        </p:nvSpPr>
        <p:spPr>
          <a:xfrm>
            <a:off x="6428232" y="3511296"/>
            <a:ext cx="1380744" cy="429768"/>
          </a:xfrm>
          <a:prstGeom prst="rect">
            <a:avLst/>
          </a:prstGeom>
          <a:solidFill>
            <a:srgbClr val="FFFFFF"/>
          </a:solidFill>
          <a:ln w="8890">
            <a:solidFill>
              <a:srgbClr val="FFFFFF"/>
            </a:solidFill>
            <a:prstDash val="solid"/>
          </a:ln>
        </p:spPr>
      </p:sp>
      <p:sp>
        <p:nvSpPr>
          <p:cNvPr id="30" name="Text 28"/>
          <p:cNvSpPr/>
          <p:nvPr/>
        </p:nvSpPr>
        <p:spPr>
          <a:xfrm>
            <a:off x="6428232" y="360273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31" name="Shape 29"/>
          <p:cNvSpPr/>
          <p:nvPr/>
        </p:nvSpPr>
        <p:spPr>
          <a:xfrm>
            <a:off x="7891272" y="3511296"/>
            <a:ext cx="1380744" cy="429768"/>
          </a:xfrm>
          <a:prstGeom prst="rect">
            <a:avLst/>
          </a:prstGeom>
          <a:solidFill>
            <a:srgbClr val="FFFFFF"/>
          </a:solidFill>
          <a:ln w="8890">
            <a:solidFill>
              <a:srgbClr val="FFFFFF"/>
            </a:solidFill>
            <a:prstDash val="solid"/>
          </a:ln>
        </p:spPr>
      </p:sp>
      <p:sp>
        <p:nvSpPr>
          <p:cNvPr id="32" name="Text 30"/>
          <p:cNvSpPr/>
          <p:nvPr/>
        </p:nvSpPr>
        <p:spPr>
          <a:xfrm>
            <a:off x="7891272" y="360273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33" name="Shape 31"/>
          <p:cNvSpPr/>
          <p:nvPr/>
        </p:nvSpPr>
        <p:spPr>
          <a:xfrm>
            <a:off x="9354312" y="3511296"/>
            <a:ext cx="1380744" cy="429768"/>
          </a:xfrm>
          <a:prstGeom prst="rect">
            <a:avLst/>
          </a:prstGeom>
          <a:solidFill>
            <a:srgbClr val="FFFFFF"/>
          </a:solidFill>
          <a:ln w="8890">
            <a:solidFill>
              <a:srgbClr val="FFFFFF"/>
            </a:solidFill>
            <a:prstDash val="solid"/>
          </a:ln>
        </p:spPr>
      </p:sp>
      <p:sp>
        <p:nvSpPr>
          <p:cNvPr id="34" name="Text 32"/>
          <p:cNvSpPr/>
          <p:nvPr/>
        </p:nvSpPr>
        <p:spPr>
          <a:xfrm>
            <a:off x="9354312" y="360273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35" name="Text 33"/>
          <p:cNvSpPr/>
          <p:nvPr/>
        </p:nvSpPr>
        <p:spPr>
          <a:xfrm>
            <a:off x="1316736" y="4105656"/>
            <a:ext cx="1984248" cy="310896"/>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Inscriptio</a:t>
            </a:r>
            <a:endParaRPr lang="en-US" sz="1700" dirty="0"/>
          </a:p>
        </p:txBody>
      </p:sp>
      <p:sp>
        <p:nvSpPr>
          <p:cNvPr id="36" name="Shape 34"/>
          <p:cNvSpPr/>
          <p:nvPr/>
        </p:nvSpPr>
        <p:spPr>
          <a:xfrm>
            <a:off x="3502152" y="4014216"/>
            <a:ext cx="1380744" cy="429768"/>
          </a:xfrm>
          <a:prstGeom prst="rect">
            <a:avLst/>
          </a:prstGeom>
          <a:solidFill>
            <a:srgbClr val="E9D3CC"/>
          </a:solidFill>
          <a:ln w="8890">
            <a:solidFill>
              <a:srgbClr val="E9D3CC"/>
            </a:solidFill>
            <a:prstDash val="solid"/>
          </a:ln>
        </p:spPr>
      </p:sp>
      <p:sp>
        <p:nvSpPr>
          <p:cNvPr id="37" name="Text 35"/>
          <p:cNvSpPr/>
          <p:nvPr/>
        </p:nvSpPr>
        <p:spPr>
          <a:xfrm>
            <a:off x="3502152" y="410565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4</a:t>
            </a:r>
            <a:endParaRPr lang="en-US" sz="1800" dirty="0"/>
          </a:p>
        </p:txBody>
      </p:sp>
      <p:sp>
        <p:nvSpPr>
          <p:cNvPr id="38" name="Shape 36"/>
          <p:cNvSpPr/>
          <p:nvPr/>
        </p:nvSpPr>
        <p:spPr>
          <a:xfrm>
            <a:off x="4965192" y="4014216"/>
            <a:ext cx="1380744" cy="429768"/>
          </a:xfrm>
          <a:prstGeom prst="rect">
            <a:avLst/>
          </a:prstGeom>
          <a:solidFill>
            <a:srgbClr val="E9D3CC"/>
          </a:solidFill>
          <a:ln w="8890">
            <a:solidFill>
              <a:srgbClr val="E9D3CC"/>
            </a:solidFill>
            <a:prstDash val="solid"/>
          </a:ln>
        </p:spPr>
      </p:sp>
      <p:sp>
        <p:nvSpPr>
          <p:cNvPr id="39" name="Text 37"/>
          <p:cNvSpPr/>
          <p:nvPr/>
        </p:nvSpPr>
        <p:spPr>
          <a:xfrm>
            <a:off x="4965192" y="410565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1</a:t>
            </a:r>
            <a:endParaRPr lang="en-US" sz="1800" dirty="0"/>
          </a:p>
        </p:txBody>
      </p:sp>
      <p:sp>
        <p:nvSpPr>
          <p:cNvPr id="40" name="Shape 38"/>
          <p:cNvSpPr/>
          <p:nvPr/>
        </p:nvSpPr>
        <p:spPr>
          <a:xfrm>
            <a:off x="6428232" y="4014216"/>
            <a:ext cx="1380744" cy="429768"/>
          </a:xfrm>
          <a:prstGeom prst="rect">
            <a:avLst/>
          </a:prstGeom>
          <a:solidFill>
            <a:srgbClr val="087F8C"/>
          </a:solidFill>
          <a:ln w="8890">
            <a:solidFill>
              <a:srgbClr val="087F8C"/>
            </a:solidFill>
            <a:prstDash val="solid"/>
          </a:ln>
        </p:spPr>
      </p:sp>
      <p:sp>
        <p:nvSpPr>
          <p:cNvPr id="41" name="Text 39"/>
          <p:cNvSpPr/>
          <p:nvPr/>
        </p:nvSpPr>
        <p:spPr>
          <a:xfrm>
            <a:off x="6428232" y="4105656"/>
            <a:ext cx="1380744" cy="246888"/>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26</a:t>
            </a:r>
            <a:endParaRPr lang="en-US" sz="1800" dirty="0"/>
          </a:p>
        </p:txBody>
      </p:sp>
      <p:sp>
        <p:nvSpPr>
          <p:cNvPr id="42" name="Shape 40"/>
          <p:cNvSpPr/>
          <p:nvPr/>
        </p:nvSpPr>
        <p:spPr>
          <a:xfrm>
            <a:off x="7891272" y="4014216"/>
            <a:ext cx="1380744" cy="429768"/>
          </a:xfrm>
          <a:prstGeom prst="rect">
            <a:avLst/>
          </a:prstGeom>
          <a:solidFill>
            <a:srgbClr val="FFFFFF"/>
          </a:solidFill>
          <a:ln w="8890">
            <a:solidFill>
              <a:srgbClr val="FFFFFF"/>
            </a:solidFill>
            <a:prstDash val="solid"/>
          </a:ln>
        </p:spPr>
      </p:sp>
      <p:sp>
        <p:nvSpPr>
          <p:cNvPr id="43" name="Text 41"/>
          <p:cNvSpPr/>
          <p:nvPr/>
        </p:nvSpPr>
        <p:spPr>
          <a:xfrm>
            <a:off x="7891272" y="410565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44" name="Shape 42"/>
          <p:cNvSpPr/>
          <p:nvPr/>
        </p:nvSpPr>
        <p:spPr>
          <a:xfrm>
            <a:off x="9354312" y="4014216"/>
            <a:ext cx="1380744" cy="429768"/>
          </a:xfrm>
          <a:prstGeom prst="rect">
            <a:avLst/>
          </a:prstGeom>
          <a:solidFill>
            <a:srgbClr val="FFFFFF"/>
          </a:solidFill>
          <a:ln w="8890">
            <a:solidFill>
              <a:srgbClr val="FFFFFF"/>
            </a:solidFill>
            <a:prstDash val="solid"/>
          </a:ln>
        </p:spPr>
      </p:sp>
      <p:sp>
        <p:nvSpPr>
          <p:cNvPr id="45" name="Text 43"/>
          <p:cNvSpPr/>
          <p:nvPr/>
        </p:nvSpPr>
        <p:spPr>
          <a:xfrm>
            <a:off x="9354312" y="410565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46" name="Text 44"/>
          <p:cNvSpPr/>
          <p:nvPr/>
        </p:nvSpPr>
        <p:spPr>
          <a:xfrm>
            <a:off x="1316736" y="4608576"/>
            <a:ext cx="1984248" cy="310896"/>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Other</a:t>
            </a:r>
            <a:endParaRPr lang="en-US" sz="1700" dirty="0"/>
          </a:p>
        </p:txBody>
      </p:sp>
      <p:sp>
        <p:nvSpPr>
          <p:cNvPr id="47" name="Shape 45"/>
          <p:cNvSpPr/>
          <p:nvPr/>
        </p:nvSpPr>
        <p:spPr>
          <a:xfrm>
            <a:off x="3502152" y="4517136"/>
            <a:ext cx="1380744" cy="429768"/>
          </a:xfrm>
          <a:prstGeom prst="rect">
            <a:avLst/>
          </a:prstGeom>
          <a:solidFill>
            <a:srgbClr val="E9D3CC"/>
          </a:solidFill>
          <a:ln w="8890">
            <a:solidFill>
              <a:srgbClr val="E9D3CC"/>
            </a:solidFill>
            <a:prstDash val="solid"/>
          </a:ln>
        </p:spPr>
      </p:sp>
      <p:sp>
        <p:nvSpPr>
          <p:cNvPr id="48" name="Text 46"/>
          <p:cNvSpPr/>
          <p:nvPr/>
        </p:nvSpPr>
        <p:spPr>
          <a:xfrm>
            <a:off x="3502152" y="460857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4</a:t>
            </a:r>
            <a:endParaRPr lang="en-US" sz="1800" dirty="0"/>
          </a:p>
        </p:txBody>
      </p:sp>
      <p:sp>
        <p:nvSpPr>
          <p:cNvPr id="49" name="Shape 47"/>
          <p:cNvSpPr/>
          <p:nvPr/>
        </p:nvSpPr>
        <p:spPr>
          <a:xfrm>
            <a:off x="4965192" y="4517136"/>
            <a:ext cx="1380744" cy="429768"/>
          </a:xfrm>
          <a:prstGeom prst="rect">
            <a:avLst/>
          </a:prstGeom>
          <a:solidFill>
            <a:srgbClr val="E9D3CC"/>
          </a:solidFill>
          <a:ln w="8890">
            <a:solidFill>
              <a:srgbClr val="E9D3CC"/>
            </a:solidFill>
            <a:prstDash val="solid"/>
          </a:ln>
        </p:spPr>
      </p:sp>
      <p:sp>
        <p:nvSpPr>
          <p:cNvPr id="50" name="Text 48"/>
          <p:cNvSpPr/>
          <p:nvPr/>
        </p:nvSpPr>
        <p:spPr>
          <a:xfrm>
            <a:off x="4965192" y="460857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2</a:t>
            </a:r>
            <a:endParaRPr lang="en-US" sz="1800" dirty="0"/>
          </a:p>
        </p:txBody>
      </p:sp>
      <p:sp>
        <p:nvSpPr>
          <p:cNvPr id="51" name="Shape 49"/>
          <p:cNvSpPr/>
          <p:nvPr/>
        </p:nvSpPr>
        <p:spPr>
          <a:xfrm>
            <a:off x="6428232" y="4517136"/>
            <a:ext cx="1380744" cy="429768"/>
          </a:xfrm>
          <a:prstGeom prst="rect">
            <a:avLst/>
          </a:prstGeom>
          <a:solidFill>
            <a:srgbClr val="E9D3CC"/>
          </a:solidFill>
          <a:ln w="8890">
            <a:solidFill>
              <a:srgbClr val="E9D3CC"/>
            </a:solidFill>
            <a:prstDash val="solid"/>
          </a:ln>
        </p:spPr>
      </p:sp>
      <p:sp>
        <p:nvSpPr>
          <p:cNvPr id="52" name="Text 50"/>
          <p:cNvSpPr/>
          <p:nvPr/>
        </p:nvSpPr>
        <p:spPr>
          <a:xfrm>
            <a:off x="6428232" y="460857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1</a:t>
            </a:r>
            <a:endParaRPr lang="en-US" sz="1800" dirty="0"/>
          </a:p>
        </p:txBody>
      </p:sp>
      <p:sp>
        <p:nvSpPr>
          <p:cNvPr id="53" name="Shape 51"/>
          <p:cNvSpPr/>
          <p:nvPr/>
        </p:nvSpPr>
        <p:spPr>
          <a:xfrm>
            <a:off x="7891272" y="4517136"/>
            <a:ext cx="1380744" cy="429768"/>
          </a:xfrm>
          <a:prstGeom prst="rect">
            <a:avLst/>
          </a:prstGeom>
          <a:solidFill>
            <a:srgbClr val="087F8C"/>
          </a:solidFill>
          <a:ln w="8890">
            <a:solidFill>
              <a:srgbClr val="087F8C"/>
            </a:solidFill>
            <a:prstDash val="solid"/>
          </a:ln>
        </p:spPr>
      </p:sp>
      <p:sp>
        <p:nvSpPr>
          <p:cNvPr id="54" name="Text 52"/>
          <p:cNvSpPr/>
          <p:nvPr/>
        </p:nvSpPr>
        <p:spPr>
          <a:xfrm>
            <a:off x="7891272" y="4608576"/>
            <a:ext cx="1380744" cy="246888"/>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36</a:t>
            </a:r>
            <a:endParaRPr lang="en-US" sz="1800" dirty="0"/>
          </a:p>
        </p:txBody>
      </p:sp>
      <p:sp>
        <p:nvSpPr>
          <p:cNvPr id="55" name="Shape 53"/>
          <p:cNvSpPr/>
          <p:nvPr/>
        </p:nvSpPr>
        <p:spPr>
          <a:xfrm>
            <a:off x="9354312" y="4517136"/>
            <a:ext cx="1380744" cy="429768"/>
          </a:xfrm>
          <a:prstGeom prst="rect">
            <a:avLst/>
          </a:prstGeom>
          <a:solidFill>
            <a:srgbClr val="FFFFFF"/>
          </a:solidFill>
          <a:ln w="8890">
            <a:solidFill>
              <a:srgbClr val="FFFFFF"/>
            </a:solidFill>
            <a:prstDash val="solid"/>
          </a:ln>
        </p:spPr>
      </p:sp>
      <p:sp>
        <p:nvSpPr>
          <p:cNvPr id="56" name="Text 54"/>
          <p:cNvSpPr/>
          <p:nvPr/>
        </p:nvSpPr>
        <p:spPr>
          <a:xfrm>
            <a:off x="9354312" y="460857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57" name="Text 55"/>
          <p:cNvSpPr/>
          <p:nvPr/>
        </p:nvSpPr>
        <p:spPr>
          <a:xfrm>
            <a:off x="1316736" y="5111496"/>
            <a:ext cx="1984248" cy="310896"/>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Outside</a:t>
            </a:r>
            <a:endParaRPr lang="en-US" sz="1700" dirty="0"/>
          </a:p>
        </p:txBody>
      </p:sp>
      <p:sp>
        <p:nvSpPr>
          <p:cNvPr id="58" name="Shape 56"/>
          <p:cNvSpPr/>
          <p:nvPr/>
        </p:nvSpPr>
        <p:spPr>
          <a:xfrm>
            <a:off x="3502152" y="5020056"/>
            <a:ext cx="1380744" cy="429768"/>
          </a:xfrm>
          <a:prstGeom prst="rect">
            <a:avLst/>
          </a:prstGeom>
          <a:solidFill>
            <a:srgbClr val="E9D3CC"/>
          </a:solidFill>
          <a:ln w="8890">
            <a:solidFill>
              <a:srgbClr val="E9D3CC"/>
            </a:solidFill>
            <a:prstDash val="solid"/>
          </a:ln>
        </p:spPr>
      </p:sp>
      <p:sp>
        <p:nvSpPr>
          <p:cNvPr id="59" name="Text 57"/>
          <p:cNvSpPr/>
          <p:nvPr/>
        </p:nvSpPr>
        <p:spPr>
          <a:xfrm>
            <a:off x="3502152" y="511149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1</a:t>
            </a:r>
            <a:endParaRPr lang="en-US" sz="1800" dirty="0"/>
          </a:p>
        </p:txBody>
      </p:sp>
      <p:sp>
        <p:nvSpPr>
          <p:cNvPr id="60" name="Shape 58"/>
          <p:cNvSpPr/>
          <p:nvPr/>
        </p:nvSpPr>
        <p:spPr>
          <a:xfrm>
            <a:off x="4965192" y="5020056"/>
            <a:ext cx="1380744" cy="429768"/>
          </a:xfrm>
          <a:prstGeom prst="rect">
            <a:avLst/>
          </a:prstGeom>
          <a:solidFill>
            <a:srgbClr val="FFFFFF"/>
          </a:solidFill>
          <a:ln w="8890">
            <a:solidFill>
              <a:srgbClr val="FFFFFF"/>
            </a:solidFill>
            <a:prstDash val="solid"/>
          </a:ln>
        </p:spPr>
      </p:sp>
      <p:sp>
        <p:nvSpPr>
          <p:cNvPr id="61" name="Text 59"/>
          <p:cNvSpPr/>
          <p:nvPr/>
        </p:nvSpPr>
        <p:spPr>
          <a:xfrm>
            <a:off x="4965192" y="511149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62" name="Shape 60"/>
          <p:cNvSpPr/>
          <p:nvPr/>
        </p:nvSpPr>
        <p:spPr>
          <a:xfrm>
            <a:off x="6428232" y="5020056"/>
            <a:ext cx="1380744" cy="429768"/>
          </a:xfrm>
          <a:prstGeom prst="rect">
            <a:avLst/>
          </a:prstGeom>
          <a:solidFill>
            <a:srgbClr val="FFFFFF"/>
          </a:solidFill>
          <a:ln w="8890">
            <a:solidFill>
              <a:srgbClr val="FFFFFF"/>
            </a:solidFill>
            <a:prstDash val="solid"/>
          </a:ln>
        </p:spPr>
      </p:sp>
      <p:sp>
        <p:nvSpPr>
          <p:cNvPr id="63" name="Text 61"/>
          <p:cNvSpPr/>
          <p:nvPr/>
        </p:nvSpPr>
        <p:spPr>
          <a:xfrm>
            <a:off x="6428232" y="511149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64" name="Shape 62"/>
          <p:cNvSpPr/>
          <p:nvPr/>
        </p:nvSpPr>
        <p:spPr>
          <a:xfrm>
            <a:off x="7891272" y="5020056"/>
            <a:ext cx="1380744" cy="429768"/>
          </a:xfrm>
          <a:prstGeom prst="rect">
            <a:avLst/>
          </a:prstGeom>
          <a:solidFill>
            <a:srgbClr val="FFFFFF"/>
          </a:solidFill>
          <a:ln w="8890">
            <a:solidFill>
              <a:srgbClr val="FFFFFF"/>
            </a:solidFill>
            <a:prstDash val="solid"/>
          </a:ln>
        </p:spPr>
      </p:sp>
      <p:sp>
        <p:nvSpPr>
          <p:cNvPr id="65" name="Text 63"/>
          <p:cNvSpPr/>
          <p:nvPr/>
        </p:nvSpPr>
        <p:spPr>
          <a:xfrm>
            <a:off x="7891272" y="5111496"/>
            <a:ext cx="1380744" cy="246888"/>
          </a:xfrm>
          <a:prstGeom prst="rect">
            <a:avLst/>
          </a:prstGeom>
          <a:noFill/>
          <a:ln/>
        </p:spPr>
        <p:txBody>
          <a:bodyPr wrap="square" lIns="0" tIns="0" rIns="0" bIns="0" rtlCol="0" anchor="ctr"/>
          <a:lstStyle/>
          <a:p>
            <a:pPr algn="ctr" indent="0" marL="0">
              <a:buNone/>
            </a:pPr>
            <a:r>
              <a:rPr lang="en-US" sz="1800" dirty="0">
                <a:solidFill>
                  <a:srgbClr val="162B38"/>
                </a:solidFill>
                <a:latin typeface="Aptos" pitchFamily="34" charset="0"/>
                <a:ea typeface="Aptos" pitchFamily="34" charset="-122"/>
                <a:cs typeface="Aptos" pitchFamily="34" charset="-120"/>
              </a:rPr>
              <a:t>0</a:t>
            </a:r>
            <a:endParaRPr lang="en-US" sz="1800" dirty="0"/>
          </a:p>
        </p:txBody>
      </p:sp>
      <p:sp>
        <p:nvSpPr>
          <p:cNvPr id="66" name="Shape 64"/>
          <p:cNvSpPr/>
          <p:nvPr/>
        </p:nvSpPr>
        <p:spPr>
          <a:xfrm>
            <a:off x="9354312" y="5020056"/>
            <a:ext cx="1380744" cy="429768"/>
          </a:xfrm>
          <a:prstGeom prst="rect">
            <a:avLst/>
          </a:prstGeom>
          <a:solidFill>
            <a:srgbClr val="087F8C"/>
          </a:solidFill>
          <a:ln w="8890">
            <a:solidFill>
              <a:srgbClr val="087F8C"/>
            </a:solidFill>
            <a:prstDash val="solid"/>
          </a:ln>
        </p:spPr>
      </p:sp>
      <p:sp>
        <p:nvSpPr>
          <p:cNvPr id="67" name="Text 65"/>
          <p:cNvSpPr/>
          <p:nvPr/>
        </p:nvSpPr>
        <p:spPr>
          <a:xfrm>
            <a:off x="9354312" y="5111496"/>
            <a:ext cx="1380744" cy="246888"/>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4035</a:t>
            </a:r>
            <a:endParaRPr lang="en-US" sz="1800" dirty="0"/>
          </a:p>
        </p:txBody>
      </p:sp>
      <p:sp>
        <p:nvSpPr>
          <p:cNvPr id="68" name="Text 66"/>
          <p:cNvSpPr/>
          <p:nvPr/>
        </p:nvSpPr>
        <p:spPr>
          <a:xfrm>
            <a:off x="1353312" y="5934456"/>
            <a:ext cx="9592056" cy="365760"/>
          </a:xfrm>
          <a:prstGeom prst="rect">
            <a:avLst/>
          </a:prstGeom>
          <a:noFill/>
          <a:ln/>
        </p:spPr>
        <p:txBody>
          <a:bodyPr wrap="square" lIns="0" tIns="0" rIns="0" bIns="0" rtlCol="0" anchor="ctr"/>
          <a:lstStyle/>
          <a:p>
            <a:pPr indent="0" marL="0">
              <a:buNone/>
            </a:pPr>
            <a:r>
              <a:rPr lang="en-US" sz="2200" b="1" dirty="0">
                <a:solidFill>
                  <a:srgbClr val="087F8C"/>
                </a:solidFill>
                <a:latin typeface="Aptos" pitchFamily="34" charset="0"/>
                <a:ea typeface="Aptos" pitchFamily="34" charset="-122"/>
                <a:cs typeface="Aptos" pitchFamily="34" charset="-120"/>
              </a:rPr>
              <a:t>Correct: 5,051 / 5,065 · Four-role macro-F1: 0.9450</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9"/>
        </a:solidFill>
      </p:bgPr>
    </p:bg>
    <p:spTree>
      <p:nvGrpSpPr>
        <p:cNvPr id="1" name=""/>
        <p:cNvGrpSpPr/>
        <p:nvPr/>
      </p:nvGrpSpPr>
      <p:grpSpPr>
        <a:xfrm>
          <a:off x="0" y="0"/>
          <a:ext cx="0" cy="0"/>
          <a:chOff x="0" y="0"/>
          <a:chExt cx="0" cy="0"/>
        </a:xfrm>
      </p:grpSpPr>
      <p:sp>
        <p:nvSpPr>
          <p:cNvPr id="2" name="Text 0"/>
          <p:cNvSpPr/>
          <p:nvPr/>
        </p:nvSpPr>
        <p:spPr>
          <a:xfrm>
            <a:off x="502920" y="320040"/>
            <a:ext cx="10058400" cy="256032"/>
          </a:xfrm>
          <a:prstGeom prst="rect">
            <a:avLst/>
          </a:prstGeom>
          <a:noFill/>
          <a:ln/>
        </p:spPr>
        <p:txBody>
          <a:bodyPr wrap="square" lIns="0" tIns="0" rIns="0" bIns="0" rtlCol="0" anchor="ctr"/>
          <a:lstStyle/>
          <a:p>
            <a:pPr indent="0" marL="0">
              <a:buNone/>
            </a:pPr>
            <a:r>
              <a:rPr lang="en-US" sz="1100" b="1" spc="150" kern="0" dirty="0">
                <a:solidFill>
                  <a:srgbClr val="087F8C"/>
                </a:solidFill>
                <a:latin typeface="Aptos" pitchFamily="34" charset="0"/>
                <a:ea typeface="Aptos" pitchFamily="34" charset="-122"/>
                <a:cs typeface="Aptos" pitchFamily="34" charset="-120"/>
              </a:rPr>
              <a:t>APPENDIX · MODEL AND DATA SPECIFICATION</a:t>
            </a:r>
            <a:endParaRPr lang="en-US" sz="1100" dirty="0"/>
          </a:p>
        </p:txBody>
      </p:sp>
      <p:sp>
        <p:nvSpPr>
          <p:cNvPr id="3" name="Text 1"/>
          <p:cNvSpPr/>
          <p:nvPr/>
        </p:nvSpPr>
        <p:spPr>
          <a:xfrm>
            <a:off x="502920" y="841248"/>
            <a:ext cx="11201400" cy="758952"/>
          </a:xfrm>
          <a:prstGeom prst="rect">
            <a:avLst/>
          </a:prstGeom>
          <a:noFill/>
          <a:ln/>
        </p:spPr>
        <p:txBody>
          <a:bodyPr wrap="square" lIns="0" tIns="0" rIns="0" bIns="0" rtlCol="0" anchor="ctr"/>
          <a:lstStyle/>
          <a:p>
            <a:pPr indent="0" marL="0">
              <a:buNone/>
            </a:pPr>
            <a:r>
              <a:rPr lang="en-US" sz="3200" b="1" dirty="0">
                <a:solidFill>
                  <a:srgbClr val="162B38"/>
                </a:solidFill>
                <a:latin typeface="Aptos" pitchFamily="34" charset="0"/>
                <a:ea typeface="Aptos" pitchFamily="34" charset="-122"/>
                <a:cs typeface="Aptos" pitchFamily="34" charset="-120"/>
              </a:rPr>
              <a:t>The shipped models and evaluation sets</a:t>
            </a:r>
            <a:endParaRPr lang="en-US" sz="3200" dirty="0"/>
          </a:p>
        </p:txBody>
      </p:sp>
      <p:sp>
        <p:nvSpPr>
          <p:cNvPr id="4" name="Text 2"/>
          <p:cNvSpPr/>
          <p:nvPr/>
        </p:nvSpPr>
        <p:spPr>
          <a:xfrm>
            <a:off x="530352" y="1627632"/>
            <a:ext cx="11018520" cy="420624"/>
          </a:xfrm>
          <a:prstGeom prst="rect">
            <a:avLst/>
          </a:prstGeom>
          <a:noFill/>
          <a:ln/>
        </p:spPr>
        <p:txBody>
          <a:bodyPr wrap="square" lIns="0" tIns="0" rIns="0" bIns="0" rtlCol="0" anchor="ctr"/>
          <a:lstStyle/>
          <a:p>
            <a:pPr indent="0" marL="0">
              <a:buNone/>
            </a:pPr>
            <a:r>
              <a:rPr lang="en-US" sz="1500" dirty="0">
                <a:solidFill>
                  <a:srgbClr val="566570"/>
                </a:solidFill>
                <a:latin typeface="Aptos" pitchFamily="34" charset="0"/>
                <a:ea typeface="Aptos" pitchFamily="34" charset="-122"/>
                <a:cs typeface="Aptos" pitchFamily="34" charset="-120"/>
              </a:rPr>
              <a:t>Distinct stages have distinct datasets and outputs.</a:t>
            </a:r>
            <a:endParaRPr lang="en-US" sz="1500" dirty="0"/>
          </a:p>
        </p:txBody>
      </p:sp>
      <p:sp>
        <p:nvSpPr>
          <p:cNvPr id="5" name="Shape 3"/>
          <p:cNvSpPr/>
          <p:nvPr/>
        </p:nvSpPr>
        <p:spPr>
          <a:xfrm>
            <a:off x="502920" y="6473952"/>
            <a:ext cx="11183112" cy="0"/>
          </a:xfrm>
          <a:prstGeom prst="line">
            <a:avLst/>
          </a:prstGeom>
          <a:noFill/>
          <a:ln w="10160">
            <a:solidFill>
              <a:srgbClr val="D9DED9"/>
            </a:solidFill>
            <a:prstDash val="solid"/>
          </a:ln>
        </p:spPr>
      </p:sp>
      <p:sp>
        <p:nvSpPr>
          <p:cNvPr id="6" name="Text 4"/>
          <p:cNvSpPr/>
          <p:nvPr/>
        </p:nvSpPr>
        <p:spPr>
          <a:xfrm>
            <a:off x="502920" y="6565392"/>
            <a:ext cx="8229600" cy="164592"/>
          </a:xfrm>
          <a:prstGeom prst="rect">
            <a:avLst/>
          </a:prstGeom>
          <a:noFill/>
          <a:ln/>
        </p:spPr>
        <p:txBody>
          <a:bodyPr wrap="square" lIns="0" tIns="0" rIns="0" bIns="0" rtlCol="0" anchor="ctr"/>
          <a:lstStyle/>
          <a:p>
            <a:pPr indent="0" marL="0">
              <a:buNone/>
            </a:pPr>
            <a:r>
              <a:rPr lang="en-US" sz="800" b="1" spc="90" kern="0" dirty="0">
                <a:solidFill>
                  <a:srgbClr val="566570"/>
                </a:solidFill>
                <a:latin typeface="Aptos" pitchFamily="34" charset="0"/>
                <a:ea typeface="Aptos" pitchFamily="34" charset="-122"/>
                <a:cs typeface="Aptos" pitchFamily="34" charset="-120"/>
              </a:rPr>
              <a:t>CONRAD COMPAGNA  /  PETRIUS</a:t>
            </a:r>
            <a:endParaRPr lang="en-US" sz="800" dirty="0"/>
          </a:p>
        </p:txBody>
      </p:sp>
      <p:sp>
        <p:nvSpPr>
          <p:cNvPr id="7" name="Text 5"/>
          <p:cNvSpPr/>
          <p:nvPr/>
        </p:nvSpPr>
        <p:spPr>
          <a:xfrm>
            <a:off x="11137392" y="6510528"/>
            <a:ext cx="548640" cy="274320"/>
          </a:xfrm>
          <a:prstGeom prst="rect">
            <a:avLst/>
          </a:prstGeom>
          <a:noFill/>
          <a:ln/>
        </p:spPr>
        <p:txBody>
          <a:bodyPr wrap="square" lIns="0" tIns="0" rIns="0" bIns="0" rtlCol="0" anchor="ctr"/>
          <a:lstStyle/>
          <a:p>
            <a:pPr algn="r" indent="0" marL="0">
              <a:buNone/>
            </a:pPr>
            <a:r>
              <a:rPr lang="en-US" sz="1000" dirty="0">
                <a:solidFill>
                  <a:srgbClr val="566570"/>
                </a:solidFill>
                <a:latin typeface="Aptos" pitchFamily="34" charset="0"/>
                <a:ea typeface="Aptos" pitchFamily="34" charset="-122"/>
                <a:cs typeface="Aptos" pitchFamily="34" charset="-120"/>
              </a:rPr>
              <a:t>18</a:t>
            </a:r>
            <a:endParaRPr lang="en-US" sz="1000" dirty="0"/>
          </a:p>
        </p:txBody>
      </p:sp>
      <p:sp>
        <p:nvSpPr>
          <p:cNvPr id="8" name="Shape 6"/>
          <p:cNvSpPr/>
          <p:nvPr/>
        </p:nvSpPr>
        <p:spPr>
          <a:xfrm>
            <a:off x="694944" y="2377440"/>
            <a:ext cx="10808208" cy="996696"/>
          </a:xfrm>
          <a:prstGeom prst="rect">
            <a:avLst/>
          </a:prstGeom>
          <a:solidFill>
            <a:srgbClr val="FFFFFF"/>
          </a:solidFill>
          <a:ln w="8890">
            <a:solidFill>
              <a:srgbClr val="FFFFFF"/>
            </a:solidFill>
            <a:prstDash val="solid"/>
          </a:ln>
        </p:spPr>
      </p:sp>
      <p:sp>
        <p:nvSpPr>
          <p:cNvPr id="9" name="Shape 7"/>
          <p:cNvSpPr/>
          <p:nvPr/>
        </p:nvSpPr>
        <p:spPr>
          <a:xfrm>
            <a:off x="694944" y="2377440"/>
            <a:ext cx="50292" cy="996696"/>
          </a:xfrm>
          <a:prstGeom prst="rect">
            <a:avLst/>
          </a:prstGeom>
          <a:solidFill>
            <a:srgbClr val="087F8C"/>
          </a:solidFill>
          <a:ln w="8890">
            <a:solidFill>
              <a:srgbClr val="087F8C"/>
            </a:solidFill>
            <a:prstDash val="solid"/>
          </a:ln>
        </p:spPr>
      </p:sp>
      <p:sp>
        <p:nvSpPr>
          <p:cNvPr id="10" name="Text 8"/>
          <p:cNvSpPr/>
          <p:nvPr/>
        </p:nvSpPr>
        <p:spPr>
          <a:xfrm>
            <a:off x="859536" y="2505456"/>
            <a:ext cx="1047902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D-FINE Large · epoch 14 / step 1400</a:t>
            </a:r>
            <a:endParaRPr lang="en-US" sz="1700" dirty="0"/>
          </a:p>
        </p:txBody>
      </p:sp>
      <p:sp>
        <p:nvSpPr>
          <p:cNvPr id="11" name="Text 9"/>
          <p:cNvSpPr/>
          <p:nvPr/>
        </p:nvSpPr>
        <p:spPr>
          <a:xfrm>
            <a:off x="859536" y="2843784"/>
            <a:ext cx="10479024" cy="457200"/>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100 training pages from 20 books; 20 evaluation pages from 20 other books.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One text-region class; 1,280-pixel input; score threshold 0.50.</a:t>
            </a:r>
            <a:endParaRPr lang="en-US" sz="1300" dirty="0"/>
          </a:p>
        </p:txBody>
      </p:sp>
      <p:sp>
        <p:nvSpPr>
          <p:cNvPr id="12" name="Shape 10"/>
          <p:cNvSpPr/>
          <p:nvPr/>
        </p:nvSpPr>
        <p:spPr>
          <a:xfrm>
            <a:off x="694944" y="3639312"/>
            <a:ext cx="10808208" cy="996696"/>
          </a:xfrm>
          <a:prstGeom prst="rect">
            <a:avLst/>
          </a:prstGeom>
          <a:solidFill>
            <a:srgbClr val="FFFFFF"/>
          </a:solidFill>
          <a:ln w="8890">
            <a:solidFill>
              <a:srgbClr val="FFFFFF"/>
            </a:solidFill>
            <a:prstDash val="solid"/>
          </a:ln>
        </p:spPr>
      </p:sp>
      <p:sp>
        <p:nvSpPr>
          <p:cNvPr id="13" name="Shape 11"/>
          <p:cNvSpPr/>
          <p:nvPr/>
        </p:nvSpPr>
        <p:spPr>
          <a:xfrm>
            <a:off x="694944" y="3639312"/>
            <a:ext cx="50292" cy="996696"/>
          </a:xfrm>
          <a:prstGeom prst="rect">
            <a:avLst/>
          </a:prstGeom>
          <a:solidFill>
            <a:srgbClr val="935BA5"/>
          </a:solidFill>
          <a:ln w="8890">
            <a:solidFill>
              <a:srgbClr val="935BA5"/>
            </a:solidFill>
            <a:prstDash val="solid"/>
          </a:ln>
        </p:spPr>
      </p:sp>
      <p:sp>
        <p:nvSpPr>
          <p:cNvPr id="14" name="Text 12"/>
          <p:cNvSpPr/>
          <p:nvPr/>
        </p:nvSpPr>
        <p:spPr>
          <a:xfrm>
            <a:off x="859536" y="3767328"/>
            <a:ext cx="1047902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PERO ParseNet_296000 + OCR_350000</a:t>
            </a:r>
            <a:endParaRPr lang="en-US" sz="1700" dirty="0"/>
          </a:p>
        </p:txBody>
      </p:sp>
      <p:sp>
        <p:nvSpPr>
          <p:cNvPr id="15" name="Text 13"/>
          <p:cNvSpPr/>
          <p:nvPr/>
        </p:nvSpPr>
        <p:spPr>
          <a:xfrm>
            <a:off x="859536" y="4105656"/>
            <a:ext cx="10479024" cy="457200"/>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Line detection and recognition run inside the D-FINE regions.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Language-model decoding is switched off.</a:t>
            </a:r>
            <a:endParaRPr lang="en-US" sz="1300" dirty="0"/>
          </a:p>
        </p:txBody>
      </p:sp>
      <p:sp>
        <p:nvSpPr>
          <p:cNvPr id="16" name="Shape 14"/>
          <p:cNvSpPr/>
          <p:nvPr/>
        </p:nvSpPr>
        <p:spPr>
          <a:xfrm>
            <a:off x="694944" y="4901184"/>
            <a:ext cx="10808208" cy="996696"/>
          </a:xfrm>
          <a:prstGeom prst="rect">
            <a:avLst/>
          </a:prstGeom>
          <a:solidFill>
            <a:srgbClr val="FFFFFF"/>
          </a:solidFill>
          <a:ln w="8890">
            <a:solidFill>
              <a:srgbClr val="FFFFFF"/>
            </a:solidFill>
            <a:prstDash val="solid"/>
          </a:ln>
        </p:spPr>
      </p:sp>
      <p:sp>
        <p:nvSpPr>
          <p:cNvPr id="17" name="Shape 15"/>
          <p:cNvSpPr/>
          <p:nvPr/>
        </p:nvSpPr>
        <p:spPr>
          <a:xfrm>
            <a:off x="694944" y="4901184"/>
            <a:ext cx="50292" cy="996696"/>
          </a:xfrm>
          <a:prstGeom prst="rect">
            <a:avLst/>
          </a:prstGeom>
          <a:solidFill>
            <a:srgbClr val="CB9133"/>
          </a:solidFill>
          <a:ln w="8890">
            <a:solidFill>
              <a:srgbClr val="CB9133"/>
            </a:solidFill>
            <a:prstDash val="solid"/>
          </a:ln>
        </p:spPr>
      </p:sp>
      <p:sp>
        <p:nvSpPr>
          <p:cNvPr id="18" name="Text 16"/>
          <p:cNvSpPr/>
          <p:nvPr/>
        </p:nvSpPr>
        <p:spPr>
          <a:xfrm>
            <a:off x="859536" y="5029200"/>
            <a:ext cx="10479024" cy="256032"/>
          </a:xfrm>
          <a:prstGeom prst="rect">
            <a:avLst/>
          </a:prstGeom>
          <a:noFill/>
          <a:ln/>
        </p:spPr>
        <p:txBody>
          <a:bodyPr wrap="square" lIns="0" tIns="0" rIns="0" bIns="0" rtlCol="0" anchor="ctr"/>
          <a:lstStyle/>
          <a:p>
            <a:pPr indent="0" marL="0">
              <a:buNone/>
            </a:pPr>
            <a:r>
              <a:rPr lang="en-US" sz="1700" b="1" dirty="0">
                <a:solidFill>
                  <a:srgbClr val="162B38"/>
                </a:solidFill>
                <a:latin typeface="Aptos" pitchFamily="34" charset="0"/>
                <a:ea typeface="Aptos" pitchFamily="34" charset="-122"/>
                <a:cs typeface="Aptos" pitchFamily="34" charset="-120"/>
              </a:rPr>
              <a:t>Neural v3 · full.pt</a:t>
            </a:r>
            <a:endParaRPr lang="en-US" sz="1700" dirty="0"/>
          </a:p>
        </p:txBody>
      </p:sp>
      <p:sp>
        <p:nvSpPr>
          <p:cNvPr id="19" name="Text 17"/>
          <p:cNvSpPr/>
          <p:nvPr/>
        </p:nvSpPr>
        <p:spPr>
          <a:xfrm>
            <a:off x="859536" y="5367528"/>
            <a:ext cx="10479024" cy="457200"/>
          </a:xfrm>
          <a:prstGeom prst="rect">
            <a:avLst/>
          </a:prstGeom>
          <a:noFill/>
          <a:ln/>
        </p:spPr>
        <p:txBody>
          <a:bodyPr wrap="square" lIns="0" tIns="0" rIns="0" bIns="0" rtlCol="0" anchor="ctr"/>
          <a:lstStyle/>
          <a:p>
            <a:pPr indent="0" marL="0">
              <a:buNone/>
            </a:pPr>
            <a:r>
              <a:rPr lang="en-US" sz="1300" dirty="0">
                <a:solidFill>
                  <a:srgbClr val="566570"/>
                </a:solidFill>
                <a:latin typeface="Aptos" pitchFamily="34" charset="0"/>
                <a:ea typeface="Aptos" pitchFamily="34" charset="-122"/>
                <a:cs typeface="Aptos" pitchFamily="34" charset="-120"/>
              </a:rPr>
              <a:t>100 training + 20 evaluation pages from ten Roman-glossed books.</a:t>
            </a:r>
            <a:endParaRPr lang="en-US" sz="1300" dirty="0"/>
          </a:p>
          <a:p>
            <a:pPr indent="0" marL="0">
              <a:buNone/>
            </a:pPr>
            <a:r>
              <a:rPr lang="en-US" sz="1300" dirty="0">
                <a:solidFill>
                  <a:srgbClr val="566570"/>
                </a:solidFill>
                <a:latin typeface="Aptos" pitchFamily="34" charset="0"/>
                <a:ea typeface="Aptos" pitchFamily="34" charset="-122"/>
                <a:cs typeface="Aptos" pitchFamily="34" charset="-120"/>
              </a:rPr>
              <a:t>Colour image + raw characters + coordinates + transformer page context.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PetrIUS interview materials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printed page to historical evidence</dc:title>
  <dc:subject>PetrIUS postdoctoral interview: Tasks I, III and IV</dc:subject>
  <dc:creator>Conrad Compagna</dc:creator>
  <cp:lastModifiedBy>Conrad Compagna</cp:lastModifiedBy>
  <cp:revision>1</cp:revision>
  <dcterms:created xsi:type="dcterms:W3CDTF">2026-10-07T20:20:03Z</dcterms:created>
  <dcterms:modified xsi:type="dcterms:W3CDTF">2026-10-07T20:20:03Z</dcterms:modified>
</cp:coreProperties>
</file>